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7" r:id="rId5"/>
    <p:sldMasterId id="2147483718" r:id="rId6"/>
    <p:sldMasterId id="214748371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Lst>
  <p:sldSz cy="5143500" cx="9144000"/>
  <p:notesSz cx="6858000" cy="9144000"/>
  <p:embeddedFontLst>
    <p:embeddedFont>
      <p:font typeface="Roboto"/>
      <p:regular r:id="rId49"/>
      <p:bold r:id="rId50"/>
      <p:italic r:id="rId51"/>
      <p:boldItalic r:id="rId52"/>
    </p:embeddedFont>
    <p:embeddedFont>
      <p:font typeface="Helvetica Neue"/>
      <p:regular r:id="rId53"/>
      <p:bold r:id="rId54"/>
      <p:italic r:id="rId55"/>
      <p:boldItalic r:id="rId56"/>
    </p:embeddedFont>
    <p:embeddedFont>
      <p:font typeface="Helvetica Neue Light"/>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9">
          <p15:clr>
            <a:srgbClr val="747775"/>
          </p15:clr>
        </p15:guide>
        <p15:guide id="2" orient="horz" pos="816">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Rachel Myers"/>
  <p:cmAuthor clrIdx="1" id="1" initials="" lastIdx="2" name="Maneet Kau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9" orient="horz"/>
        <p:guide pos="81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HelveticaNeueLight-boldItalic.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HelveticaNeue-regular.fntdata"/><Relationship Id="rId52" Type="http://schemas.openxmlformats.org/officeDocument/2006/relationships/font" Target="fonts/Roboto-boldItalic.fntdata"/><Relationship Id="rId11" Type="http://schemas.openxmlformats.org/officeDocument/2006/relationships/slide" Target="slides/slide3.xml"/><Relationship Id="rId55" Type="http://schemas.openxmlformats.org/officeDocument/2006/relationships/font" Target="fonts/HelveticaNeue-italic.fntdata"/><Relationship Id="rId10" Type="http://schemas.openxmlformats.org/officeDocument/2006/relationships/slide" Target="slides/slide2.xml"/><Relationship Id="rId54" Type="http://schemas.openxmlformats.org/officeDocument/2006/relationships/font" Target="fonts/HelveticaNeue-bold.fntdata"/><Relationship Id="rId13" Type="http://schemas.openxmlformats.org/officeDocument/2006/relationships/slide" Target="slides/slide5.xml"/><Relationship Id="rId57" Type="http://schemas.openxmlformats.org/officeDocument/2006/relationships/font" Target="fonts/HelveticaNeueLight-regular.fntdata"/><Relationship Id="rId12" Type="http://schemas.openxmlformats.org/officeDocument/2006/relationships/slide" Target="slides/slide4.xml"/><Relationship Id="rId56" Type="http://schemas.openxmlformats.org/officeDocument/2006/relationships/font" Target="fonts/HelveticaNeue-boldItalic.fntdata"/><Relationship Id="rId15" Type="http://schemas.openxmlformats.org/officeDocument/2006/relationships/slide" Target="slides/slide7.xml"/><Relationship Id="rId59" Type="http://schemas.openxmlformats.org/officeDocument/2006/relationships/font" Target="fonts/HelveticaNeueLight-italic.fntdata"/><Relationship Id="rId14" Type="http://schemas.openxmlformats.org/officeDocument/2006/relationships/slide" Target="slides/slide6.xml"/><Relationship Id="rId58" Type="http://schemas.openxmlformats.org/officeDocument/2006/relationships/font" Target="fonts/HelveticaNeueLight-bold.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05T19:20:03.700">
    <p:pos x="360" y="1152"/>
    <p:text>@benjamin.wagner@flatiron.com feel free to add in slides here!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8-11T18:29:11.696">
    <p:pos x="302" y="712"/>
    <p:text>@matthew.pesavento@flatiron.com This is probably hard to understand for most and where you'll lose folks. Even for me, I'd have to sit with this. I think what's important is to set the stage for why g-computation is used (e.g., time-varying confounding, treatment induced confounding, mediation)
1 total reaction
Yichen Lu reacted with ➕ at 2026-08-11 6:29 PM UTC</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8-07T15:31:26.491">
    <p:pos x="302" y="712"/>
    <p:text>@matthew.pesavento@flatiron.com Is there a way to communicate this slide via diagrams or directed acyclic graphs (DAGs)?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06efb3866c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06efb3866c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6424ea14e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26424ea14e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f66c6935d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f66c6935d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66c6935d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f66c6935d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f6b87f6b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f6b87f6b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6b87f6b4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f6b87f6b4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6b87f6b4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f6b87f6b4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6b87f6b4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f6b87f6b4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6d47806e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f6d47806e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6d47806e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f6d47806e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f6d47806ea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f6d47806ea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f6d47806ea_1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f6d47806ea_1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f6d47806ea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f6d47806ea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6d47806ea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f6d47806ea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f6d47806ea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f6d47806ea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377b45ad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f377b45ad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 discussion w/ Yichen - moving this topic to next month’s agenda!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f671b6c614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g3f671b6c614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3f671b6c614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f6b5bbff60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g3f6b5bbff60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 here means that g-computation needs every covariate profile in the data to have some real chance of being both treated and untreated (in epi terms, I think this is called “Positivity”). Where that chance is near zero, there's little or no data to check the prediction against — so the simulated outcome comes from the model's assumed functional form (e.g., linearity), not from anything actually observed. The more extreme the counterfactual, the more you're extrapolating on faith in the model, not evidence in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One example: If you want to estimate a world in which a patient never receives chemo, but all patients of a particular disease type *do* get chemo at some point, then your estimate will be simulated from a reality that never exists, based on pure model extrapolation.</a:t>
            </a:r>
            <a:endParaRPr/>
          </a:p>
        </p:txBody>
      </p:sp>
      <p:sp>
        <p:nvSpPr>
          <p:cNvPr id="570" name="Google Shape;570;g3f6b5bbff60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f6b5bc046d_1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f6b5bc046d_1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We’ve all heard the phrase ‘correlation does not imply causation’. My first informal foray into causal inference was a director of mine in my first job out of undergrad reframing that sentence as “correlation does not </a:t>
            </a:r>
            <a:r>
              <a:rPr i="1" lang="en"/>
              <a:t>necessarily</a:t>
            </a:r>
            <a:r>
              <a:rPr lang="en"/>
              <a:t> imply causation.” In the course of this conference today, my goal is to hopefully give you the basic tools to think about what causation means, and to introduce a method (g-computation) that aims to get us closer to causation. </a:t>
            </a:r>
            <a:endParaRPr/>
          </a:p>
        </p:txBody>
      </p:sp>
      <p:sp>
        <p:nvSpPr>
          <p:cNvPr id="583" name="Google Shape;583;g3f6b5bc046d_1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f6b5bc046d_1_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f6b5bc046d_1_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What is causation? Conceptually, the causal impact of something is the impact, holding all else constant. E.g. If I want to know the difference in outcomes from treating a patient with chemo + io vs. chemo, I want to hold everything else constant and give that exact same patient (at the same point in his/her cancer journey) chemo, and then chemo + io.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Obviously we can’t do that, and so we have to think about ways that we could estimate this across a population.</a:t>
            </a:r>
            <a:endParaRPr/>
          </a:p>
        </p:txBody>
      </p:sp>
      <p:sp>
        <p:nvSpPr>
          <p:cNvPr id="592" name="Google Shape;592;g3f6b5bc046d_1_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f6b5bc046d_1_2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f6b5bc046d_1_2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You’ve probably heard of “Twins experiments” – but now you can see what this is trying to do. </a:t>
            </a:r>
            <a:br>
              <a:rPr lang="en"/>
            </a:br>
            <a:br>
              <a:rPr lang="en"/>
            </a:br>
            <a:r>
              <a:rPr lang="en"/>
              <a:t>Matching, synthetic controls, digital twins (?) are all extensions of twins studies – but all focus on creating groups of observably similar individuals and then arguing/assuming that unobservable characteristics follow these observable similarities.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Individual fixed effects, DnD, RDD, first differences, ecc. – these are all ways of accounting for unobservable differences in individuals but they assume that unobservable characteristics are time invariant (if not, no help).</a:t>
            </a:r>
            <a:endParaRPr/>
          </a:p>
        </p:txBody>
      </p:sp>
      <p:sp>
        <p:nvSpPr>
          <p:cNvPr id="605" name="Google Shape;605;g3f6b5bc046d_1_2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f671b6c614_2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g3f671b6c614_2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g3f671b6c614_2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f671b6c614_2_7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f671b6c614_2_7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Before</a:t>
            </a:r>
            <a:r>
              <a:rPr lang="en"/>
              <a:t> we talk about modeling, it’s critical to think about the data generating process: it is the *true recipe* for how a variable comes into being (**even if no one ever writes it down**)</a:t>
            </a:r>
            <a:endParaRPr/>
          </a:p>
          <a:p>
            <a:pPr indent="0" lvl="0" marL="0" rtl="0" algn="l">
              <a:spcBef>
                <a:spcPts val="0"/>
              </a:spcBef>
              <a:spcAft>
                <a:spcPts val="0"/>
              </a:spcAft>
              <a:buNone/>
            </a:pPr>
            <a:r>
              <a:rPr lang="en"/>
              <a:t>→ e.g. recipe for a heart attack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Conceptually we can write down the DGP for Y as a function that depends on a bunch of stuff, X, and everything else that affects Y.</a:t>
            </a:r>
            <a:endParaRPr/>
          </a:p>
          <a:p>
            <a:pPr indent="0" lvl="0" marL="0" rtl="0" algn="l">
              <a:spcBef>
                <a:spcPts val="0"/>
              </a:spcBef>
              <a:spcAft>
                <a:spcPts val="0"/>
              </a:spcAft>
              <a:buNone/>
            </a:pPr>
            <a:r>
              <a:rPr lang="en"/>
              <a:t>→ Beta is the true relationship between X and Y ←→ beta_hat is the estimated relationship between X and Y. When Beta_hat matches Beta in expectation, Beta_hat is a </a:t>
            </a:r>
            <a:r>
              <a:rPr lang="en"/>
              <a:t>causal estimate of X on Y.</a:t>
            </a:r>
            <a:endParaRPr/>
          </a:p>
          <a:p>
            <a:pPr indent="0" lvl="0" marL="0" rtl="0" algn="l">
              <a:spcBef>
                <a:spcPts val="0"/>
              </a:spcBef>
              <a:spcAft>
                <a:spcPts val="0"/>
              </a:spcAft>
              <a:buNone/>
            </a:pPr>
            <a:r>
              <a:rPr lang="en"/>
              <a:t>When does this happen? When E[error | X] = 0 … or intuitively when nothing that determines Y outside of X is systematically related to X.. When we move X by some fixed amount, in expectation, we know what the effect will be.</a:t>
            </a:r>
            <a:endParaRPr/>
          </a:p>
          <a:p>
            <a:pPr indent="0" lvl="0" marL="0" rtl="0" algn="l">
              <a:spcBef>
                <a:spcPts val="0"/>
              </a:spcBef>
              <a:spcAft>
                <a:spcPts val="0"/>
              </a:spcAft>
              <a:buNone/>
            </a:pPr>
            <a:r>
              <a:rPr lang="en"/>
              <a:t>Again - intuitively - X is as good as randomly assigned, at least conditionally.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for people reading slide notes but not presented: suppose admission to a charter school is determined by a lottery within the subgroup of people who are below a particular income. Then admission is certainly not randomly assigned </a:t>
            </a:r>
            <a:r>
              <a:rPr lang="en" u="sng"/>
              <a:t>un</a:t>
            </a:r>
            <a:r>
              <a:rPr lang="en"/>
              <a:t>conditionally (because cov(admission, income) != 0); but if we include income in the model, then </a:t>
            </a:r>
            <a:r>
              <a:rPr lang="en" u="sng"/>
              <a:t>conditional</a:t>
            </a:r>
            <a:r>
              <a:rPr lang="en"/>
              <a:t> on income, admission is randomly assigned. Absent of this, any estimation of outcomes | admission will be biased by the additional relationship between outcomes and income. </a:t>
            </a:r>
            <a:endParaRPr/>
          </a:p>
        </p:txBody>
      </p:sp>
      <p:sp>
        <p:nvSpPr>
          <p:cNvPr id="627" name="Google Shape;627;g3f671b6c614_2_7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f671b6c614_2_10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f671b6c614_2_10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Focus on the figure: This illustrates the difference between predictive and causal inference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know the true (causal) relationship between Y and X from the DGP is 2, but OLS here gives us something else (3.4) – why? Because OLS estimates E[Y|X] so it puts U in the error term. Because X and U are correlated, the estimate on X is biased by that covariance between X and U.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Predictive modeling doesn’t care that the </a:t>
            </a:r>
            <a:r>
              <a:rPr lang="en" u="sng"/>
              <a:t>true</a:t>
            </a:r>
            <a:r>
              <a:rPr lang="en"/>
              <a:t> relationship is 2. What it cares about is – given that I observe this relationship between Y and X, what my best guess (LoBF) of Y, Y_hat? All the bias in </a:t>
            </a:r>
            <a:r>
              <a:rPr lang="en"/>
              <a:t>the</a:t>
            </a:r>
            <a:r>
              <a:rPr lang="en"/>
              <a:t> model estimates doesn’t really matter, because it tells me something important to estimate Y_hat.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Causal inference says - I </a:t>
            </a:r>
            <a:r>
              <a:rPr i="1" lang="en"/>
              <a:t>think</a:t>
            </a:r>
            <a:r>
              <a:rPr lang="en"/>
              <a:t> I’m estimating the effect of X on Y, but in reality, I’m estimating the effect of something else entirely (namely X + the relationship of U and 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Extra info for slide ref (don’t read)</a:t>
            </a:r>
            <a:br>
              <a:rPr lang="en"/>
            </a:br>
            <a:r>
              <a:rPr lang="en"/>
              <a:t>* </a:t>
            </a:r>
            <a:r>
              <a:rPr lang="en"/>
              <a:t>X is correctly observed; no measurement error</a:t>
            </a:r>
            <a:endParaRPr/>
          </a:p>
          <a:p>
            <a:pPr indent="0" lvl="0" marL="0" rtl="0" algn="l">
              <a:spcBef>
                <a:spcPts val="0"/>
              </a:spcBef>
              <a:spcAft>
                <a:spcPts val="0"/>
              </a:spcAft>
              <a:buNone/>
            </a:pPr>
            <a:r>
              <a:rPr lang="en"/>
              <a:t>* </a:t>
            </a:r>
            <a:r>
              <a:rPr lang="en"/>
              <a:t>the issue lies in the fact that the relationship between X and Y is a blend of the effect of X→Y and U→Y because error = f(e, U) and cov(U,X)!=0.</a:t>
            </a:r>
            <a:endParaRPr/>
          </a:p>
          <a:p>
            <a:pPr indent="0" lvl="0" marL="0" rtl="0" algn="l">
              <a:spcBef>
                <a:spcPts val="0"/>
              </a:spcBef>
              <a:spcAft>
                <a:spcPts val="0"/>
              </a:spcAft>
              <a:buNone/>
            </a:pPr>
            <a:r>
              <a:rPr lang="en"/>
              <a:t>* </a:t>
            </a:r>
            <a:r>
              <a:rPr lang="en" sz="1150">
                <a:solidFill>
                  <a:srgbClr val="0B0B0B"/>
                </a:solidFill>
                <a:latin typeface="Roboto"/>
                <a:ea typeface="Roboto"/>
                <a:cs typeface="Roboto"/>
                <a:sym typeface="Roboto"/>
              </a:rPr>
              <a:t>if i have my Y on X graph where U is an OV, causal inference would say the LoBF doesn't really do anything meaningful from a causal inference pov. it captures the real empirical relationship between X and Y, but it doesn’t isolate the causal contributions of X (it’s a blend of X’s effect and U’s).</a:t>
            </a:r>
            <a:endParaRPr/>
          </a:p>
        </p:txBody>
      </p:sp>
      <p:sp>
        <p:nvSpPr>
          <p:cNvPr id="640" name="Google Shape;640;g3f671b6c614_2_10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f671b6c614_2_12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3f671b6c614_2_12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g3f671b6c614_2_12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f6808958eb_9_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8" name="Google Shape;668;g3f6808958eb_9_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If you’re reading this and wondering: what about measurement error in Y? → no bias but increase standard errors, and lose estimate precision.</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 sz="1200">
                <a:solidFill>
                  <a:schemeClr val="dk1"/>
                </a:solidFill>
              </a:rPr>
              <a:t>Bad controls is the culprit today – it’s actually different than the others, because it’s not estimating a biased relationship; actually, the problem here is that the relationship that you </a:t>
            </a:r>
            <a:r>
              <a:rPr i="1" lang="en" sz="1200">
                <a:solidFill>
                  <a:schemeClr val="dk1"/>
                </a:solidFill>
              </a:rPr>
              <a:t>think</a:t>
            </a:r>
            <a:r>
              <a:rPr lang="en" sz="1200">
                <a:solidFill>
                  <a:schemeClr val="dk1"/>
                </a:solidFill>
              </a:rPr>
              <a:t> you’re estimating is wrong. You think you’re estimating the “total effect”, but in reality, you’re just estimating the partial (direct) effect. Example will hopefully make this clear.</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 sz="1200">
                <a:solidFill>
                  <a:schemeClr val="dk1"/>
                </a:solidFill>
              </a:rPr>
              <a:t>A&amp;P in “Mostly Harmless Econometrics” [Joshua Angrist won the nobel prize with 2 other econometricians who are top of the field in causal inference methods; book is roughly the handbook for applied </a:t>
            </a:r>
            <a:r>
              <a:rPr lang="en" sz="1200">
                <a:solidFill>
                  <a:schemeClr val="dk1"/>
                </a:solidFill>
              </a:rPr>
              <a:t>econometricians; publised</a:t>
            </a:r>
            <a:r>
              <a:rPr lang="en" sz="1200">
                <a:solidFill>
                  <a:schemeClr val="dk1"/>
                </a:solidFill>
              </a:rPr>
              <a:t> ~2009?] </a:t>
            </a:r>
            <a:r>
              <a:rPr i="1" lang="en" sz="1200">
                <a:solidFill>
                  <a:schemeClr val="dk1"/>
                </a:solidFill>
              </a:rPr>
              <a:t>only </a:t>
            </a:r>
            <a:r>
              <a:rPr lang="en" sz="1200">
                <a:solidFill>
                  <a:schemeClr val="dk1"/>
                </a:solidFill>
              </a:rPr>
              <a:t>say this about Bad Controls: (paraphrase from page 68) “~ by estimating with the bad control, you’re closer to the true coefficient than if you left it out; and if you make some assumptions, you can say that the causal effect of interest is somewhere between the coef with OVB and the coef with the bad control”. [Main point here is that this is simply what they say – even they don’t go on to discuss g-computation as a solution for this]</a:t>
            </a:r>
            <a:endParaRPr sz="1200">
              <a:solidFill>
                <a:schemeClr val="dk1"/>
              </a:solidFill>
            </a:endParaRPr>
          </a:p>
        </p:txBody>
      </p:sp>
      <p:sp>
        <p:nvSpPr>
          <p:cNvPr id="669" name="Google Shape;669;g3f6808958eb_9_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f671b6c614_2_16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f671b6c614_2_16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g3f671b6c614_2_16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6b5bbff60_0_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g3f6b5bbff60_0_1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Intuition: </a:t>
            </a:r>
            <a:br>
              <a:rPr lang="en"/>
            </a:br>
            <a:br>
              <a:rPr lang="en"/>
            </a:br>
            <a:r>
              <a:rPr lang="en"/>
              <a:t>By including Lt in the model, you’re forcing a comparison among patients who have the same toxicity status (neutropenia in t, or no neutropenia in t). </a:t>
            </a:r>
            <a:endParaRPr/>
          </a:p>
          <a:p>
            <a:pPr indent="0" lvl="0" marL="0" rtl="0" algn="l">
              <a:spcBef>
                <a:spcPts val="0"/>
              </a:spcBef>
              <a:spcAft>
                <a:spcPts val="0"/>
              </a:spcAft>
              <a:buNone/>
            </a:pPr>
            <a:r>
              <a:rPr lang="en"/>
              <a:t>– Some got neutropenia because of their past chemo even without being frail; some got there due purely to some unobserved frailty —-&gt; actually there are 4 groups (chemo+not frail, not chemo + not frail, not chemo + frail, chemo + frail,)</a:t>
            </a:r>
            <a:endParaRPr/>
          </a:p>
          <a:p>
            <a:pPr indent="0" lvl="0" marL="0" rtl="0" algn="l">
              <a:spcBef>
                <a:spcPts val="0"/>
              </a:spcBef>
              <a:spcAft>
                <a:spcPts val="0"/>
              </a:spcAft>
              <a:buNone/>
            </a:pPr>
            <a:r>
              <a:rPr lang="en"/>
              <a:t>– So now your estimates comes from comparing two different groups of people who already have different survival chances of survival (frail, which have worse outcomes already, and not frail), which is not at all consistent with potential outcomes frame (remember cloning thought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Drive home: G-computation isn’t a magic pill. If you have violated the CIA, no matter what you do, your coefficients are still biased and you’re going to get garbage out of your model. </a:t>
            </a:r>
            <a:endParaRPr/>
          </a:p>
          <a:p>
            <a:pPr indent="0" lvl="0" marL="0" rtl="0" algn="l">
              <a:spcBef>
                <a:spcPts val="0"/>
              </a:spcBef>
              <a:spcAft>
                <a:spcPts val="0"/>
              </a:spcAft>
              <a:buNone/>
            </a:pPr>
            <a:r>
              <a:rPr lang="en"/>
              <a:t>– You essentially need some way of making dosing decisions independent of frailty. </a:t>
            </a:r>
            <a:endParaRPr/>
          </a:p>
          <a:p>
            <a:pPr indent="0" lvl="0" marL="0" rtl="0" algn="l">
              <a:spcBef>
                <a:spcPts val="0"/>
              </a:spcBef>
              <a:spcAft>
                <a:spcPts val="0"/>
              </a:spcAft>
              <a:buNone/>
            </a:pPr>
            <a:r>
              <a:rPr lang="en"/>
              <a:t>—----For example: an instrumental variable that affects dosing, but is independent of frailty and has no effect on survival [e.g. aggressive dosing-preference MDs]</a:t>
            </a:r>
            <a:endParaRPr/>
          </a:p>
          <a:p>
            <a:pPr indent="0" lvl="0" marL="0" rtl="0" algn="l">
              <a:spcBef>
                <a:spcPts val="0"/>
              </a:spcBef>
              <a:spcAft>
                <a:spcPts val="0"/>
              </a:spcAft>
              <a:buNone/>
            </a:pPr>
            <a:r>
              <a:rPr lang="en"/>
              <a:t>—----RDD could also be something to consider if there’s a white blood count threshold that determines dosing decision and exploit the window around that threshold</a:t>
            </a:r>
            <a:endParaRPr/>
          </a:p>
        </p:txBody>
      </p:sp>
      <p:sp>
        <p:nvSpPr>
          <p:cNvPr id="712" name="Google Shape;712;g3f6b5bbff60_0_1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f6b5bbff60_4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g3f6b5bbff60_4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 this slide, I tried to think hard about what’s important to convey here: It’s the effect of bad controls. </a:t>
            </a:r>
            <a:endParaRPr/>
          </a:p>
          <a:p>
            <a:pPr indent="0" lvl="0" marL="0" rtl="0" algn="l">
              <a:spcBef>
                <a:spcPts val="0"/>
              </a:spcBef>
              <a:spcAft>
                <a:spcPts val="0"/>
              </a:spcAft>
              <a:buNone/>
            </a:pPr>
            <a:r>
              <a:rPr lang="en"/>
              <a:t>Here is out example from the previous slide in both math on left and visual form on right, for people who are more comfortable with each respectively.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Math: </a:t>
            </a:r>
            <a:endParaRPr/>
          </a:p>
          <a:p>
            <a:pPr indent="-317500" lvl="0" marL="457200" rtl="0" algn="l">
              <a:spcBef>
                <a:spcPts val="0"/>
              </a:spcBef>
              <a:spcAft>
                <a:spcPts val="0"/>
              </a:spcAft>
              <a:buSzPts val="1400"/>
              <a:buChar char="●"/>
            </a:pPr>
            <a:r>
              <a:rPr lang="en"/>
              <a:t>Think back to Calculus 3 – the total effect of a\bar on Y is the total derivative of Y with respect to a\bar → which is just the partial derivative of f wrt a\bar + partial of f wrt L * total derivative of L wrt a\bar (by chain rule)</a:t>
            </a:r>
            <a:endParaRPr/>
          </a:p>
          <a:p>
            <a:pPr indent="-317500" lvl="0" marL="457200" rtl="0" algn="l">
              <a:spcBef>
                <a:spcPts val="0"/>
              </a:spcBef>
              <a:spcAft>
                <a:spcPts val="0"/>
              </a:spcAft>
              <a:buSzPts val="1400"/>
              <a:buChar char="●"/>
            </a:pPr>
            <a:r>
              <a:rPr lang="en"/>
              <a:t>What’s this mean? It means that if you include L in the model, E[Y | L] = f(a\bar) → d[Y|L]/da\bar , so the partial of f wrt a\bar </a:t>
            </a:r>
            <a:r>
              <a:rPr b="1" lang="en"/>
              <a:t>only</a:t>
            </a:r>
            <a:r>
              <a:rPr lang="en"/>
              <a:t> (ie only the direct effect) → but we know the total effect is more than this, </a:t>
            </a:r>
            <a:r>
              <a:rPr lang="en" u="sng"/>
              <a:t>so we’re misestimating the effect</a:t>
            </a:r>
            <a:r>
              <a:rPr lang="en"/>
              <a:t>, not by bias, but because we’re estimating a different relationship than we think we 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DAG:</a:t>
            </a:r>
            <a:endParaRPr/>
          </a:p>
          <a:p>
            <a:pPr indent="-317500" lvl="0" marL="457200" rtl="0" algn="l">
              <a:spcBef>
                <a:spcPts val="0"/>
              </a:spcBef>
              <a:spcAft>
                <a:spcPts val="0"/>
              </a:spcAft>
              <a:buSzPts val="1400"/>
              <a:buChar char="●"/>
            </a:pPr>
            <a:r>
              <a:rPr lang="en"/>
              <a:t>Ideally showing the same thing. The relationship between a\bar and Y in the DGP is direct effect of a\bar on Y + indirect relationship of a\bar → L → Y.</a:t>
            </a:r>
            <a:endParaRPr/>
          </a:p>
          <a:p>
            <a:pPr indent="-317500" lvl="0" marL="457200" rtl="0" algn="l">
              <a:spcBef>
                <a:spcPts val="0"/>
              </a:spcBef>
              <a:spcAft>
                <a:spcPts val="0"/>
              </a:spcAft>
              <a:buSzPts val="1400"/>
              <a:buChar char="●"/>
            </a:pPr>
            <a:r>
              <a:rPr lang="en"/>
              <a:t>By conditioning on L, we block the indirect path and only our coefficient only estimates the direct relationship.</a:t>
            </a:r>
            <a:endParaRPr/>
          </a:p>
        </p:txBody>
      </p:sp>
      <p:sp>
        <p:nvSpPr>
          <p:cNvPr id="725" name="Google Shape;725;g3f6b5bbff60_4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f671b6c614_2_17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f671b6c614_2_17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Intuition: </a:t>
            </a:r>
            <a:br>
              <a:rPr lang="en"/>
            </a:br>
            <a:br>
              <a:rPr lang="en"/>
            </a:br>
            <a:r>
              <a:rPr lang="en"/>
              <a:t>By including Lt in the model, you’re forcing a comparison among patients who have the same toxicity status (neutropenia in t, or no neutropenia in t). </a:t>
            </a:r>
            <a:endParaRPr/>
          </a:p>
          <a:p>
            <a:pPr indent="0" lvl="0" marL="0" rtl="0" algn="l">
              <a:spcBef>
                <a:spcPts val="0"/>
              </a:spcBef>
              <a:spcAft>
                <a:spcPts val="0"/>
              </a:spcAft>
              <a:buNone/>
            </a:pPr>
            <a:r>
              <a:rPr lang="en"/>
              <a:t>– Some got neutropenia because of their past chemo even without being frail; some got there due purely to some unobserved frailty —-&gt; actually there are 4 groups (chemo+not frail, not chemo + not frail, not chemo + frail, </a:t>
            </a:r>
            <a:r>
              <a:rPr lang="en"/>
              <a:t>chemo + frail,</a:t>
            </a:r>
            <a:r>
              <a:rPr lang="en"/>
              <a:t>)</a:t>
            </a:r>
            <a:endParaRPr/>
          </a:p>
          <a:p>
            <a:pPr indent="0" lvl="0" marL="0" rtl="0" algn="l">
              <a:spcBef>
                <a:spcPts val="0"/>
              </a:spcBef>
              <a:spcAft>
                <a:spcPts val="0"/>
              </a:spcAft>
              <a:buNone/>
            </a:pPr>
            <a:r>
              <a:rPr lang="en"/>
              <a:t>– So now your estimates comes from comparing two different groups of people who already have different survival chances of survival (frail, which have worse outcomes already, and not frail), which is not at all consistent with potential outcomes frame (remember cloning thought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Drive home: G-computation isn’t a magic pill. If you have violated the CIA, no matter what you do, your coefficients are still biased and you’re going to get garbage out of your model. </a:t>
            </a:r>
            <a:endParaRPr/>
          </a:p>
          <a:p>
            <a:pPr indent="0" lvl="0" marL="0" rtl="0" algn="l">
              <a:spcBef>
                <a:spcPts val="0"/>
              </a:spcBef>
              <a:spcAft>
                <a:spcPts val="0"/>
              </a:spcAft>
              <a:buNone/>
            </a:pPr>
            <a:r>
              <a:rPr lang="en"/>
              <a:t>– You essentially need some way of making dosing decisions independent of frailty. </a:t>
            </a:r>
            <a:endParaRPr/>
          </a:p>
          <a:p>
            <a:pPr indent="0" lvl="0" marL="0" rtl="0" algn="l">
              <a:spcBef>
                <a:spcPts val="0"/>
              </a:spcBef>
              <a:spcAft>
                <a:spcPts val="0"/>
              </a:spcAft>
              <a:buNone/>
            </a:pPr>
            <a:r>
              <a:rPr lang="en"/>
              <a:t>—----For example: an instrumental variable that affects dosing, but is independent of frailty and has no effect on survival [e.g. aggressive dosing-preference MDs]</a:t>
            </a:r>
            <a:endParaRPr/>
          </a:p>
          <a:p>
            <a:pPr indent="0" lvl="0" marL="0" rtl="0" algn="l">
              <a:spcBef>
                <a:spcPts val="0"/>
              </a:spcBef>
              <a:spcAft>
                <a:spcPts val="0"/>
              </a:spcAft>
              <a:buNone/>
            </a:pPr>
            <a:r>
              <a:rPr lang="en"/>
              <a:t>—----RDD could also be something to consider if there’s a white blood count threshold that determines dosing decision and exploit the window around that threshold</a:t>
            </a:r>
            <a:endParaRPr/>
          </a:p>
        </p:txBody>
      </p:sp>
      <p:sp>
        <p:nvSpPr>
          <p:cNvPr id="732" name="Google Shape;732;g3f671b6c614_2_17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f6808958eb_11_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f6808958eb_11_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
              <a:t>In fact, even if Cov(ut,e) = 0 (say you controlled for frailty, and nothing else jointly sits in e and ut that affects Y), you’d still have a problem of Lt being a mediator (see Handbook Chapter 1.5.1). By conditioning on Lt, you’d </a:t>
            </a:r>
            <a:r>
              <a:rPr lang="en" u="sng"/>
              <a:t>only</a:t>
            </a:r>
            <a:r>
              <a:rPr lang="en"/>
              <a:t> being estimating the direct effect of a_{t-1} → Y and not the indirect path of a_{t-1} → Lt →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Figure: Y ~ f(smoking, kras) and smoking ~ g(kras). So by controlling for kras, you’re isolating the direct effect when you think you might be getting the total effect</a:t>
            </a:r>
            <a:br>
              <a:rPr lang="en"/>
            </a:br>
            <a:r>
              <a:rPr lang="en"/>
              <a:t>S</a:t>
            </a:r>
            <a:r>
              <a:rPr lang="en"/>
              <a:t>moking → </a:t>
            </a:r>
            <a:r>
              <a:rPr lang="en"/>
              <a:t>Kras → Outcome (indirect)</a:t>
            </a:r>
            <a:br>
              <a:rPr lang="en"/>
            </a:br>
            <a:r>
              <a:rPr lang="en"/>
              <a:t>Smoking → Outcome (direct)</a:t>
            </a:r>
            <a:endParaRPr/>
          </a:p>
        </p:txBody>
      </p:sp>
      <p:sp>
        <p:nvSpPr>
          <p:cNvPr id="749" name="Google Shape;749;g3f6808958eb_11_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f68647115a_1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f68647115a_1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g3f68647115a_1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f68647115a_1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g3f68647115a_1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one is called “single_time_point_example.R”</a:t>
            </a:r>
            <a:endParaRPr/>
          </a:p>
        </p:txBody>
      </p:sp>
      <p:sp>
        <p:nvSpPr>
          <p:cNvPr id="772" name="Google Shape;772;g3f68647115a_1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f6808958eb_11_2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f6808958eb_11_2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g3f6808958eb_11_2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f6808958eb_11_6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g3f6808958eb_11_6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called “full_gcomputation_example.R”</a:t>
            </a:r>
            <a:endParaRPr/>
          </a:p>
        </p:txBody>
      </p:sp>
      <p:sp>
        <p:nvSpPr>
          <p:cNvPr id="794" name="Google Shape;794;g3f6808958eb_11_6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6b5bbff60_0_2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g3f6b5bbff60_0_2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 brief addendum is that g-computation can conceptually be used to estimate the outcomes for any counterfactual state (in the full example, notice that I added a fourth state called “custom_alternate” which is some arbitrary state where the doctor just doses chemo 3m on, 3m off. I added this to show that you could simulate really any of the 2^8 states that you want; but the important thing to underline is that there might be pretty poor support for these states in your models, which forces your model to extrapolate outcomes into unobserved scenarios (like no chemo at all).</a:t>
            </a:r>
            <a:endParaRPr/>
          </a:p>
        </p:txBody>
      </p:sp>
      <p:sp>
        <p:nvSpPr>
          <p:cNvPr id="807" name="Google Shape;807;g3f6b5bbff60_0_2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ec89fa6bd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ec89fa6bd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ec89fa6bd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ec89fa6bd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f693c8d738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f693c8d738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f693c8d73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3f693c8d73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7.jp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5.jp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9.jp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png"/><Relationship Id="rId4"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6.png"/><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png"/><Relationship Id="rId4"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png"/><Relationship Id="rId4" Type="http://schemas.openxmlformats.org/officeDocument/2006/relationships/image" Target="../media/image2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png"/><Relationship Id="rId4" Type="http://schemas.openxmlformats.org/officeDocument/2006/relationships/image" Target="../media/image2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4.png"/><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5.png"/><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jpg"/><Relationship Id="rId3"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jpg"/><Relationship Id="rId3" Type="http://schemas.openxmlformats.org/officeDocument/2006/relationships/image" Target="../media/image32.jpg"/><Relationship Id="rId4" Type="http://schemas.openxmlformats.org/officeDocument/2006/relationships/image" Target="../media/image35.jpg"/><Relationship Id="rId5" Type="http://schemas.openxmlformats.org/officeDocument/2006/relationships/image" Target="../media/image28.png"/><Relationship Id="rId6"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jpg"/><Relationship Id="rId3" Type="http://schemas.openxmlformats.org/officeDocument/2006/relationships/image" Target="../media/image35.jpg"/><Relationship Id="rId4" Type="http://schemas.openxmlformats.org/officeDocument/2006/relationships/image" Target="../media/image28.png"/><Relationship Id="rId5"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jpg"/><Relationship Id="rId3" Type="http://schemas.openxmlformats.org/officeDocument/2006/relationships/image" Target="../media/image32.jpg"/><Relationship Id="rId4" Type="http://schemas.openxmlformats.org/officeDocument/2006/relationships/image" Target="../media/image35.jpg"/><Relationship Id="rId5" Type="http://schemas.openxmlformats.org/officeDocument/2006/relationships/image" Target="../media/image28.png"/><Relationship Id="rId6"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jpg"/><Relationship Id="rId3" Type="http://schemas.openxmlformats.org/officeDocument/2006/relationships/image" Target="../media/image32.jpg"/><Relationship Id="rId4" Type="http://schemas.openxmlformats.org/officeDocument/2006/relationships/image" Target="../media/image35.jpg"/><Relationship Id="rId5" Type="http://schemas.openxmlformats.org/officeDocument/2006/relationships/image" Target="../media/image28.png"/><Relationship Id="rId6"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jpg"/><Relationship Id="rId3" Type="http://schemas.openxmlformats.org/officeDocument/2006/relationships/image" Target="../media/image32.jpg"/><Relationship Id="rId4" Type="http://schemas.openxmlformats.org/officeDocument/2006/relationships/image" Target="../media/image35.jpg"/><Relationship Id="rId5" Type="http://schemas.openxmlformats.org/officeDocument/2006/relationships/image" Target="../media/image28.png"/><Relationship Id="rId6"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jpg"/><Relationship Id="rId3" Type="http://schemas.openxmlformats.org/officeDocument/2006/relationships/image" Target="../media/image4.jp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jpg"/><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51.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jpg"/><Relationship Id="rId3" Type="http://schemas.openxmlformats.org/officeDocument/2006/relationships/image" Target="../media/image7.jpg"/><Relationship Id="rId4"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jpg"/><Relationship Id="rId3" Type="http://schemas.openxmlformats.org/officeDocument/2006/relationships/image" Target="../media/image2.png"/><Relationship Id="rId4" Type="http://schemas.openxmlformats.org/officeDocument/2006/relationships/image" Target="../media/image6.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5.jpg"/><Relationship Id="rId4"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9.jpg"/><Relationship Id="rId4"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1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1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Purple">
  <p:cSld name="Title, subtitle, paragraph - Purp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1" y="0"/>
            <a:ext cx="9144000" cy="5143505"/>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1" name="Google Shape;11;p2"/>
          <p:cNvSpPr txBox="1"/>
          <p:nvPr>
            <p:ph type="title"/>
          </p:nvPr>
        </p:nvSpPr>
        <p:spPr>
          <a:xfrm>
            <a:off x="539750" y="457200"/>
            <a:ext cx="1920900" cy="1828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Clr>
                <a:srgbClr val="FFFFFF"/>
              </a:buClr>
              <a:buSzPts val="3000"/>
              <a:buFont typeface="Helvetica Neue"/>
              <a:buNone/>
              <a:defRPr b="1" sz="30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2" name="Google Shape;12;p2"/>
          <p:cNvSpPr txBox="1"/>
          <p:nvPr>
            <p:ph idx="1" type="subTitle"/>
          </p:nvPr>
        </p:nvSpPr>
        <p:spPr>
          <a:xfrm>
            <a:off x="539750" y="2514600"/>
            <a:ext cx="1571700" cy="13716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lgn="l">
              <a:lnSpc>
                <a:spcPct val="100000"/>
              </a:lnSpc>
              <a:spcBef>
                <a:spcPts val="0"/>
              </a:spcBef>
              <a:spcAft>
                <a:spcPts val="0"/>
              </a:spcAft>
              <a:buClr>
                <a:srgbClr val="FFFFFF"/>
              </a:buClr>
              <a:buSzPts val="1800"/>
              <a:buNone/>
              <a:defRPr sz="1800">
                <a:solidFill>
                  <a:srgbClr val="FFFFFF"/>
                </a:solidFill>
              </a:defRPr>
            </a:lvl2pPr>
            <a:lvl3pPr lvl="2" rtl="0" algn="l">
              <a:lnSpc>
                <a:spcPct val="100000"/>
              </a:lnSpc>
              <a:spcBef>
                <a:spcPts val="0"/>
              </a:spcBef>
              <a:spcAft>
                <a:spcPts val="0"/>
              </a:spcAft>
              <a:buClr>
                <a:srgbClr val="FFFFFF"/>
              </a:buClr>
              <a:buSzPts val="1800"/>
              <a:buNone/>
              <a:defRPr sz="1800">
                <a:solidFill>
                  <a:srgbClr val="FFFFFF"/>
                </a:solidFill>
              </a:defRPr>
            </a:lvl3pPr>
            <a:lvl4pPr lvl="3" rtl="0" algn="l">
              <a:lnSpc>
                <a:spcPct val="100000"/>
              </a:lnSpc>
              <a:spcBef>
                <a:spcPts val="0"/>
              </a:spcBef>
              <a:spcAft>
                <a:spcPts val="0"/>
              </a:spcAft>
              <a:buClr>
                <a:srgbClr val="FFFFFF"/>
              </a:buClr>
              <a:buSzPts val="1800"/>
              <a:buNone/>
              <a:defRPr sz="1800">
                <a:solidFill>
                  <a:srgbClr val="FFFFFF"/>
                </a:solidFill>
              </a:defRPr>
            </a:lvl4pPr>
            <a:lvl5pPr lvl="4" rtl="0" algn="l">
              <a:lnSpc>
                <a:spcPct val="100000"/>
              </a:lnSpc>
              <a:spcBef>
                <a:spcPts val="0"/>
              </a:spcBef>
              <a:spcAft>
                <a:spcPts val="0"/>
              </a:spcAft>
              <a:buClr>
                <a:srgbClr val="FFFFFF"/>
              </a:buClr>
              <a:buSzPts val="1800"/>
              <a:buNone/>
              <a:defRPr sz="1800">
                <a:solidFill>
                  <a:srgbClr val="FFFFFF"/>
                </a:solidFill>
              </a:defRPr>
            </a:lvl5pPr>
            <a:lvl6pPr lvl="5" rtl="0" algn="l">
              <a:lnSpc>
                <a:spcPct val="100000"/>
              </a:lnSpc>
              <a:spcBef>
                <a:spcPts val="0"/>
              </a:spcBef>
              <a:spcAft>
                <a:spcPts val="0"/>
              </a:spcAft>
              <a:buClr>
                <a:srgbClr val="FFFFFF"/>
              </a:buClr>
              <a:buSzPts val="1800"/>
              <a:buNone/>
              <a:defRPr sz="1800">
                <a:solidFill>
                  <a:srgbClr val="FFFFFF"/>
                </a:solidFill>
              </a:defRPr>
            </a:lvl6pPr>
            <a:lvl7pPr lvl="6" rtl="0" algn="l">
              <a:lnSpc>
                <a:spcPct val="100000"/>
              </a:lnSpc>
              <a:spcBef>
                <a:spcPts val="0"/>
              </a:spcBef>
              <a:spcAft>
                <a:spcPts val="0"/>
              </a:spcAft>
              <a:buClr>
                <a:srgbClr val="FFFFFF"/>
              </a:buClr>
              <a:buSzPts val="1800"/>
              <a:buNone/>
              <a:defRPr sz="1800">
                <a:solidFill>
                  <a:srgbClr val="FFFFFF"/>
                </a:solidFill>
              </a:defRPr>
            </a:lvl7pPr>
            <a:lvl8pPr lvl="7" rtl="0" algn="l">
              <a:lnSpc>
                <a:spcPct val="100000"/>
              </a:lnSpc>
              <a:spcBef>
                <a:spcPts val="0"/>
              </a:spcBef>
              <a:spcAft>
                <a:spcPts val="0"/>
              </a:spcAft>
              <a:buClr>
                <a:srgbClr val="FFFFFF"/>
              </a:buClr>
              <a:buSzPts val="1800"/>
              <a:buNone/>
              <a:defRPr sz="1800">
                <a:solidFill>
                  <a:srgbClr val="FFFFFF"/>
                </a:solidFill>
              </a:defRPr>
            </a:lvl8pPr>
            <a:lvl9pPr lvl="8" rtl="0" algn="l">
              <a:lnSpc>
                <a:spcPct val="100000"/>
              </a:lnSpc>
              <a:spcBef>
                <a:spcPts val="0"/>
              </a:spcBef>
              <a:spcAft>
                <a:spcPts val="0"/>
              </a:spcAft>
              <a:buClr>
                <a:srgbClr val="FFFFFF"/>
              </a:buClr>
              <a:buSzPts val="1800"/>
              <a:buNone/>
              <a:defRPr sz="1800">
                <a:solidFill>
                  <a:srgbClr val="FFFFFF"/>
                </a:solidFill>
              </a:defRPr>
            </a:lvl9pPr>
          </a:lstStyle>
          <a:p/>
        </p:txBody>
      </p:sp>
      <p:sp>
        <p:nvSpPr>
          <p:cNvPr id="13" name="Google Shape;13;p2"/>
          <p:cNvSpPr txBox="1"/>
          <p:nvPr>
            <p:ph idx="2" type="body"/>
          </p:nvPr>
        </p:nvSpPr>
        <p:spPr>
          <a:xfrm>
            <a:off x="4572000" y="457200"/>
            <a:ext cx="4114800" cy="4114800"/>
          </a:xfrm>
          <a:prstGeom prst="rect">
            <a:avLst/>
          </a:prstGeom>
          <a:noFill/>
          <a:ln>
            <a:noFill/>
          </a:ln>
        </p:spPr>
        <p:txBody>
          <a:bodyPr anchorCtr="0" anchor="ctr" bIns="0" lIns="0" spcFirstLastPara="1" rIns="0" wrap="square" tIns="0">
            <a:noAutofit/>
          </a:bodyPr>
          <a:lstStyle>
            <a:lvl1pPr indent="-323850" lvl="0" marL="457200" marR="0" rtl="0" algn="l">
              <a:lnSpc>
                <a:spcPct val="150000"/>
              </a:lnSpc>
              <a:spcBef>
                <a:spcPts val="0"/>
              </a:spcBef>
              <a:spcAft>
                <a:spcPts val="0"/>
              </a:spcAft>
              <a:buClr>
                <a:srgbClr val="333333"/>
              </a:buClr>
              <a:buSzPts val="1500"/>
              <a:buChar char="▪"/>
              <a:defRPr sz="1500"/>
            </a:lvl1pPr>
            <a:lvl2pPr indent="-228600" lvl="1" marL="914400" rtl="0" algn="l">
              <a:lnSpc>
                <a:spcPct val="150000"/>
              </a:lnSpc>
              <a:spcBef>
                <a:spcPts val="0"/>
              </a:spcBef>
              <a:spcAft>
                <a:spcPts val="0"/>
              </a:spcAft>
              <a:buClr>
                <a:srgbClr val="5051DB"/>
              </a:buClr>
              <a:buSzPts val="1500"/>
              <a:buNone/>
              <a:defRPr sz="1500"/>
            </a:lvl2pPr>
            <a:lvl3pPr indent="-228600" lvl="2" marL="1371600" rtl="0" algn="l">
              <a:lnSpc>
                <a:spcPct val="150000"/>
              </a:lnSpc>
              <a:spcBef>
                <a:spcPts val="0"/>
              </a:spcBef>
              <a:spcAft>
                <a:spcPts val="0"/>
              </a:spcAft>
              <a:buClr>
                <a:srgbClr val="5051DB"/>
              </a:buClr>
              <a:buSzPts val="1500"/>
              <a:buNone/>
              <a:defRPr sz="1500"/>
            </a:lvl3pPr>
            <a:lvl4pPr indent="-228600" lvl="3" marL="1828800" rtl="0" algn="l">
              <a:lnSpc>
                <a:spcPct val="150000"/>
              </a:lnSpc>
              <a:spcBef>
                <a:spcPts val="0"/>
              </a:spcBef>
              <a:spcAft>
                <a:spcPts val="0"/>
              </a:spcAft>
              <a:buClr>
                <a:srgbClr val="5051DB"/>
              </a:buClr>
              <a:buSzPts val="1500"/>
              <a:buNone/>
              <a:defRPr sz="1500"/>
            </a:lvl4pPr>
            <a:lvl5pPr indent="-228600" lvl="4" marL="2286000" rtl="0" algn="l">
              <a:lnSpc>
                <a:spcPct val="150000"/>
              </a:lnSpc>
              <a:spcBef>
                <a:spcPts val="0"/>
              </a:spcBef>
              <a:spcAft>
                <a:spcPts val="0"/>
              </a:spcAft>
              <a:buClr>
                <a:srgbClr val="5051DB"/>
              </a:buClr>
              <a:buSzPts val="1500"/>
              <a:buNone/>
              <a:defRPr sz="1500"/>
            </a:lvl5pPr>
            <a:lvl6pPr indent="-228600" lvl="5" marL="2743200" rtl="0" algn="l">
              <a:lnSpc>
                <a:spcPct val="150000"/>
              </a:lnSpc>
              <a:spcBef>
                <a:spcPts val="0"/>
              </a:spcBef>
              <a:spcAft>
                <a:spcPts val="0"/>
              </a:spcAft>
              <a:buClr>
                <a:srgbClr val="5051DB"/>
              </a:buClr>
              <a:buSzPts val="1500"/>
              <a:buNone/>
              <a:defRPr sz="1500"/>
            </a:lvl6pPr>
            <a:lvl7pPr indent="-228600" lvl="6" marL="3200400" rtl="0" algn="l">
              <a:lnSpc>
                <a:spcPct val="150000"/>
              </a:lnSpc>
              <a:spcBef>
                <a:spcPts val="0"/>
              </a:spcBef>
              <a:spcAft>
                <a:spcPts val="0"/>
              </a:spcAft>
              <a:buClr>
                <a:srgbClr val="5051DB"/>
              </a:buClr>
              <a:buSzPts val="1500"/>
              <a:buNone/>
              <a:defRPr sz="1500"/>
            </a:lvl7pPr>
            <a:lvl8pPr indent="-228600" lvl="7" marL="3657600" rtl="0" algn="l">
              <a:lnSpc>
                <a:spcPct val="150000"/>
              </a:lnSpc>
              <a:spcBef>
                <a:spcPts val="0"/>
              </a:spcBef>
              <a:spcAft>
                <a:spcPts val="0"/>
              </a:spcAft>
              <a:buClr>
                <a:srgbClr val="5051DB"/>
              </a:buClr>
              <a:buSzPts val="1500"/>
              <a:buNone/>
              <a:defRPr sz="1500"/>
            </a:lvl8pPr>
            <a:lvl9pPr indent="-228600" lvl="8" marL="4114800" rtl="0" algn="l">
              <a:lnSpc>
                <a:spcPct val="150000"/>
              </a:lnSpc>
              <a:spcBef>
                <a:spcPts val="0"/>
              </a:spcBef>
              <a:spcAft>
                <a:spcPts val="0"/>
              </a:spcAft>
              <a:buClr>
                <a:srgbClr val="5051DB"/>
              </a:buClr>
              <a:buSzPts val="1500"/>
              <a:buNone/>
              <a:defRPr sz="1500"/>
            </a:lvl9pPr>
          </a:lstStyle>
          <a:p/>
        </p:txBody>
      </p:sp>
      <p:sp>
        <p:nvSpPr>
          <p:cNvPr id="14" name="Google Shape;14;p2"/>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spTree>
  </p:cSld>
  <p:clrMapOvr>
    <a:masterClrMapping/>
  </p:clrMapOvr>
  <p:extLst>
    <p:ext uri="{DCECCB84-F9BA-43D5-87BE-67443E8EF086}">
      <p15:sldGuideLst>
        <p15:guide id="1" pos="288">
          <p15:clr>
            <a:srgbClr val="FA7B17"/>
          </p15:clr>
        </p15:guide>
        <p15:guide id="2" pos="576">
          <p15:clr>
            <a:srgbClr val="FA7B17"/>
          </p15:clr>
        </p15:guide>
        <p15:guide id="3" pos="864">
          <p15:clr>
            <a:srgbClr val="FA7B17"/>
          </p15:clr>
        </p15:guide>
        <p15:guide id="4" pos="1152">
          <p15:clr>
            <a:srgbClr val="FA7B17"/>
          </p15:clr>
        </p15:guide>
        <p15:guide id="5" pos="1440">
          <p15:clr>
            <a:srgbClr val="FA7B17"/>
          </p15:clr>
        </p15:guide>
        <p15:guide id="6" pos="1728">
          <p15:clr>
            <a:srgbClr val="FA7B17"/>
          </p15:clr>
        </p15:guide>
        <p15:guide id="7" pos="2016">
          <p15:clr>
            <a:srgbClr val="FA7B17"/>
          </p15:clr>
        </p15:guide>
        <p15:guide id="8" pos="2304">
          <p15:clr>
            <a:srgbClr val="FA7B17"/>
          </p15:clr>
        </p15:guide>
        <p15:guide id="9" pos="2592">
          <p15:clr>
            <a:srgbClr val="FA7B17"/>
          </p15:clr>
        </p15:guide>
        <p15:guide id="10" pos="2880">
          <p15:clr>
            <a:srgbClr val="FA7B17"/>
          </p15:clr>
        </p15:guide>
        <p15:guide id="11" pos="3168">
          <p15:clr>
            <a:srgbClr val="FA7B17"/>
          </p15:clr>
        </p15:guide>
        <p15:guide id="12" pos="3456">
          <p15:clr>
            <a:srgbClr val="FA7B17"/>
          </p15:clr>
        </p15:guide>
        <p15:guide id="13" pos="3744">
          <p15:clr>
            <a:srgbClr val="FA7B17"/>
          </p15:clr>
        </p15:guide>
        <p15:guide id="14" pos="4032">
          <p15:clr>
            <a:srgbClr val="FA7B17"/>
          </p15:clr>
        </p15:guide>
        <p15:guide id="15" pos="4320">
          <p15:clr>
            <a:srgbClr val="FA7B17"/>
          </p15:clr>
        </p15:guide>
        <p15:guide id="16" pos="4608">
          <p15:clr>
            <a:srgbClr val="FA7B17"/>
          </p15:clr>
        </p15:guide>
        <p15:guide id="17" pos="4896">
          <p15:clr>
            <a:srgbClr val="FA7B17"/>
          </p15:clr>
        </p15:guide>
        <p15:guide id="18" pos="5184">
          <p15:clr>
            <a:srgbClr val="FA7B17"/>
          </p15:clr>
        </p15:guide>
        <p15:guide id="19" pos="5472">
          <p15:clr>
            <a:srgbClr val="FA7B17"/>
          </p15:clr>
        </p15:guide>
        <p15:guide id="20" orient="horz" pos="288">
          <p15:clr>
            <a:srgbClr val="FA7B17"/>
          </p15:clr>
        </p15:guide>
        <p15:guide id="21" orient="horz" pos="576">
          <p15:clr>
            <a:srgbClr val="FA7B17"/>
          </p15:clr>
        </p15:guide>
        <p15:guide id="22" orient="horz" pos="864">
          <p15:clr>
            <a:srgbClr val="FA7B17"/>
          </p15:clr>
        </p15:guide>
        <p15:guide id="23" orient="horz" pos="1152">
          <p15:clr>
            <a:srgbClr val="FA7B17"/>
          </p15:clr>
        </p15:guide>
        <p15:guide id="24" orient="horz" pos="1440">
          <p15:clr>
            <a:srgbClr val="FA7B17"/>
          </p15:clr>
        </p15:guide>
        <p15:guide id="25" orient="horz" pos="1728">
          <p15:clr>
            <a:srgbClr val="FA7B17"/>
          </p15:clr>
        </p15:guide>
        <p15:guide id="26" orient="horz" pos="2016">
          <p15:clr>
            <a:srgbClr val="FA7B17"/>
          </p15:clr>
        </p15:guide>
        <p15:guide id="27" orient="horz" pos="2304">
          <p15:clr>
            <a:srgbClr val="FA7B17"/>
          </p15:clr>
        </p15:guide>
        <p15:guide id="28" orient="horz" pos="2592">
          <p15:clr>
            <a:srgbClr val="FA7B17"/>
          </p15:clr>
        </p15:guide>
        <p15:guide id="29" orient="horz" pos="2880">
          <p15:clr>
            <a:srgbClr val="FA7B17"/>
          </p15:clr>
        </p15:guide>
        <p15:guide id="30" orient="horz" pos="3168">
          <p15:clr>
            <a:srgbClr val="FA7B17"/>
          </p15:clr>
        </p15:guide>
        <p15:guide id="31" pos="36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Purple Background">
  <p:cSld name="Blank Blue">
    <p:bg>
      <p:bgPr>
        <a:solidFill>
          <a:schemeClr val="accent1"/>
        </a:solidFill>
      </p:bgPr>
    </p:bg>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17" name="Google Shape;17;p3"/>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Background 2">
  <p:cSld name="Blank Blue_3">
    <p:bg>
      <p:bgPr>
        <a:solidFill>
          <a:schemeClr val="accent1"/>
        </a:solidFill>
      </p:bgPr>
    </p:bg>
    <p:spTree>
      <p:nvGrpSpPr>
        <p:cNvPr id="18" name="Shape 18"/>
        <p:cNvGrpSpPr/>
        <p:nvPr/>
      </p:nvGrpSpPr>
      <p:grpSpPr>
        <a:xfrm>
          <a:off x="0" y="0"/>
          <a:ext cx="0" cy="0"/>
          <a:chOff x="0" y="0"/>
          <a:chExt cx="0" cy="0"/>
        </a:xfrm>
      </p:grpSpPr>
      <p:pic>
        <p:nvPicPr>
          <p:cNvPr id="19" name="Google Shape;19;p4"/>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20" name="Google Shape;20;p4"/>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21" name="Google Shape;21;p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22" name="Google Shape;22;p4"/>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23" name="Google Shape;23;p4"/>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Background 3">
  <p:cSld name="Blank Blue_3_1">
    <p:bg>
      <p:bgPr>
        <a:solidFill>
          <a:schemeClr val="accent1"/>
        </a:solidFill>
      </p:bgPr>
    </p:bg>
    <p:spTree>
      <p:nvGrpSpPr>
        <p:cNvPr id="24"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26" name="Google Shape;26;p5"/>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27" name="Google Shape;27;p5"/>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Purple Background 1">
  <p:cSld name="Blank Blue_2">
    <p:bg>
      <p:bgPr>
        <a:blipFill>
          <a:blip r:embed="rId2">
            <a:alphaModFix/>
          </a:blip>
          <a:stretch>
            <a:fillRect/>
          </a:stretch>
        </a:blipFill>
      </p:bgPr>
    </p:bg>
    <p:spTree>
      <p:nvGrpSpPr>
        <p:cNvPr id="28" name="Shape 28"/>
        <p:cNvGrpSpPr/>
        <p:nvPr/>
      </p:nvGrpSpPr>
      <p:grpSpPr>
        <a:xfrm>
          <a:off x="0" y="0"/>
          <a:ext cx="0" cy="0"/>
          <a:chOff x="0" y="0"/>
          <a:chExt cx="0" cy="0"/>
        </a:xfrm>
      </p:grpSpPr>
      <p:pic>
        <p:nvPicPr>
          <p:cNvPr id="29" name="Google Shape;29;p6"/>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30" name="Google Shape;30;p6"/>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31" name="Google Shape;31;p6"/>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guide id="3" pos="372">
          <p15:clr>
            <a:srgbClr val="FA7B17"/>
          </p15:clr>
        </p15:guide>
        <p15:guide id="4" pos="5544">
          <p15:clr>
            <a:srgbClr val="FA7B17"/>
          </p15:clr>
        </p15:guide>
        <p15:guide id="5" pos="561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Blue Background">
  <p:cSld name="Blank Blue_1">
    <p:bg>
      <p:bgPr>
        <a:solidFill>
          <a:srgbClr val="3887F6"/>
        </a:solidFill>
      </p:bgPr>
    </p:bg>
    <p:spTree>
      <p:nvGrpSpPr>
        <p:cNvPr id="32"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34" name="Google Shape;34;p7"/>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Blue Background 1">
  <p:cSld name="Blank Blue_1_2">
    <p:bg>
      <p:bgPr>
        <a:solidFill>
          <a:srgbClr val="3887F6"/>
        </a:solidFill>
      </p:bgPr>
    </p:bg>
    <p:spTree>
      <p:nvGrpSpPr>
        <p:cNvPr id="35" name="Shape 35"/>
        <p:cNvGrpSpPr/>
        <p:nvPr/>
      </p:nvGrpSpPr>
      <p:grpSpPr>
        <a:xfrm>
          <a:off x="0" y="0"/>
          <a:ext cx="0" cy="0"/>
          <a:chOff x="0" y="0"/>
          <a:chExt cx="0" cy="0"/>
        </a:xfrm>
      </p:grpSpPr>
      <p:pic>
        <p:nvPicPr>
          <p:cNvPr id="36" name="Google Shape;36;p8"/>
          <p:cNvPicPr preferRelativeResize="0"/>
          <p:nvPr/>
        </p:nvPicPr>
        <p:blipFill>
          <a:blip r:embed="rId2">
            <a:alphaModFix/>
          </a:blip>
          <a:stretch>
            <a:fillRect/>
          </a:stretch>
        </p:blipFill>
        <p:spPr>
          <a:xfrm>
            <a:off x="0" y="0"/>
            <a:ext cx="9143986" cy="5143500"/>
          </a:xfrm>
          <a:prstGeom prst="rect">
            <a:avLst/>
          </a:prstGeom>
          <a:noFill/>
          <a:ln>
            <a:noFill/>
          </a:ln>
        </p:spPr>
      </p:pic>
      <p:pic>
        <p:nvPicPr>
          <p:cNvPr id="37" name="Google Shape;37;p8"/>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8" name="Google Shape;38;p8"/>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Turquoise Background">
  <p:cSld name="Blank Blue_1_1">
    <p:bg>
      <p:bgPr>
        <a:solidFill>
          <a:srgbClr val="0A7387"/>
        </a:solidFill>
      </p:bgPr>
    </p:bg>
    <p:spTree>
      <p:nvGrpSpPr>
        <p:cNvPr id="39" name="Shape 39"/>
        <p:cNvGrpSpPr/>
        <p:nvPr/>
      </p:nvGrpSpPr>
      <p:grpSpPr>
        <a:xfrm>
          <a:off x="0" y="0"/>
          <a:ext cx="0" cy="0"/>
          <a:chOff x="0" y="0"/>
          <a:chExt cx="0" cy="0"/>
        </a:xfrm>
      </p:grpSpPr>
      <p:pic>
        <p:nvPicPr>
          <p:cNvPr id="40" name="Google Shape;40;p9"/>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41" name="Google Shape;41;p9"/>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Turquoise Background 1">
  <p:cSld name="Blank Blue_1_1_2">
    <p:bg>
      <p:bgPr>
        <a:blipFill>
          <a:blip r:embed="rId2">
            <a:alphaModFix/>
          </a:blip>
          <a:stretch>
            <a:fillRect/>
          </a:stretch>
        </a:blipFill>
      </p:bgPr>
    </p:bg>
    <p:spTree>
      <p:nvGrpSpPr>
        <p:cNvPr id="42" name="Shape 42"/>
        <p:cNvGrpSpPr/>
        <p:nvPr/>
      </p:nvGrpSpPr>
      <p:grpSpPr>
        <a:xfrm>
          <a:off x="0" y="0"/>
          <a:ext cx="0" cy="0"/>
          <a:chOff x="0" y="0"/>
          <a:chExt cx="0" cy="0"/>
        </a:xfrm>
      </p:grpSpPr>
      <p:pic>
        <p:nvPicPr>
          <p:cNvPr id="43" name="Google Shape;43;p10"/>
          <p:cNvPicPr preferRelativeResize="0"/>
          <p:nvPr/>
        </p:nvPicPr>
        <p:blipFill>
          <a:blip r:embed="rId3">
            <a:alphaModFix/>
          </a:blip>
          <a:stretch>
            <a:fillRect/>
          </a:stretch>
        </p:blipFill>
        <p:spPr>
          <a:xfrm>
            <a:off x="0" y="0"/>
            <a:ext cx="9144005" cy="5143500"/>
          </a:xfrm>
          <a:prstGeom prst="rect">
            <a:avLst/>
          </a:prstGeom>
          <a:noFill/>
          <a:ln>
            <a:noFill/>
          </a:ln>
        </p:spPr>
      </p:pic>
      <p:pic>
        <p:nvPicPr>
          <p:cNvPr id="44" name="Google Shape;44;p10"/>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45" name="Google Shape;45;p10"/>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Slate Background">
  <p:cSld name="Blank Blue_1_1_1">
    <p:bg>
      <p:bgPr>
        <a:solidFill>
          <a:srgbClr val="485261"/>
        </a:solidFill>
      </p:bgPr>
    </p:bg>
    <p:spTree>
      <p:nvGrpSpPr>
        <p:cNvPr id="46" name="Shape 46"/>
        <p:cNvGrpSpPr/>
        <p:nvPr/>
      </p:nvGrpSpPr>
      <p:grpSpPr>
        <a:xfrm>
          <a:off x="0" y="0"/>
          <a:ext cx="0" cy="0"/>
          <a:chOff x="0" y="0"/>
          <a:chExt cx="0" cy="0"/>
        </a:xfrm>
      </p:grpSpPr>
      <p:pic>
        <p:nvPicPr>
          <p:cNvPr id="47" name="Google Shape;47;p11"/>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48" name="Google Shape;48;p11"/>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Slate Background 1">
  <p:cSld name="Blank Blue_1_1_1_1">
    <p:bg>
      <p:bgPr>
        <a:blipFill>
          <a:blip r:embed="rId2">
            <a:alphaModFix/>
          </a:blip>
          <a:stretch>
            <a:fillRect/>
          </a:stretch>
        </a:blipFill>
      </p:bgPr>
    </p:bg>
    <p:spTree>
      <p:nvGrpSpPr>
        <p:cNvPr id="49" name="Shape 49"/>
        <p:cNvGrpSpPr/>
        <p:nvPr/>
      </p:nvGrpSpPr>
      <p:grpSpPr>
        <a:xfrm>
          <a:off x="0" y="0"/>
          <a:ext cx="0" cy="0"/>
          <a:chOff x="0" y="0"/>
          <a:chExt cx="0" cy="0"/>
        </a:xfrm>
      </p:grpSpPr>
      <p:pic>
        <p:nvPicPr>
          <p:cNvPr id="50" name="Google Shape;50;p12"/>
          <p:cNvPicPr preferRelativeResize="0"/>
          <p:nvPr/>
        </p:nvPicPr>
        <p:blipFill>
          <a:blip r:embed="rId3">
            <a:alphaModFix/>
          </a:blip>
          <a:stretch>
            <a:fillRect/>
          </a:stretch>
        </p:blipFill>
        <p:spPr>
          <a:xfrm>
            <a:off x="0" y="0"/>
            <a:ext cx="9143986" cy="5143500"/>
          </a:xfrm>
          <a:prstGeom prst="rect">
            <a:avLst/>
          </a:prstGeom>
          <a:noFill/>
          <a:ln>
            <a:noFill/>
          </a:ln>
        </p:spPr>
      </p:pic>
      <p:pic>
        <p:nvPicPr>
          <p:cNvPr id="51" name="Google Shape;51;p12"/>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52" name="Google Shape;52;p12"/>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Slate Background 1 1">
  <p:cSld name="Blank Blue_1_1_1_1_1">
    <p:bg>
      <p:bgPr>
        <a:solidFill>
          <a:srgbClr val="A92C9C"/>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55" name="Google Shape;55;p13"/>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Slate Background 1 1 1">
  <p:cSld name="Blank Blue_1_1_1_1_1_1">
    <p:bg>
      <p:bgPr>
        <a:solidFill>
          <a:srgbClr val="A92C9C"/>
        </a:solidFill>
      </p:bgPr>
    </p:bg>
    <p:spTree>
      <p:nvGrpSpPr>
        <p:cNvPr id="56" name="Shape 56"/>
        <p:cNvGrpSpPr/>
        <p:nvPr/>
      </p:nvGrpSpPr>
      <p:grpSpPr>
        <a:xfrm>
          <a:off x="0" y="0"/>
          <a:ext cx="0" cy="0"/>
          <a:chOff x="0" y="0"/>
          <a:chExt cx="0" cy="0"/>
        </a:xfrm>
      </p:grpSpPr>
      <p:pic>
        <p:nvPicPr>
          <p:cNvPr id="57" name="Google Shape;57;p14"/>
          <p:cNvPicPr preferRelativeResize="0"/>
          <p:nvPr/>
        </p:nvPicPr>
        <p:blipFill>
          <a:blip r:embed="rId2">
            <a:alphaModFix/>
          </a:blip>
          <a:stretch>
            <a:fillRect/>
          </a:stretch>
        </p:blipFill>
        <p:spPr>
          <a:xfrm>
            <a:off x="0" y="0"/>
            <a:ext cx="9144000" cy="5143508"/>
          </a:xfrm>
          <a:prstGeom prst="rect">
            <a:avLst/>
          </a:prstGeom>
          <a:noFill/>
          <a:ln>
            <a:noFill/>
          </a:ln>
        </p:spPr>
      </p:pic>
      <p:pic>
        <p:nvPicPr>
          <p:cNvPr id="58" name="Google Shape;58;p14"/>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59" name="Google Shape;59;p14"/>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White Background">
  <p:cSld name="Blank White_2">
    <p:bg>
      <p:bgPr>
        <a:solidFill>
          <a:schemeClr val="lt1"/>
        </a:solidFill>
      </p:bgPr>
    </p:bg>
    <p:spTree>
      <p:nvGrpSpPr>
        <p:cNvPr id="60" name="Shape 60"/>
        <p:cNvGrpSpPr/>
        <p:nvPr/>
      </p:nvGrpSpPr>
      <p:grpSpPr>
        <a:xfrm>
          <a:off x="0" y="0"/>
          <a:ext cx="0" cy="0"/>
          <a:chOff x="0" y="0"/>
          <a:chExt cx="0" cy="0"/>
        </a:xfrm>
      </p:grpSpPr>
      <p:sp>
        <p:nvSpPr>
          <p:cNvPr id="61" name="Google Shape;61;p15"/>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62" name="Google Shape;62;p15"/>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White Background 1">
  <p:cSld name="Blank White_2_1">
    <p:bg>
      <p:bgPr>
        <a:solidFill>
          <a:schemeClr val="lt1"/>
        </a:solidFill>
      </p:bgPr>
    </p:bg>
    <p:spTree>
      <p:nvGrpSpPr>
        <p:cNvPr id="63" name="Shape 63"/>
        <p:cNvGrpSpPr/>
        <p:nvPr/>
      </p:nvGrpSpPr>
      <p:grpSpPr>
        <a:xfrm>
          <a:off x="0" y="0"/>
          <a:ext cx="0" cy="0"/>
          <a:chOff x="0" y="0"/>
          <a:chExt cx="0" cy="0"/>
        </a:xfrm>
      </p:grpSpPr>
      <p:pic>
        <p:nvPicPr>
          <p:cNvPr id="64" name="Google Shape;64;p16"/>
          <p:cNvPicPr preferRelativeResize="0"/>
          <p:nvPr/>
        </p:nvPicPr>
        <p:blipFill rotWithShape="1">
          <a:blip r:embed="rId2">
            <a:alphaModFix/>
          </a:blip>
          <a:srcRect b="0" l="98882" r="0" t="0"/>
          <a:stretch/>
        </p:blipFill>
        <p:spPr>
          <a:xfrm>
            <a:off x="9041762" y="0"/>
            <a:ext cx="102240" cy="5143513"/>
          </a:xfrm>
          <a:prstGeom prst="rect">
            <a:avLst/>
          </a:prstGeom>
          <a:noFill/>
          <a:ln>
            <a:noFill/>
          </a:ln>
        </p:spPr>
      </p:pic>
      <p:sp>
        <p:nvSpPr>
          <p:cNvPr id="65" name="Google Shape;65;p16"/>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66" name="Google Shape;66;p16"/>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White Background 1 1">
  <p:cSld name="Blank White_2_1_1">
    <p:bg>
      <p:bgPr>
        <a:solidFill>
          <a:schemeClr val="lt1"/>
        </a:solidFill>
      </p:bgPr>
    </p:bg>
    <p:spTree>
      <p:nvGrpSpPr>
        <p:cNvPr id="67" name="Shape 67"/>
        <p:cNvGrpSpPr/>
        <p:nvPr/>
      </p:nvGrpSpPr>
      <p:grpSpPr>
        <a:xfrm>
          <a:off x="0" y="0"/>
          <a:ext cx="0" cy="0"/>
          <a:chOff x="0" y="0"/>
          <a:chExt cx="0" cy="0"/>
        </a:xfrm>
      </p:grpSpPr>
      <p:sp>
        <p:nvSpPr>
          <p:cNvPr id="68" name="Google Shape;68;p17"/>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69" name="Google Shape;69;p17"/>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pic>
        <p:nvPicPr>
          <p:cNvPr id="70" name="Google Shape;70;p17"/>
          <p:cNvPicPr preferRelativeResize="0"/>
          <p:nvPr/>
        </p:nvPicPr>
        <p:blipFill rotWithShape="1">
          <a:blip r:embed="rId3">
            <a:alphaModFix/>
          </a:blip>
          <a:srcRect b="0" l="98857" r="0" t="0"/>
          <a:stretch/>
        </p:blipFill>
        <p:spPr>
          <a:xfrm>
            <a:off x="9039503" y="0"/>
            <a:ext cx="104501" cy="514351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White Background 1 1 1">
  <p:cSld name="Blank White_2_1_1_1">
    <p:bg>
      <p:bgPr>
        <a:solidFill>
          <a:schemeClr val="lt1"/>
        </a:solidFill>
      </p:bgPr>
    </p:bg>
    <p:spTree>
      <p:nvGrpSpPr>
        <p:cNvPr id="71" name="Shape 71"/>
        <p:cNvGrpSpPr/>
        <p:nvPr/>
      </p:nvGrpSpPr>
      <p:grpSpPr>
        <a:xfrm>
          <a:off x="0" y="0"/>
          <a:ext cx="0" cy="0"/>
          <a:chOff x="0" y="0"/>
          <a:chExt cx="0" cy="0"/>
        </a:xfrm>
      </p:grpSpPr>
      <p:sp>
        <p:nvSpPr>
          <p:cNvPr id="72" name="Google Shape;72;p18"/>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73" name="Google Shape;73;p18"/>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pic>
        <p:nvPicPr>
          <p:cNvPr id="74" name="Google Shape;74;p18"/>
          <p:cNvPicPr preferRelativeResize="0"/>
          <p:nvPr/>
        </p:nvPicPr>
        <p:blipFill rotWithShape="1">
          <a:blip r:embed="rId3">
            <a:alphaModFix/>
          </a:blip>
          <a:srcRect b="0" l="98862" r="0" t="0"/>
          <a:stretch/>
        </p:blipFill>
        <p:spPr>
          <a:xfrm>
            <a:off x="9039947" y="0"/>
            <a:ext cx="104040" cy="51435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White Background 1 1 2">
  <p:cSld name="Blank White_2_1_1_2">
    <p:bg>
      <p:bgPr>
        <a:solidFill>
          <a:schemeClr val="lt1"/>
        </a:solidFill>
      </p:bgPr>
    </p:bg>
    <p:spTree>
      <p:nvGrpSpPr>
        <p:cNvPr id="75" name="Shape 75"/>
        <p:cNvGrpSpPr/>
        <p:nvPr/>
      </p:nvGrpSpPr>
      <p:grpSpPr>
        <a:xfrm>
          <a:off x="0" y="0"/>
          <a:ext cx="0" cy="0"/>
          <a:chOff x="0" y="0"/>
          <a:chExt cx="0" cy="0"/>
        </a:xfrm>
      </p:grpSpPr>
      <p:sp>
        <p:nvSpPr>
          <p:cNvPr id="76" name="Google Shape;76;p19"/>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77" name="Google Shape;77;p19"/>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pic>
        <p:nvPicPr>
          <p:cNvPr id="78" name="Google Shape;78;p19"/>
          <p:cNvPicPr preferRelativeResize="0"/>
          <p:nvPr/>
        </p:nvPicPr>
        <p:blipFill rotWithShape="1">
          <a:blip r:embed="rId3">
            <a:alphaModFix/>
          </a:blip>
          <a:srcRect b="0" l="98833" r="0" t="0"/>
          <a:stretch/>
        </p:blipFill>
        <p:spPr>
          <a:xfrm>
            <a:off x="9037235" y="0"/>
            <a:ext cx="106752" cy="51435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 White Background 1 1 3">
  <p:cSld name="Blank White_2_1_1_3">
    <p:bg>
      <p:bgPr>
        <a:solidFill>
          <a:schemeClr val="lt1"/>
        </a:solidFill>
      </p:bgPr>
    </p:bg>
    <p:spTree>
      <p:nvGrpSpPr>
        <p:cNvPr id="79" name="Shape 79"/>
        <p:cNvGrpSpPr/>
        <p:nvPr/>
      </p:nvGrpSpPr>
      <p:grpSpPr>
        <a:xfrm>
          <a:off x="0" y="0"/>
          <a:ext cx="0" cy="0"/>
          <a:chOff x="0" y="0"/>
          <a:chExt cx="0" cy="0"/>
        </a:xfrm>
      </p:grpSpPr>
      <p:sp>
        <p:nvSpPr>
          <p:cNvPr id="80" name="Google Shape;80;p20"/>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81" name="Google Shape;81;p20"/>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pic>
        <p:nvPicPr>
          <p:cNvPr id="82" name="Google Shape;82;p20"/>
          <p:cNvPicPr preferRelativeResize="0"/>
          <p:nvPr/>
        </p:nvPicPr>
        <p:blipFill rotWithShape="1">
          <a:blip r:embed="rId3">
            <a:alphaModFix/>
          </a:blip>
          <a:srcRect b="0" l="98834" r="0" t="0"/>
          <a:stretch/>
        </p:blipFill>
        <p:spPr>
          <a:xfrm>
            <a:off x="9037403" y="0"/>
            <a:ext cx="106603" cy="514351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_Blank Background">
  <p:cSld name="Blank White_1">
    <p:bg>
      <p:bgPr>
        <a:solidFill>
          <a:schemeClr val="lt1"/>
        </a:solidFill>
      </p:bgPr>
    </p:bg>
    <p:spTree>
      <p:nvGrpSpPr>
        <p:cNvPr id="83" name="Shape 83"/>
        <p:cNvGrpSpPr/>
        <p:nvPr/>
      </p:nvGrpSpPr>
      <p:grpSpPr>
        <a:xfrm>
          <a:off x="0" y="0"/>
          <a:ext cx="0" cy="0"/>
          <a:chOff x="0" y="0"/>
          <a:chExt cx="0" cy="0"/>
        </a:xfrm>
      </p:grpSpPr>
      <p:pic>
        <p:nvPicPr>
          <p:cNvPr id="84" name="Google Shape;84;p21"/>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itle &amp; 2 Columns">
  <p:cSld name="Title, subtitle, paragraph - Purple_1_1_1_1_1">
    <p:spTree>
      <p:nvGrpSpPr>
        <p:cNvPr id="85" name="Shape 85"/>
        <p:cNvGrpSpPr/>
        <p:nvPr/>
      </p:nvGrpSpPr>
      <p:grpSpPr>
        <a:xfrm>
          <a:off x="0" y="0"/>
          <a:ext cx="0" cy="0"/>
          <a:chOff x="0" y="0"/>
          <a:chExt cx="0" cy="0"/>
        </a:xfrm>
      </p:grpSpPr>
      <p:sp>
        <p:nvSpPr>
          <p:cNvPr id="86" name="Google Shape;86;p22"/>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87" name="Google Shape;87;p22"/>
          <p:cNvPicPr preferRelativeResize="0"/>
          <p:nvPr/>
        </p:nvPicPr>
        <p:blipFill>
          <a:blip r:embed="rId2">
            <a:alphaModFix/>
          </a:blip>
          <a:stretch>
            <a:fillRect/>
          </a:stretch>
        </p:blipFill>
        <p:spPr>
          <a:xfrm>
            <a:off x="296923" y="4650790"/>
            <a:ext cx="834198" cy="256032"/>
          </a:xfrm>
          <a:prstGeom prst="rect">
            <a:avLst/>
          </a:prstGeom>
          <a:noFill/>
          <a:ln>
            <a:noFill/>
          </a:ln>
        </p:spPr>
      </p:pic>
      <p:sp>
        <p:nvSpPr>
          <p:cNvPr id="88" name="Google Shape;88;p22"/>
          <p:cNvSpPr txBox="1"/>
          <p:nvPr>
            <p:ph type="title"/>
          </p:nvPr>
        </p:nvSpPr>
        <p:spPr>
          <a:xfrm>
            <a:off x="457200" y="464750"/>
            <a:ext cx="8229600" cy="4497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 name="Google Shape;89;p22"/>
          <p:cNvSpPr txBox="1"/>
          <p:nvPr>
            <p:ph idx="1" type="body"/>
          </p:nvPr>
        </p:nvSpPr>
        <p:spPr>
          <a:xfrm>
            <a:off x="395535" y="1371600"/>
            <a:ext cx="3657600" cy="3200400"/>
          </a:xfrm>
          <a:prstGeom prst="rect">
            <a:avLst/>
          </a:prstGeom>
          <a:noFill/>
          <a:ln>
            <a:noFill/>
          </a:ln>
        </p:spPr>
        <p:txBody>
          <a:bodyPr anchorCtr="0" anchor="t" bIns="0" lIns="0" spcFirstLastPara="1" rIns="0" wrap="square" tIns="0">
            <a:noAutofit/>
          </a:bodyPr>
          <a:lstStyle>
            <a:lvl1pPr indent="-323850" lvl="0" marL="457200" marR="0" rtl="0" algn="l">
              <a:lnSpc>
                <a:spcPct val="100000"/>
              </a:lnSpc>
              <a:spcBef>
                <a:spcPts val="0"/>
              </a:spcBef>
              <a:spcAft>
                <a:spcPts val="0"/>
              </a:spcAft>
              <a:buClr>
                <a:schemeClr val="dk1"/>
              </a:buClr>
              <a:buSzPts val="1500"/>
              <a:buFont typeface="Helvetica Neue Light"/>
              <a:buChar char="▪"/>
              <a:defRPr sz="1500">
                <a:latin typeface="Helvetica Neue Light"/>
                <a:ea typeface="Helvetica Neue Light"/>
                <a:cs typeface="Helvetica Neue Light"/>
                <a:sym typeface="Helvetica Neue Light"/>
              </a:defRPr>
            </a:lvl1pPr>
            <a:lvl2pPr indent="-228600" lvl="1" marL="9144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2pPr>
            <a:lvl3pPr indent="-228600" lvl="2" marL="13716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3pPr>
            <a:lvl4pPr indent="-228600" lvl="3" marL="18288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4pPr>
            <a:lvl5pPr indent="-228600" lvl="4" marL="22860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5pPr>
            <a:lvl6pPr indent="-228600" lvl="5" marL="27432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6pPr>
            <a:lvl7pPr indent="-228600" lvl="6" marL="32004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7pPr>
            <a:lvl8pPr indent="-228600" lvl="7" marL="36576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8pPr>
            <a:lvl9pPr indent="-228600" lvl="8" marL="4114800" rtl="0" algn="l">
              <a:lnSpc>
                <a:spcPct val="100000"/>
              </a:lnSpc>
              <a:spcBef>
                <a:spcPts val="1000"/>
              </a:spcBef>
              <a:spcAft>
                <a:spcPts val="1000"/>
              </a:spcAft>
              <a:buClr>
                <a:srgbClr val="5051DB"/>
              </a:buClr>
              <a:buSzPts val="1500"/>
              <a:buFont typeface="Helvetica Neue Light"/>
              <a:buNone/>
              <a:defRPr sz="1500">
                <a:latin typeface="Helvetica Neue Light"/>
                <a:ea typeface="Helvetica Neue Light"/>
                <a:cs typeface="Helvetica Neue Light"/>
                <a:sym typeface="Helvetica Neue Light"/>
              </a:defRPr>
            </a:lvl9pPr>
          </a:lstStyle>
          <a:p/>
        </p:txBody>
      </p:sp>
      <p:sp>
        <p:nvSpPr>
          <p:cNvPr id="90" name="Google Shape;90;p22"/>
          <p:cNvSpPr txBox="1"/>
          <p:nvPr>
            <p:ph idx="2" type="body"/>
          </p:nvPr>
        </p:nvSpPr>
        <p:spPr>
          <a:xfrm>
            <a:off x="4572000" y="1371600"/>
            <a:ext cx="3657600" cy="3200400"/>
          </a:xfrm>
          <a:prstGeom prst="rect">
            <a:avLst/>
          </a:prstGeom>
          <a:noFill/>
          <a:ln>
            <a:noFill/>
          </a:ln>
        </p:spPr>
        <p:txBody>
          <a:bodyPr anchorCtr="0" anchor="t" bIns="0" lIns="0" spcFirstLastPara="1" rIns="0" wrap="square" tIns="0">
            <a:noAutofit/>
          </a:bodyPr>
          <a:lstStyle>
            <a:lvl1pPr indent="-323850" lvl="0" marL="457200" marR="0" rtl="0" algn="l">
              <a:lnSpc>
                <a:spcPct val="100000"/>
              </a:lnSpc>
              <a:spcBef>
                <a:spcPts val="0"/>
              </a:spcBef>
              <a:spcAft>
                <a:spcPts val="0"/>
              </a:spcAft>
              <a:buClr>
                <a:schemeClr val="dk1"/>
              </a:buClr>
              <a:buSzPts val="1500"/>
              <a:buFont typeface="Helvetica Neue Light"/>
              <a:buChar char="▪"/>
              <a:defRPr sz="1500">
                <a:latin typeface="Helvetica Neue Light"/>
                <a:ea typeface="Helvetica Neue Light"/>
                <a:cs typeface="Helvetica Neue Light"/>
                <a:sym typeface="Helvetica Neue Light"/>
              </a:defRPr>
            </a:lvl1pPr>
            <a:lvl2pPr indent="-228600" lvl="1" marL="9144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2pPr>
            <a:lvl3pPr indent="-228600" lvl="2" marL="13716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3pPr>
            <a:lvl4pPr indent="-228600" lvl="3" marL="18288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4pPr>
            <a:lvl5pPr indent="-228600" lvl="4" marL="22860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5pPr>
            <a:lvl6pPr indent="-228600" lvl="5" marL="27432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6pPr>
            <a:lvl7pPr indent="-228600" lvl="6" marL="32004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7pPr>
            <a:lvl8pPr indent="-228600" lvl="7" marL="36576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8pPr>
            <a:lvl9pPr indent="-228600" lvl="8" marL="4114800" rtl="0" algn="l">
              <a:lnSpc>
                <a:spcPct val="100000"/>
              </a:lnSpc>
              <a:spcBef>
                <a:spcPts val="1000"/>
              </a:spcBef>
              <a:spcAft>
                <a:spcPts val="1000"/>
              </a:spcAft>
              <a:buClr>
                <a:srgbClr val="5051DB"/>
              </a:buClr>
              <a:buSzPts val="1500"/>
              <a:buFont typeface="Helvetica Neue Light"/>
              <a:buNone/>
              <a:defRPr sz="1500">
                <a:latin typeface="Helvetica Neue Light"/>
                <a:ea typeface="Helvetica Neue Light"/>
                <a:cs typeface="Helvetica Neue Light"/>
                <a:sym typeface="Helvetica Neue Light"/>
              </a:defRPr>
            </a:lvl9pPr>
          </a:lstStyle>
          <a:p/>
        </p:txBody>
      </p:sp>
      <p:pic>
        <p:nvPicPr>
          <p:cNvPr id="91" name="Google Shape;91;p22"/>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extLst>
    <p:ext uri="{DCECCB84-F9BA-43D5-87BE-67443E8EF086}">
      <p15:sldGuideLst>
        <p15:guide id="1" pos="288">
          <p15:clr>
            <a:srgbClr val="FA7B17"/>
          </p15:clr>
        </p15:guide>
        <p15:guide id="2" pos="576">
          <p15:clr>
            <a:srgbClr val="FA7B17"/>
          </p15:clr>
        </p15:guide>
        <p15:guide id="3" pos="864">
          <p15:clr>
            <a:srgbClr val="FA7B17"/>
          </p15:clr>
        </p15:guide>
        <p15:guide id="4" pos="1152">
          <p15:clr>
            <a:srgbClr val="FA7B17"/>
          </p15:clr>
        </p15:guide>
        <p15:guide id="5" pos="1440">
          <p15:clr>
            <a:srgbClr val="FA7B17"/>
          </p15:clr>
        </p15:guide>
        <p15:guide id="6" pos="1728">
          <p15:clr>
            <a:srgbClr val="FA7B17"/>
          </p15:clr>
        </p15:guide>
        <p15:guide id="7" pos="2016">
          <p15:clr>
            <a:srgbClr val="FA7B17"/>
          </p15:clr>
        </p15:guide>
        <p15:guide id="8" pos="2304">
          <p15:clr>
            <a:srgbClr val="FA7B17"/>
          </p15:clr>
        </p15:guide>
        <p15:guide id="9" pos="2592">
          <p15:clr>
            <a:srgbClr val="FA7B17"/>
          </p15:clr>
        </p15:guide>
        <p15:guide id="10" pos="2880">
          <p15:clr>
            <a:srgbClr val="FA7B17"/>
          </p15:clr>
        </p15:guide>
        <p15:guide id="11" pos="3168">
          <p15:clr>
            <a:srgbClr val="FA7B17"/>
          </p15:clr>
        </p15:guide>
        <p15:guide id="12" pos="3456">
          <p15:clr>
            <a:srgbClr val="FA7B17"/>
          </p15:clr>
        </p15:guide>
        <p15:guide id="13" pos="3744">
          <p15:clr>
            <a:srgbClr val="FA7B17"/>
          </p15:clr>
        </p15:guide>
        <p15:guide id="14" pos="4032">
          <p15:clr>
            <a:srgbClr val="FA7B17"/>
          </p15:clr>
        </p15:guide>
        <p15:guide id="15" pos="4320">
          <p15:clr>
            <a:srgbClr val="FA7B17"/>
          </p15:clr>
        </p15:guide>
        <p15:guide id="16" pos="4608">
          <p15:clr>
            <a:srgbClr val="FA7B17"/>
          </p15:clr>
        </p15:guide>
        <p15:guide id="17" pos="4896">
          <p15:clr>
            <a:srgbClr val="FA7B17"/>
          </p15:clr>
        </p15:guide>
        <p15:guide id="18" pos="5184">
          <p15:clr>
            <a:srgbClr val="FA7B17"/>
          </p15:clr>
        </p15:guide>
        <p15:guide id="19" pos="5472">
          <p15:clr>
            <a:srgbClr val="FA7B17"/>
          </p15:clr>
        </p15:guide>
        <p15:guide id="20" orient="horz" pos="288">
          <p15:clr>
            <a:srgbClr val="FA7B17"/>
          </p15:clr>
        </p15:guide>
        <p15:guide id="21" orient="horz" pos="576">
          <p15:clr>
            <a:srgbClr val="FA7B17"/>
          </p15:clr>
        </p15:guide>
        <p15:guide id="22" orient="horz" pos="864">
          <p15:clr>
            <a:srgbClr val="FA7B17"/>
          </p15:clr>
        </p15:guide>
        <p15:guide id="23" orient="horz" pos="1152">
          <p15:clr>
            <a:srgbClr val="FA7B17"/>
          </p15:clr>
        </p15:guide>
        <p15:guide id="24" orient="horz" pos="1440">
          <p15:clr>
            <a:srgbClr val="FA7B17"/>
          </p15:clr>
        </p15:guide>
        <p15:guide id="25" orient="horz" pos="1728">
          <p15:clr>
            <a:srgbClr val="FA7B17"/>
          </p15:clr>
        </p15:guide>
        <p15:guide id="26" orient="horz" pos="2016">
          <p15:clr>
            <a:srgbClr val="FA7B17"/>
          </p15:clr>
        </p15:guide>
        <p15:guide id="27" orient="horz" pos="2304">
          <p15:clr>
            <a:srgbClr val="FA7B17"/>
          </p15:clr>
        </p15:guide>
        <p15:guide id="28" orient="horz" pos="2592">
          <p15:clr>
            <a:srgbClr val="FA7B17"/>
          </p15:clr>
        </p15:guide>
        <p15:guide id="29" orient="horz" pos="2880">
          <p15:clr>
            <a:srgbClr val="FA7B17"/>
          </p15:clr>
        </p15:guide>
        <p15:guide id="30" orient="horz" pos="3168">
          <p15:clr>
            <a:srgbClr val="FA7B17"/>
          </p15:clr>
        </p15:guide>
        <p15:guide id="31" pos="360">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itle &amp; 1 Column">
  <p:cSld name="Title, subtitle, paragraph - Purple_1_1_1_1_1_1">
    <p:spTree>
      <p:nvGrpSpPr>
        <p:cNvPr id="92" name="Shape 92"/>
        <p:cNvGrpSpPr/>
        <p:nvPr/>
      </p:nvGrpSpPr>
      <p:grpSpPr>
        <a:xfrm>
          <a:off x="0" y="0"/>
          <a:ext cx="0" cy="0"/>
          <a:chOff x="0" y="0"/>
          <a:chExt cx="0" cy="0"/>
        </a:xfrm>
      </p:grpSpPr>
      <p:sp>
        <p:nvSpPr>
          <p:cNvPr id="93" name="Google Shape;93;p23"/>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94" name="Google Shape;94;p23"/>
          <p:cNvPicPr preferRelativeResize="0"/>
          <p:nvPr/>
        </p:nvPicPr>
        <p:blipFill>
          <a:blip r:embed="rId2">
            <a:alphaModFix/>
          </a:blip>
          <a:stretch>
            <a:fillRect/>
          </a:stretch>
        </p:blipFill>
        <p:spPr>
          <a:xfrm>
            <a:off x="296923" y="4650790"/>
            <a:ext cx="834198" cy="256032"/>
          </a:xfrm>
          <a:prstGeom prst="rect">
            <a:avLst/>
          </a:prstGeom>
          <a:noFill/>
          <a:ln>
            <a:noFill/>
          </a:ln>
        </p:spPr>
      </p:pic>
      <p:sp>
        <p:nvSpPr>
          <p:cNvPr id="95" name="Google Shape;95;p23"/>
          <p:cNvSpPr txBox="1"/>
          <p:nvPr>
            <p:ph type="title"/>
          </p:nvPr>
        </p:nvSpPr>
        <p:spPr>
          <a:xfrm>
            <a:off x="457200" y="464750"/>
            <a:ext cx="8229600" cy="4497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 name="Google Shape;96;p23"/>
          <p:cNvSpPr txBox="1"/>
          <p:nvPr>
            <p:ph idx="1" type="body"/>
          </p:nvPr>
        </p:nvSpPr>
        <p:spPr>
          <a:xfrm>
            <a:off x="457200" y="1371600"/>
            <a:ext cx="8229600" cy="3200400"/>
          </a:xfrm>
          <a:prstGeom prst="rect">
            <a:avLst/>
          </a:prstGeom>
          <a:noFill/>
          <a:ln>
            <a:noFill/>
          </a:ln>
        </p:spPr>
        <p:txBody>
          <a:bodyPr anchorCtr="0" anchor="t" bIns="0" lIns="0" spcFirstLastPara="1" rIns="0" wrap="square" tIns="0">
            <a:noAutofit/>
          </a:bodyPr>
          <a:lstStyle>
            <a:lvl1pPr indent="-323850" lvl="0" marL="457200" marR="0" rtl="0" algn="l">
              <a:lnSpc>
                <a:spcPct val="100000"/>
              </a:lnSpc>
              <a:spcBef>
                <a:spcPts val="0"/>
              </a:spcBef>
              <a:spcAft>
                <a:spcPts val="0"/>
              </a:spcAft>
              <a:buClr>
                <a:schemeClr val="dk1"/>
              </a:buClr>
              <a:buSzPts val="1500"/>
              <a:buFont typeface="Helvetica Neue Light"/>
              <a:buChar char="▪"/>
              <a:defRPr sz="1500">
                <a:latin typeface="Helvetica Neue Light"/>
                <a:ea typeface="Helvetica Neue Light"/>
                <a:cs typeface="Helvetica Neue Light"/>
                <a:sym typeface="Helvetica Neue Light"/>
              </a:defRPr>
            </a:lvl1pPr>
            <a:lvl2pPr indent="-228600" lvl="1" marL="9144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2pPr>
            <a:lvl3pPr indent="-228600" lvl="2" marL="13716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3pPr>
            <a:lvl4pPr indent="-228600" lvl="3" marL="18288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4pPr>
            <a:lvl5pPr indent="-228600" lvl="4" marL="22860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5pPr>
            <a:lvl6pPr indent="-228600" lvl="5" marL="27432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6pPr>
            <a:lvl7pPr indent="-228600" lvl="6" marL="32004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7pPr>
            <a:lvl8pPr indent="-228600" lvl="7" marL="3657600" rtl="0" algn="l">
              <a:lnSpc>
                <a:spcPct val="100000"/>
              </a:lnSpc>
              <a:spcBef>
                <a:spcPts val="1000"/>
              </a:spcBef>
              <a:spcAft>
                <a:spcPts val="0"/>
              </a:spcAft>
              <a:buClr>
                <a:srgbClr val="5051DB"/>
              </a:buClr>
              <a:buSzPts val="1500"/>
              <a:buFont typeface="Helvetica Neue Light"/>
              <a:buNone/>
              <a:defRPr sz="1500">
                <a:latin typeface="Helvetica Neue Light"/>
                <a:ea typeface="Helvetica Neue Light"/>
                <a:cs typeface="Helvetica Neue Light"/>
                <a:sym typeface="Helvetica Neue Light"/>
              </a:defRPr>
            </a:lvl8pPr>
            <a:lvl9pPr indent="-228600" lvl="8" marL="4114800" rtl="0" algn="l">
              <a:lnSpc>
                <a:spcPct val="100000"/>
              </a:lnSpc>
              <a:spcBef>
                <a:spcPts val="1000"/>
              </a:spcBef>
              <a:spcAft>
                <a:spcPts val="1000"/>
              </a:spcAft>
              <a:buClr>
                <a:srgbClr val="5051DB"/>
              </a:buClr>
              <a:buSzPts val="1500"/>
              <a:buFont typeface="Helvetica Neue Light"/>
              <a:buNone/>
              <a:defRPr sz="1500">
                <a:latin typeface="Helvetica Neue Light"/>
                <a:ea typeface="Helvetica Neue Light"/>
                <a:cs typeface="Helvetica Neue Light"/>
                <a:sym typeface="Helvetica Neue Light"/>
              </a:defRPr>
            </a:lvl9pPr>
          </a:lstStyle>
          <a:p/>
        </p:txBody>
      </p:sp>
      <p:pic>
        <p:nvPicPr>
          <p:cNvPr id="97" name="Google Shape;97;p23"/>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extLst>
    <p:ext uri="{DCECCB84-F9BA-43D5-87BE-67443E8EF086}">
      <p15:sldGuideLst>
        <p15:guide id="1" pos="288">
          <p15:clr>
            <a:srgbClr val="FA7B17"/>
          </p15:clr>
        </p15:guide>
        <p15:guide id="2" pos="576">
          <p15:clr>
            <a:srgbClr val="FA7B17"/>
          </p15:clr>
        </p15:guide>
        <p15:guide id="3" pos="864">
          <p15:clr>
            <a:srgbClr val="FA7B17"/>
          </p15:clr>
        </p15:guide>
        <p15:guide id="4" pos="1152">
          <p15:clr>
            <a:srgbClr val="FA7B17"/>
          </p15:clr>
        </p15:guide>
        <p15:guide id="5" pos="1440">
          <p15:clr>
            <a:srgbClr val="FA7B17"/>
          </p15:clr>
        </p15:guide>
        <p15:guide id="6" pos="1728">
          <p15:clr>
            <a:srgbClr val="FA7B17"/>
          </p15:clr>
        </p15:guide>
        <p15:guide id="7" pos="2016">
          <p15:clr>
            <a:srgbClr val="FA7B17"/>
          </p15:clr>
        </p15:guide>
        <p15:guide id="8" pos="2304">
          <p15:clr>
            <a:srgbClr val="FA7B17"/>
          </p15:clr>
        </p15:guide>
        <p15:guide id="9" pos="2592">
          <p15:clr>
            <a:srgbClr val="FA7B17"/>
          </p15:clr>
        </p15:guide>
        <p15:guide id="10" pos="2880">
          <p15:clr>
            <a:srgbClr val="FA7B17"/>
          </p15:clr>
        </p15:guide>
        <p15:guide id="11" pos="3168">
          <p15:clr>
            <a:srgbClr val="FA7B17"/>
          </p15:clr>
        </p15:guide>
        <p15:guide id="12" pos="3456">
          <p15:clr>
            <a:srgbClr val="FA7B17"/>
          </p15:clr>
        </p15:guide>
        <p15:guide id="13" pos="3744">
          <p15:clr>
            <a:srgbClr val="FA7B17"/>
          </p15:clr>
        </p15:guide>
        <p15:guide id="14" pos="4032">
          <p15:clr>
            <a:srgbClr val="FA7B17"/>
          </p15:clr>
        </p15:guide>
        <p15:guide id="15" pos="4320">
          <p15:clr>
            <a:srgbClr val="FA7B17"/>
          </p15:clr>
        </p15:guide>
        <p15:guide id="16" pos="4608">
          <p15:clr>
            <a:srgbClr val="FA7B17"/>
          </p15:clr>
        </p15:guide>
        <p15:guide id="17" pos="4896">
          <p15:clr>
            <a:srgbClr val="FA7B17"/>
          </p15:clr>
        </p15:guide>
        <p15:guide id="18" pos="5184">
          <p15:clr>
            <a:srgbClr val="FA7B17"/>
          </p15:clr>
        </p15:guide>
        <p15:guide id="19" pos="5472">
          <p15:clr>
            <a:srgbClr val="FA7B17"/>
          </p15:clr>
        </p15:guide>
        <p15:guide id="20" orient="horz" pos="288">
          <p15:clr>
            <a:srgbClr val="FA7B17"/>
          </p15:clr>
        </p15:guide>
        <p15:guide id="21" orient="horz" pos="576">
          <p15:clr>
            <a:srgbClr val="FA7B17"/>
          </p15:clr>
        </p15:guide>
        <p15:guide id="22" orient="horz" pos="864">
          <p15:clr>
            <a:srgbClr val="FA7B17"/>
          </p15:clr>
        </p15:guide>
        <p15:guide id="23" orient="horz" pos="1152">
          <p15:clr>
            <a:srgbClr val="FA7B17"/>
          </p15:clr>
        </p15:guide>
        <p15:guide id="24" orient="horz" pos="1440">
          <p15:clr>
            <a:srgbClr val="FA7B17"/>
          </p15:clr>
        </p15:guide>
        <p15:guide id="25" orient="horz" pos="1728">
          <p15:clr>
            <a:srgbClr val="FA7B17"/>
          </p15:clr>
        </p15:guide>
        <p15:guide id="26" orient="horz" pos="2016">
          <p15:clr>
            <a:srgbClr val="FA7B17"/>
          </p15:clr>
        </p15:guide>
        <p15:guide id="27" orient="horz" pos="2304">
          <p15:clr>
            <a:srgbClr val="FA7B17"/>
          </p15:clr>
        </p15:guide>
        <p15:guide id="28" orient="horz" pos="2592">
          <p15:clr>
            <a:srgbClr val="FA7B17"/>
          </p15:clr>
        </p15:guide>
        <p15:guide id="29" orient="horz" pos="2880">
          <p15:clr>
            <a:srgbClr val="FA7B17"/>
          </p15:clr>
        </p15:guide>
        <p15:guide id="30" orient="horz" pos="3168">
          <p15:clr>
            <a:srgbClr val="FA7B17"/>
          </p15:clr>
        </p15:guide>
        <p15:guide id="31" pos="360">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tats - 1">
  <p:cSld name="Title, subtitle, paragraph - Purple_1_1_1_1_1_1_1">
    <p:spTree>
      <p:nvGrpSpPr>
        <p:cNvPr id="98" name="Shape 98"/>
        <p:cNvGrpSpPr/>
        <p:nvPr/>
      </p:nvGrpSpPr>
      <p:grpSpPr>
        <a:xfrm>
          <a:off x="0" y="0"/>
          <a:ext cx="0" cy="0"/>
          <a:chOff x="0" y="0"/>
          <a:chExt cx="0" cy="0"/>
        </a:xfrm>
      </p:grpSpPr>
      <p:sp>
        <p:nvSpPr>
          <p:cNvPr id="99" name="Google Shape;99;p24"/>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100" name="Google Shape;100;p24"/>
          <p:cNvPicPr preferRelativeResize="0"/>
          <p:nvPr/>
        </p:nvPicPr>
        <p:blipFill>
          <a:blip r:embed="rId2">
            <a:alphaModFix/>
          </a:blip>
          <a:stretch>
            <a:fillRect/>
          </a:stretch>
        </p:blipFill>
        <p:spPr>
          <a:xfrm>
            <a:off x="296923" y="4650790"/>
            <a:ext cx="834198" cy="256032"/>
          </a:xfrm>
          <a:prstGeom prst="rect">
            <a:avLst/>
          </a:prstGeom>
          <a:noFill/>
          <a:ln>
            <a:noFill/>
          </a:ln>
        </p:spPr>
      </p:pic>
      <p:sp>
        <p:nvSpPr>
          <p:cNvPr id="101" name="Google Shape;101;p24"/>
          <p:cNvSpPr txBox="1"/>
          <p:nvPr>
            <p:ph type="title"/>
          </p:nvPr>
        </p:nvSpPr>
        <p:spPr>
          <a:xfrm>
            <a:off x="538397" y="1046788"/>
            <a:ext cx="7326000" cy="18288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6000"/>
              <a:buFont typeface="Helvetica Neue Light"/>
              <a:buNone/>
              <a:defRPr b="0" sz="6000">
                <a:solidFill>
                  <a:schemeClr val="dk1"/>
                </a:solidFill>
                <a:latin typeface="Helvetica Neue Light"/>
                <a:ea typeface="Helvetica Neue Light"/>
                <a:cs typeface="Helvetica Neue Light"/>
                <a:sym typeface="Helvetica Neue Light"/>
              </a:defRPr>
            </a:lvl1pPr>
            <a:lvl2pPr lvl="1"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2pPr>
            <a:lvl3pPr lvl="2"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3pPr>
            <a:lvl4pPr lvl="3"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4pPr>
            <a:lvl5pPr lvl="4"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5pPr>
            <a:lvl6pPr lvl="5"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6pPr>
            <a:lvl7pPr lvl="6"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7pPr>
            <a:lvl8pPr lvl="7"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8pPr>
            <a:lvl9pPr lvl="8" rtl="0">
              <a:spcBef>
                <a:spcPts val="0"/>
              </a:spcBef>
              <a:spcAft>
                <a:spcPts val="0"/>
              </a:spcAft>
              <a:buSzPts val="8000"/>
              <a:buFont typeface="Helvetica Neue Light"/>
              <a:buNone/>
              <a:defRPr sz="8000">
                <a:latin typeface="Helvetica Neue Light"/>
                <a:ea typeface="Helvetica Neue Light"/>
                <a:cs typeface="Helvetica Neue Light"/>
                <a:sym typeface="Helvetica Neue Light"/>
              </a:defRPr>
            </a:lvl9pPr>
          </a:lstStyle>
          <a:p/>
        </p:txBody>
      </p:sp>
      <p:sp>
        <p:nvSpPr>
          <p:cNvPr id="102" name="Google Shape;102;p24"/>
          <p:cNvSpPr txBox="1"/>
          <p:nvPr>
            <p:ph idx="1" type="subTitle"/>
          </p:nvPr>
        </p:nvSpPr>
        <p:spPr>
          <a:xfrm>
            <a:off x="564876" y="3104188"/>
            <a:ext cx="6302100" cy="1181100"/>
          </a:xfrm>
          <a:prstGeom prst="rect">
            <a:avLst/>
          </a:prstGeom>
        </p:spPr>
        <p:txBody>
          <a:bodyPr anchorCtr="0" anchor="t" bIns="0" lIns="0" spcFirstLastPara="1" rIns="0" wrap="square" tIns="0">
            <a:noAutofit/>
          </a:bodyPr>
          <a:lstStyle>
            <a:lvl1pPr lvl="0" rtl="0">
              <a:spcBef>
                <a:spcPts val="0"/>
              </a:spcBef>
              <a:spcAft>
                <a:spcPts val="0"/>
              </a:spcAft>
              <a:buSzPts val="2000"/>
              <a:buNone/>
              <a:defRPr sz="2000"/>
            </a:lvl1pPr>
            <a:lvl2pPr lvl="1"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2pPr>
            <a:lvl3pPr lvl="2"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3pPr>
            <a:lvl4pPr lvl="3"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4pPr>
            <a:lvl5pPr lvl="4"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5pPr>
            <a:lvl6pPr lvl="5"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6pPr>
            <a:lvl7pPr lvl="6"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7pPr>
            <a:lvl8pPr lvl="7"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8pPr>
            <a:lvl9pPr lvl="8" rtl="0">
              <a:spcBef>
                <a:spcPts val="1600"/>
              </a:spcBef>
              <a:spcAft>
                <a:spcPts val="1600"/>
              </a:spcAft>
              <a:buSzPts val="1400"/>
              <a:buFont typeface="Helvetica Neue Light"/>
              <a:buNone/>
              <a:defRPr>
                <a:latin typeface="Helvetica Neue Light"/>
                <a:ea typeface="Helvetica Neue Light"/>
                <a:cs typeface="Helvetica Neue Light"/>
                <a:sym typeface="Helvetica Neue Light"/>
              </a:defRPr>
            </a:lvl9pPr>
          </a:lstStyle>
          <a:p/>
        </p:txBody>
      </p:sp>
      <p:pic>
        <p:nvPicPr>
          <p:cNvPr id="103" name="Google Shape;103;p24"/>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extLst>
    <p:ext uri="{DCECCB84-F9BA-43D5-87BE-67443E8EF086}">
      <p15:sldGuideLst>
        <p15:guide id="1" pos="288">
          <p15:clr>
            <a:srgbClr val="FA7B17"/>
          </p15:clr>
        </p15:guide>
        <p15:guide id="2" pos="576">
          <p15:clr>
            <a:srgbClr val="FA7B17"/>
          </p15:clr>
        </p15:guide>
        <p15:guide id="3" pos="864">
          <p15:clr>
            <a:srgbClr val="FA7B17"/>
          </p15:clr>
        </p15:guide>
        <p15:guide id="4" pos="1152">
          <p15:clr>
            <a:srgbClr val="FA7B17"/>
          </p15:clr>
        </p15:guide>
        <p15:guide id="5" pos="1440">
          <p15:clr>
            <a:srgbClr val="FA7B17"/>
          </p15:clr>
        </p15:guide>
        <p15:guide id="6" pos="1728">
          <p15:clr>
            <a:srgbClr val="FA7B17"/>
          </p15:clr>
        </p15:guide>
        <p15:guide id="7" pos="2016">
          <p15:clr>
            <a:srgbClr val="FA7B17"/>
          </p15:clr>
        </p15:guide>
        <p15:guide id="8" pos="2304">
          <p15:clr>
            <a:srgbClr val="FA7B17"/>
          </p15:clr>
        </p15:guide>
        <p15:guide id="9" pos="2592">
          <p15:clr>
            <a:srgbClr val="FA7B17"/>
          </p15:clr>
        </p15:guide>
        <p15:guide id="10" pos="2880">
          <p15:clr>
            <a:srgbClr val="FA7B17"/>
          </p15:clr>
        </p15:guide>
        <p15:guide id="11" pos="3168">
          <p15:clr>
            <a:srgbClr val="FA7B17"/>
          </p15:clr>
        </p15:guide>
        <p15:guide id="12" pos="3456">
          <p15:clr>
            <a:srgbClr val="FA7B17"/>
          </p15:clr>
        </p15:guide>
        <p15:guide id="13" pos="3744">
          <p15:clr>
            <a:srgbClr val="FA7B17"/>
          </p15:clr>
        </p15:guide>
        <p15:guide id="14" pos="4032">
          <p15:clr>
            <a:srgbClr val="FA7B17"/>
          </p15:clr>
        </p15:guide>
        <p15:guide id="15" pos="4320">
          <p15:clr>
            <a:srgbClr val="FA7B17"/>
          </p15:clr>
        </p15:guide>
        <p15:guide id="16" pos="4608">
          <p15:clr>
            <a:srgbClr val="FA7B17"/>
          </p15:clr>
        </p15:guide>
        <p15:guide id="17" pos="4896">
          <p15:clr>
            <a:srgbClr val="FA7B17"/>
          </p15:clr>
        </p15:guide>
        <p15:guide id="18" pos="5184">
          <p15:clr>
            <a:srgbClr val="FA7B17"/>
          </p15:clr>
        </p15:guide>
        <p15:guide id="19" pos="5472">
          <p15:clr>
            <a:srgbClr val="FA7B17"/>
          </p15:clr>
        </p15:guide>
        <p15:guide id="20" orient="horz" pos="288">
          <p15:clr>
            <a:srgbClr val="FA7B17"/>
          </p15:clr>
        </p15:guide>
        <p15:guide id="21" orient="horz" pos="576">
          <p15:clr>
            <a:srgbClr val="FA7B17"/>
          </p15:clr>
        </p15:guide>
        <p15:guide id="22" orient="horz" pos="864">
          <p15:clr>
            <a:srgbClr val="FA7B17"/>
          </p15:clr>
        </p15:guide>
        <p15:guide id="23" orient="horz" pos="1152">
          <p15:clr>
            <a:srgbClr val="FA7B17"/>
          </p15:clr>
        </p15:guide>
        <p15:guide id="24" orient="horz" pos="1440">
          <p15:clr>
            <a:srgbClr val="FA7B17"/>
          </p15:clr>
        </p15:guide>
        <p15:guide id="25" orient="horz" pos="1728">
          <p15:clr>
            <a:srgbClr val="FA7B17"/>
          </p15:clr>
        </p15:guide>
        <p15:guide id="26" orient="horz" pos="2016">
          <p15:clr>
            <a:srgbClr val="FA7B17"/>
          </p15:clr>
        </p15:guide>
        <p15:guide id="27" orient="horz" pos="2304">
          <p15:clr>
            <a:srgbClr val="FA7B17"/>
          </p15:clr>
        </p15:guide>
        <p15:guide id="28" orient="horz" pos="2592">
          <p15:clr>
            <a:srgbClr val="FA7B17"/>
          </p15:clr>
        </p15:guide>
        <p15:guide id="29" orient="horz" pos="2880">
          <p15:clr>
            <a:srgbClr val="FA7B17"/>
          </p15:clr>
        </p15:guide>
        <p15:guide id="30" orient="horz" pos="3168">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tats - 3">
  <p:cSld name="Title, subtitle, paragraph - Purple_1_1_1_1_1_1_1_1">
    <p:spTree>
      <p:nvGrpSpPr>
        <p:cNvPr id="104" name="Shape 104"/>
        <p:cNvGrpSpPr/>
        <p:nvPr/>
      </p:nvGrpSpPr>
      <p:grpSpPr>
        <a:xfrm>
          <a:off x="0" y="0"/>
          <a:ext cx="0" cy="0"/>
          <a:chOff x="0" y="0"/>
          <a:chExt cx="0" cy="0"/>
        </a:xfrm>
      </p:grpSpPr>
      <p:sp>
        <p:nvSpPr>
          <p:cNvPr id="105" name="Google Shape;105;p25"/>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106" name="Google Shape;106;p25"/>
          <p:cNvPicPr preferRelativeResize="0"/>
          <p:nvPr/>
        </p:nvPicPr>
        <p:blipFill>
          <a:blip r:embed="rId2">
            <a:alphaModFix/>
          </a:blip>
          <a:stretch>
            <a:fillRect/>
          </a:stretch>
        </p:blipFill>
        <p:spPr>
          <a:xfrm>
            <a:off x="296923" y="4650790"/>
            <a:ext cx="834198" cy="256032"/>
          </a:xfrm>
          <a:prstGeom prst="rect">
            <a:avLst/>
          </a:prstGeom>
          <a:noFill/>
          <a:ln>
            <a:noFill/>
          </a:ln>
        </p:spPr>
      </p:pic>
      <p:sp>
        <p:nvSpPr>
          <p:cNvPr id="107" name="Google Shape;107;p25"/>
          <p:cNvSpPr txBox="1"/>
          <p:nvPr>
            <p:ph type="title"/>
          </p:nvPr>
        </p:nvSpPr>
        <p:spPr>
          <a:xfrm>
            <a:off x="571720" y="1285487"/>
            <a:ext cx="2286000" cy="18288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4500"/>
              <a:buFont typeface="Helvetica Neue Light"/>
              <a:buNone/>
              <a:defRPr b="0" sz="4500">
                <a:solidFill>
                  <a:schemeClr val="dk1"/>
                </a:solidFill>
                <a:latin typeface="Helvetica Neue Light"/>
                <a:ea typeface="Helvetica Neue Light"/>
                <a:cs typeface="Helvetica Neue Light"/>
                <a:sym typeface="Helvetica Neue Light"/>
              </a:defRPr>
            </a:lvl1pPr>
            <a:lvl2pPr lvl="1"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2pPr>
            <a:lvl3pPr lvl="2"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3pPr>
            <a:lvl4pPr lvl="3"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4pPr>
            <a:lvl5pPr lvl="4"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5pPr>
            <a:lvl6pPr lvl="5"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6pPr>
            <a:lvl7pPr lvl="6"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7pPr>
            <a:lvl8pPr lvl="7"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8pPr>
            <a:lvl9pPr lvl="8"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9pPr>
          </a:lstStyle>
          <a:p/>
        </p:txBody>
      </p:sp>
      <p:sp>
        <p:nvSpPr>
          <p:cNvPr id="108" name="Google Shape;108;p25"/>
          <p:cNvSpPr txBox="1"/>
          <p:nvPr>
            <p:ph idx="1" type="subTitle"/>
          </p:nvPr>
        </p:nvSpPr>
        <p:spPr>
          <a:xfrm>
            <a:off x="571720" y="3350837"/>
            <a:ext cx="2286000" cy="1181100"/>
          </a:xfrm>
          <a:prstGeom prst="rect">
            <a:avLst/>
          </a:prstGeom>
        </p:spPr>
        <p:txBody>
          <a:bodyPr anchorCtr="0" anchor="t" bIns="0" lIns="0" spcFirstLastPara="1" rIns="0" wrap="square" tIns="0">
            <a:noAutofit/>
          </a:bodyPr>
          <a:lstStyle>
            <a:lvl1pPr lvl="0" rtl="0">
              <a:spcBef>
                <a:spcPts val="0"/>
              </a:spcBef>
              <a:spcAft>
                <a:spcPts val="0"/>
              </a:spcAft>
              <a:buSzPts val="1500"/>
              <a:buNone/>
              <a:defRPr sz="15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09" name="Google Shape;109;p25"/>
          <p:cNvSpPr txBox="1"/>
          <p:nvPr>
            <p:ph idx="2" type="title"/>
          </p:nvPr>
        </p:nvSpPr>
        <p:spPr>
          <a:xfrm>
            <a:off x="3288052" y="1285487"/>
            <a:ext cx="2286000" cy="18288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4500"/>
              <a:buFont typeface="Helvetica Neue Light"/>
              <a:buNone/>
              <a:defRPr b="0" sz="4500">
                <a:solidFill>
                  <a:schemeClr val="dk1"/>
                </a:solidFill>
                <a:latin typeface="Helvetica Neue Light"/>
                <a:ea typeface="Helvetica Neue Light"/>
                <a:cs typeface="Helvetica Neue Light"/>
                <a:sym typeface="Helvetica Neue Light"/>
              </a:defRPr>
            </a:lvl1pPr>
            <a:lvl2pPr lvl="1"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2pPr>
            <a:lvl3pPr lvl="2"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3pPr>
            <a:lvl4pPr lvl="3"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4pPr>
            <a:lvl5pPr lvl="4"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5pPr>
            <a:lvl6pPr lvl="5"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6pPr>
            <a:lvl7pPr lvl="6"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7pPr>
            <a:lvl8pPr lvl="7"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8pPr>
            <a:lvl9pPr lvl="8"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9pPr>
          </a:lstStyle>
          <a:p/>
        </p:txBody>
      </p:sp>
      <p:sp>
        <p:nvSpPr>
          <p:cNvPr id="110" name="Google Shape;110;p25"/>
          <p:cNvSpPr txBox="1"/>
          <p:nvPr>
            <p:ph idx="3" type="subTitle"/>
          </p:nvPr>
        </p:nvSpPr>
        <p:spPr>
          <a:xfrm>
            <a:off x="3288052" y="3350837"/>
            <a:ext cx="2286000" cy="1181100"/>
          </a:xfrm>
          <a:prstGeom prst="rect">
            <a:avLst/>
          </a:prstGeom>
        </p:spPr>
        <p:txBody>
          <a:bodyPr anchorCtr="0" anchor="t" bIns="0" lIns="0" spcFirstLastPara="1" rIns="0" wrap="square" tIns="0">
            <a:noAutofit/>
          </a:bodyPr>
          <a:lstStyle>
            <a:lvl1pPr lvl="0" rtl="0">
              <a:spcBef>
                <a:spcPts val="0"/>
              </a:spcBef>
              <a:spcAft>
                <a:spcPts val="0"/>
              </a:spcAft>
              <a:buSzPts val="1500"/>
              <a:buNone/>
              <a:defRPr sz="15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1" name="Google Shape;111;p25"/>
          <p:cNvSpPr txBox="1"/>
          <p:nvPr>
            <p:ph idx="4" type="title"/>
          </p:nvPr>
        </p:nvSpPr>
        <p:spPr>
          <a:xfrm>
            <a:off x="6013193" y="1285487"/>
            <a:ext cx="2286000" cy="18288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4500"/>
              <a:buFont typeface="Helvetica Neue Light"/>
              <a:buNone/>
              <a:defRPr b="0" sz="4500">
                <a:solidFill>
                  <a:schemeClr val="dk1"/>
                </a:solidFill>
                <a:latin typeface="Helvetica Neue Light"/>
                <a:ea typeface="Helvetica Neue Light"/>
                <a:cs typeface="Helvetica Neue Light"/>
                <a:sym typeface="Helvetica Neue Light"/>
              </a:defRPr>
            </a:lvl1pPr>
            <a:lvl2pPr lvl="1"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2pPr>
            <a:lvl3pPr lvl="2"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3pPr>
            <a:lvl4pPr lvl="3"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4pPr>
            <a:lvl5pPr lvl="4"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5pPr>
            <a:lvl6pPr lvl="5"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6pPr>
            <a:lvl7pPr lvl="6"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7pPr>
            <a:lvl8pPr lvl="7"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8pPr>
            <a:lvl9pPr lvl="8" rtl="0">
              <a:spcBef>
                <a:spcPts val="0"/>
              </a:spcBef>
              <a:spcAft>
                <a:spcPts val="0"/>
              </a:spcAft>
              <a:buSzPts val="4500"/>
              <a:buFont typeface="Helvetica Neue Light"/>
              <a:buNone/>
              <a:defRPr sz="4500">
                <a:latin typeface="Helvetica Neue Light"/>
                <a:ea typeface="Helvetica Neue Light"/>
                <a:cs typeface="Helvetica Neue Light"/>
                <a:sym typeface="Helvetica Neue Light"/>
              </a:defRPr>
            </a:lvl9pPr>
          </a:lstStyle>
          <a:p/>
        </p:txBody>
      </p:sp>
      <p:sp>
        <p:nvSpPr>
          <p:cNvPr id="112" name="Google Shape;112;p25"/>
          <p:cNvSpPr txBox="1"/>
          <p:nvPr>
            <p:ph idx="5" type="subTitle"/>
          </p:nvPr>
        </p:nvSpPr>
        <p:spPr>
          <a:xfrm>
            <a:off x="6013193" y="3350837"/>
            <a:ext cx="2286000" cy="1181100"/>
          </a:xfrm>
          <a:prstGeom prst="rect">
            <a:avLst/>
          </a:prstGeom>
        </p:spPr>
        <p:txBody>
          <a:bodyPr anchorCtr="0" anchor="t" bIns="0" lIns="0" spcFirstLastPara="1" rIns="0" wrap="square" tIns="0">
            <a:noAutofit/>
          </a:bodyPr>
          <a:lstStyle>
            <a:lvl1pPr lvl="0" rtl="0">
              <a:spcBef>
                <a:spcPts val="0"/>
              </a:spcBef>
              <a:spcAft>
                <a:spcPts val="0"/>
              </a:spcAft>
              <a:buSzPts val="1500"/>
              <a:buNone/>
              <a:defRPr sz="15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pic>
        <p:nvPicPr>
          <p:cNvPr id="113" name="Google Shape;113;p25"/>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extLst>
    <p:ext uri="{DCECCB84-F9BA-43D5-87BE-67443E8EF086}">
      <p15:sldGuideLst>
        <p15:guide id="1" pos="288">
          <p15:clr>
            <a:srgbClr val="FA7B17"/>
          </p15:clr>
        </p15:guide>
        <p15:guide id="2" pos="576">
          <p15:clr>
            <a:srgbClr val="FA7B17"/>
          </p15:clr>
        </p15:guide>
        <p15:guide id="3" pos="864">
          <p15:clr>
            <a:srgbClr val="FA7B17"/>
          </p15:clr>
        </p15:guide>
        <p15:guide id="4" pos="1152">
          <p15:clr>
            <a:srgbClr val="FA7B17"/>
          </p15:clr>
        </p15:guide>
        <p15:guide id="5" pos="1440">
          <p15:clr>
            <a:srgbClr val="FA7B17"/>
          </p15:clr>
        </p15:guide>
        <p15:guide id="6" pos="1728">
          <p15:clr>
            <a:srgbClr val="FA7B17"/>
          </p15:clr>
        </p15:guide>
        <p15:guide id="7" pos="2016">
          <p15:clr>
            <a:srgbClr val="FA7B17"/>
          </p15:clr>
        </p15:guide>
        <p15:guide id="8" pos="2304">
          <p15:clr>
            <a:srgbClr val="FA7B17"/>
          </p15:clr>
        </p15:guide>
        <p15:guide id="9" pos="2592">
          <p15:clr>
            <a:srgbClr val="FA7B17"/>
          </p15:clr>
        </p15:guide>
        <p15:guide id="10" pos="2880">
          <p15:clr>
            <a:srgbClr val="FA7B17"/>
          </p15:clr>
        </p15:guide>
        <p15:guide id="11" pos="3168">
          <p15:clr>
            <a:srgbClr val="FA7B17"/>
          </p15:clr>
        </p15:guide>
        <p15:guide id="12" pos="3456">
          <p15:clr>
            <a:srgbClr val="FA7B17"/>
          </p15:clr>
        </p15:guide>
        <p15:guide id="13" pos="3744">
          <p15:clr>
            <a:srgbClr val="FA7B17"/>
          </p15:clr>
        </p15:guide>
        <p15:guide id="14" pos="4032">
          <p15:clr>
            <a:srgbClr val="FA7B17"/>
          </p15:clr>
        </p15:guide>
        <p15:guide id="15" pos="4320">
          <p15:clr>
            <a:srgbClr val="FA7B17"/>
          </p15:clr>
        </p15:guide>
        <p15:guide id="16" pos="4608">
          <p15:clr>
            <a:srgbClr val="FA7B17"/>
          </p15:clr>
        </p15:guide>
        <p15:guide id="17" pos="4896">
          <p15:clr>
            <a:srgbClr val="FA7B17"/>
          </p15:clr>
        </p15:guide>
        <p15:guide id="18" pos="5184">
          <p15:clr>
            <a:srgbClr val="FA7B17"/>
          </p15:clr>
        </p15:guide>
        <p15:guide id="19" pos="5472">
          <p15:clr>
            <a:srgbClr val="FA7B17"/>
          </p15:clr>
        </p15:guide>
        <p15:guide id="20" orient="horz" pos="288">
          <p15:clr>
            <a:srgbClr val="FA7B17"/>
          </p15:clr>
        </p15:guide>
        <p15:guide id="21" orient="horz" pos="576">
          <p15:clr>
            <a:srgbClr val="FA7B17"/>
          </p15:clr>
        </p15:guide>
        <p15:guide id="22" orient="horz" pos="864">
          <p15:clr>
            <a:srgbClr val="FA7B17"/>
          </p15:clr>
        </p15:guide>
        <p15:guide id="23" orient="horz" pos="1152">
          <p15:clr>
            <a:srgbClr val="FA7B17"/>
          </p15:clr>
        </p15:guide>
        <p15:guide id="24" orient="horz" pos="1440">
          <p15:clr>
            <a:srgbClr val="FA7B17"/>
          </p15:clr>
        </p15:guide>
        <p15:guide id="25" orient="horz" pos="1728">
          <p15:clr>
            <a:srgbClr val="FA7B17"/>
          </p15:clr>
        </p15:guide>
        <p15:guide id="26" orient="horz" pos="2016">
          <p15:clr>
            <a:srgbClr val="FA7B17"/>
          </p15:clr>
        </p15:guide>
        <p15:guide id="27" orient="horz" pos="2304">
          <p15:clr>
            <a:srgbClr val="FA7B17"/>
          </p15:clr>
        </p15:guide>
        <p15:guide id="28" orient="horz" pos="2592">
          <p15:clr>
            <a:srgbClr val="FA7B17"/>
          </p15:clr>
        </p15:guide>
        <p15:guide id="29" orient="horz" pos="2880">
          <p15:clr>
            <a:srgbClr val="FA7B17"/>
          </p15:clr>
        </p15:guide>
        <p15:guide id="30" orient="horz" pos="3168">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 subtitle, paragraph - Purple_1_1_1_1_1_1_1_1_1">
    <p:spTree>
      <p:nvGrpSpPr>
        <p:cNvPr id="114" name="Shape 114"/>
        <p:cNvGrpSpPr/>
        <p:nvPr/>
      </p:nvGrpSpPr>
      <p:grpSpPr>
        <a:xfrm>
          <a:off x="0" y="0"/>
          <a:ext cx="0" cy="0"/>
          <a:chOff x="0" y="0"/>
          <a:chExt cx="0" cy="0"/>
        </a:xfrm>
      </p:grpSpPr>
      <p:sp>
        <p:nvSpPr>
          <p:cNvPr id="115" name="Google Shape;115;p26"/>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116" name="Google Shape;116;p26"/>
          <p:cNvPicPr preferRelativeResize="0"/>
          <p:nvPr/>
        </p:nvPicPr>
        <p:blipFill>
          <a:blip r:embed="rId2">
            <a:alphaModFix/>
          </a:blip>
          <a:stretch>
            <a:fillRect/>
          </a:stretch>
        </p:blipFill>
        <p:spPr>
          <a:xfrm>
            <a:off x="296923" y="4650790"/>
            <a:ext cx="834198" cy="256032"/>
          </a:xfrm>
          <a:prstGeom prst="rect">
            <a:avLst/>
          </a:prstGeom>
          <a:noFill/>
          <a:ln>
            <a:noFill/>
          </a:ln>
        </p:spPr>
      </p:pic>
      <p:sp>
        <p:nvSpPr>
          <p:cNvPr id="117" name="Google Shape;117;p26"/>
          <p:cNvSpPr txBox="1"/>
          <p:nvPr>
            <p:ph type="title"/>
          </p:nvPr>
        </p:nvSpPr>
        <p:spPr>
          <a:xfrm>
            <a:off x="614300" y="1604925"/>
            <a:ext cx="7615200" cy="4479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3200"/>
              <a:buFont typeface="Helvetica Neue"/>
              <a:buNone/>
              <a:defRPr b="1" sz="3200">
                <a:solidFill>
                  <a:schemeClr val="dk1"/>
                </a:solidFill>
                <a:latin typeface="Helvetica Neue"/>
                <a:ea typeface="Helvetica Neue"/>
                <a:cs typeface="Helvetica Neue"/>
                <a:sym typeface="Helvetica Neue"/>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
        <p:nvSpPr>
          <p:cNvPr id="118" name="Google Shape;118;p26"/>
          <p:cNvSpPr txBox="1"/>
          <p:nvPr>
            <p:ph idx="1" type="subTitle"/>
          </p:nvPr>
        </p:nvSpPr>
        <p:spPr>
          <a:xfrm>
            <a:off x="1757300" y="2547250"/>
            <a:ext cx="6400800" cy="914400"/>
          </a:xfrm>
          <a:prstGeom prst="rect">
            <a:avLst/>
          </a:prstGeom>
        </p:spPr>
        <p:txBody>
          <a:bodyPr anchorCtr="0" anchor="ctr" bIns="0" lIns="0" spcFirstLastPara="1" rIns="0" wrap="square" tIns="0">
            <a:noAutofit/>
          </a:bodyPr>
          <a:lstStyle>
            <a:lvl1pPr lvl="0" rtl="0">
              <a:spcBef>
                <a:spcPts val="0"/>
              </a:spcBef>
              <a:spcAft>
                <a:spcPts val="0"/>
              </a:spcAft>
              <a:buSzPts val="1500"/>
              <a:buNone/>
              <a:defRPr sz="15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9" name="Google Shape;119;p26"/>
          <p:cNvSpPr/>
          <p:nvPr>
            <p:ph idx="2" type="pic"/>
          </p:nvPr>
        </p:nvSpPr>
        <p:spPr>
          <a:xfrm>
            <a:off x="614300" y="2547250"/>
            <a:ext cx="914400" cy="914400"/>
          </a:xfrm>
          <a:prstGeom prst="snip2DiagRect">
            <a:avLst>
              <a:gd fmla="val 0" name="adj1"/>
              <a:gd fmla="val 16667" name="adj2"/>
            </a:avLst>
          </a:prstGeom>
          <a:noFill/>
          <a:ln>
            <a:noFill/>
          </a:ln>
        </p:spPr>
      </p:sp>
      <p:pic>
        <p:nvPicPr>
          <p:cNvPr id="120" name="Google Shape;120;p26"/>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extLst>
    <p:ext uri="{DCECCB84-F9BA-43D5-87BE-67443E8EF086}">
      <p15:sldGuideLst>
        <p15:guide id="1" pos="288">
          <p15:clr>
            <a:srgbClr val="FA7B17"/>
          </p15:clr>
        </p15:guide>
        <p15:guide id="2" pos="576">
          <p15:clr>
            <a:srgbClr val="FA7B17"/>
          </p15:clr>
        </p15:guide>
        <p15:guide id="3" pos="864">
          <p15:clr>
            <a:srgbClr val="FA7B17"/>
          </p15:clr>
        </p15:guide>
        <p15:guide id="4" pos="1152">
          <p15:clr>
            <a:srgbClr val="FA7B17"/>
          </p15:clr>
        </p15:guide>
        <p15:guide id="5" pos="1440">
          <p15:clr>
            <a:srgbClr val="FA7B17"/>
          </p15:clr>
        </p15:guide>
        <p15:guide id="6" pos="1728">
          <p15:clr>
            <a:srgbClr val="FA7B17"/>
          </p15:clr>
        </p15:guide>
        <p15:guide id="7" pos="2016">
          <p15:clr>
            <a:srgbClr val="FA7B17"/>
          </p15:clr>
        </p15:guide>
        <p15:guide id="8" pos="2304">
          <p15:clr>
            <a:srgbClr val="FA7B17"/>
          </p15:clr>
        </p15:guide>
        <p15:guide id="9" pos="2592">
          <p15:clr>
            <a:srgbClr val="FA7B17"/>
          </p15:clr>
        </p15:guide>
        <p15:guide id="10" pos="2880">
          <p15:clr>
            <a:srgbClr val="FA7B17"/>
          </p15:clr>
        </p15:guide>
        <p15:guide id="11" pos="3168">
          <p15:clr>
            <a:srgbClr val="FA7B17"/>
          </p15:clr>
        </p15:guide>
        <p15:guide id="12" pos="3456">
          <p15:clr>
            <a:srgbClr val="FA7B17"/>
          </p15:clr>
        </p15:guide>
        <p15:guide id="13" pos="3744">
          <p15:clr>
            <a:srgbClr val="FA7B17"/>
          </p15:clr>
        </p15:guide>
        <p15:guide id="14" pos="4032">
          <p15:clr>
            <a:srgbClr val="FA7B17"/>
          </p15:clr>
        </p15:guide>
        <p15:guide id="15" pos="4320">
          <p15:clr>
            <a:srgbClr val="FA7B17"/>
          </p15:clr>
        </p15:guide>
        <p15:guide id="16" pos="4608">
          <p15:clr>
            <a:srgbClr val="FA7B17"/>
          </p15:clr>
        </p15:guide>
        <p15:guide id="17" pos="4896">
          <p15:clr>
            <a:srgbClr val="FA7B17"/>
          </p15:clr>
        </p15:guide>
        <p15:guide id="18" pos="5184">
          <p15:clr>
            <a:srgbClr val="FA7B17"/>
          </p15:clr>
        </p15:guide>
        <p15:guide id="19" pos="5472">
          <p15:clr>
            <a:srgbClr val="FA7B17"/>
          </p15:clr>
        </p15:guide>
        <p15:guide id="20" orient="horz" pos="288">
          <p15:clr>
            <a:srgbClr val="FA7B17"/>
          </p15:clr>
        </p15:guide>
        <p15:guide id="21" orient="horz" pos="576">
          <p15:clr>
            <a:srgbClr val="FA7B17"/>
          </p15:clr>
        </p15:guide>
        <p15:guide id="22" orient="horz" pos="864">
          <p15:clr>
            <a:srgbClr val="FA7B17"/>
          </p15:clr>
        </p15:guide>
        <p15:guide id="23" orient="horz" pos="1152">
          <p15:clr>
            <a:srgbClr val="FA7B17"/>
          </p15:clr>
        </p15:guide>
        <p15:guide id="24" orient="horz" pos="1440">
          <p15:clr>
            <a:srgbClr val="FA7B17"/>
          </p15:clr>
        </p15:guide>
        <p15:guide id="25" orient="horz" pos="1728">
          <p15:clr>
            <a:srgbClr val="FA7B17"/>
          </p15:clr>
        </p15:guide>
        <p15:guide id="26" orient="horz" pos="2016">
          <p15:clr>
            <a:srgbClr val="FA7B17"/>
          </p15:clr>
        </p15:guide>
        <p15:guide id="27" orient="horz" pos="2304">
          <p15:clr>
            <a:srgbClr val="FA7B17"/>
          </p15:clr>
        </p15:guide>
        <p15:guide id="28" orient="horz" pos="2592">
          <p15:clr>
            <a:srgbClr val="FA7B17"/>
          </p15:clr>
        </p15:guide>
        <p15:guide id="29" orient="horz" pos="2880">
          <p15:clr>
            <a:srgbClr val="FA7B17"/>
          </p15:clr>
        </p15:guide>
        <p15:guide id="30" orient="horz" pos="3168">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OncoAir">
  <p:cSld name="Screenshot - Purple">
    <p:bg>
      <p:bgPr>
        <a:solidFill>
          <a:srgbClr val="5051DB"/>
        </a:solidFill>
      </p:bgPr>
    </p:bg>
    <p:spTree>
      <p:nvGrpSpPr>
        <p:cNvPr id="121" name="Shape 121"/>
        <p:cNvGrpSpPr/>
        <p:nvPr/>
      </p:nvGrpSpPr>
      <p:grpSpPr>
        <a:xfrm>
          <a:off x="0" y="0"/>
          <a:ext cx="0" cy="0"/>
          <a:chOff x="0" y="0"/>
          <a:chExt cx="0" cy="0"/>
        </a:xfrm>
      </p:grpSpPr>
      <p:pic>
        <p:nvPicPr>
          <p:cNvPr id="122" name="Google Shape;122;p27"/>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23" name="Google Shape;123;p27"/>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24" name="Google Shape;124;p27"/>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125" name="Google Shape;125;p27"/>
          <p:cNvPicPr preferRelativeResize="0"/>
          <p:nvPr/>
        </p:nvPicPr>
        <p:blipFill>
          <a:blip r:embed="rId4">
            <a:alphaModFix/>
          </a:blip>
          <a:stretch>
            <a:fillRect/>
          </a:stretch>
        </p:blipFill>
        <p:spPr>
          <a:xfrm>
            <a:off x="580546" y="457212"/>
            <a:ext cx="1751726" cy="457200"/>
          </a:xfrm>
          <a:prstGeom prst="rect">
            <a:avLst/>
          </a:prstGeom>
          <a:noFill/>
          <a:ln>
            <a:noFill/>
          </a:ln>
        </p:spPr>
      </p:pic>
      <p:sp>
        <p:nvSpPr>
          <p:cNvPr id="126" name="Google Shape;126;p27"/>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7" name="Google Shape;127;p27"/>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Font typeface="Helvetica Neue"/>
              <a:buNone/>
              <a:defRPr b="1" sz="2000">
                <a:solidFill>
                  <a:srgbClr val="FFFFFF"/>
                </a:solidFill>
                <a:latin typeface="Helvetica Neue"/>
                <a:ea typeface="Helvetica Neue"/>
                <a:cs typeface="Helvetica Neue"/>
                <a:sym typeface="Helvetica Neue"/>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360">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rvice Offering">
  <p:cSld name="Screenshot - Purple_3">
    <p:bg>
      <p:bgPr>
        <a:solidFill>
          <a:srgbClr val="5051DB"/>
        </a:solidFill>
      </p:bgPr>
    </p:bg>
    <p:spTree>
      <p:nvGrpSpPr>
        <p:cNvPr id="128" name="Shape 128"/>
        <p:cNvGrpSpPr/>
        <p:nvPr/>
      </p:nvGrpSpPr>
      <p:grpSpPr>
        <a:xfrm>
          <a:off x="0" y="0"/>
          <a:ext cx="0" cy="0"/>
          <a:chOff x="0" y="0"/>
          <a:chExt cx="0" cy="0"/>
        </a:xfrm>
      </p:grpSpPr>
      <p:pic>
        <p:nvPicPr>
          <p:cNvPr id="129" name="Google Shape;129;p28"/>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30" name="Google Shape;130;p28"/>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31" name="Google Shape;131;p28"/>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132" name="Google Shape;132;p28"/>
          <p:cNvSpPr txBox="1"/>
          <p:nvPr>
            <p:ph idx="1" type="subTitle"/>
          </p:nvPr>
        </p:nvSpPr>
        <p:spPr>
          <a:xfrm>
            <a:off x="554102" y="2743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3" name="Google Shape;133;p28"/>
          <p:cNvSpPr txBox="1"/>
          <p:nvPr>
            <p:ph type="title"/>
          </p:nvPr>
        </p:nvSpPr>
        <p:spPr>
          <a:xfrm>
            <a:off x="554202" y="1752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
        <p:nvSpPr>
          <p:cNvPr id="134" name="Google Shape;134;p28"/>
          <p:cNvSpPr txBox="1"/>
          <p:nvPr>
            <p:ph idx="2" type="title"/>
          </p:nvPr>
        </p:nvSpPr>
        <p:spPr>
          <a:xfrm>
            <a:off x="554202" y="4572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500"/>
              <a:buFont typeface="Helvetica Neue"/>
              <a:buNone/>
              <a:defRPr b="1">
                <a:solidFill>
                  <a:srgbClr val="FFFFFF"/>
                </a:solidFill>
                <a:latin typeface="Helvetica Neue"/>
                <a:ea typeface="Helvetica Neue"/>
                <a:cs typeface="Helvetica Neue"/>
                <a:sym typeface="Helvetica Neue"/>
              </a:defRPr>
            </a:lvl1pPr>
            <a:lvl2pPr lvl="1" rtl="0">
              <a:spcBef>
                <a:spcPts val="0"/>
              </a:spcBef>
              <a:spcAft>
                <a:spcPts val="0"/>
              </a:spcAft>
              <a:buSzPts val="2500"/>
              <a:buNone/>
              <a:defRPr sz="2500">
                <a:latin typeface="Helvetica Neue"/>
                <a:ea typeface="Helvetica Neue"/>
                <a:cs typeface="Helvetica Neue"/>
                <a:sym typeface="Helvetica Neue"/>
              </a:defRPr>
            </a:lvl2pPr>
            <a:lvl3pPr lvl="2" rtl="0">
              <a:spcBef>
                <a:spcPts val="0"/>
              </a:spcBef>
              <a:spcAft>
                <a:spcPts val="0"/>
              </a:spcAft>
              <a:buSzPts val="2500"/>
              <a:buNone/>
              <a:defRPr sz="2500">
                <a:latin typeface="Helvetica Neue"/>
                <a:ea typeface="Helvetica Neue"/>
                <a:cs typeface="Helvetica Neue"/>
                <a:sym typeface="Helvetica Neue"/>
              </a:defRPr>
            </a:lvl3pPr>
            <a:lvl4pPr lvl="3" rtl="0">
              <a:spcBef>
                <a:spcPts val="0"/>
              </a:spcBef>
              <a:spcAft>
                <a:spcPts val="0"/>
              </a:spcAft>
              <a:buSzPts val="2500"/>
              <a:buNone/>
              <a:defRPr sz="2500">
                <a:latin typeface="Helvetica Neue"/>
                <a:ea typeface="Helvetica Neue"/>
                <a:cs typeface="Helvetica Neue"/>
                <a:sym typeface="Helvetica Neue"/>
              </a:defRPr>
            </a:lvl4pPr>
            <a:lvl5pPr lvl="4" rtl="0">
              <a:spcBef>
                <a:spcPts val="0"/>
              </a:spcBef>
              <a:spcAft>
                <a:spcPts val="0"/>
              </a:spcAft>
              <a:buSzPts val="2500"/>
              <a:buNone/>
              <a:defRPr sz="2500">
                <a:latin typeface="Helvetica Neue"/>
                <a:ea typeface="Helvetica Neue"/>
                <a:cs typeface="Helvetica Neue"/>
                <a:sym typeface="Helvetica Neue"/>
              </a:defRPr>
            </a:lvl5pPr>
            <a:lvl6pPr lvl="5" rtl="0">
              <a:spcBef>
                <a:spcPts val="0"/>
              </a:spcBef>
              <a:spcAft>
                <a:spcPts val="0"/>
              </a:spcAft>
              <a:buSzPts val="2500"/>
              <a:buNone/>
              <a:defRPr sz="2500">
                <a:latin typeface="Helvetica Neue"/>
                <a:ea typeface="Helvetica Neue"/>
                <a:cs typeface="Helvetica Neue"/>
                <a:sym typeface="Helvetica Neue"/>
              </a:defRPr>
            </a:lvl6pPr>
            <a:lvl7pPr lvl="6" rtl="0">
              <a:spcBef>
                <a:spcPts val="0"/>
              </a:spcBef>
              <a:spcAft>
                <a:spcPts val="0"/>
              </a:spcAft>
              <a:buSzPts val="2500"/>
              <a:buNone/>
              <a:defRPr sz="2500">
                <a:latin typeface="Helvetica Neue"/>
                <a:ea typeface="Helvetica Neue"/>
                <a:cs typeface="Helvetica Neue"/>
                <a:sym typeface="Helvetica Neue"/>
              </a:defRPr>
            </a:lvl7pPr>
            <a:lvl8pPr lvl="7" rtl="0">
              <a:spcBef>
                <a:spcPts val="0"/>
              </a:spcBef>
              <a:spcAft>
                <a:spcPts val="0"/>
              </a:spcAft>
              <a:buSzPts val="2500"/>
              <a:buNone/>
              <a:defRPr sz="2500">
                <a:latin typeface="Helvetica Neue"/>
                <a:ea typeface="Helvetica Neue"/>
                <a:cs typeface="Helvetica Neue"/>
                <a:sym typeface="Helvetica Neue"/>
              </a:defRPr>
            </a:lvl8pPr>
            <a:lvl9pPr lvl="8" rtl="0">
              <a:spcBef>
                <a:spcPts val="0"/>
              </a:spcBef>
              <a:spcAft>
                <a:spcPts val="0"/>
              </a:spcAft>
              <a:buSzPts val="2500"/>
              <a:buNone/>
              <a:defRPr sz="2500">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360">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Flatiron Signal">
  <p:cSld name="Screenshot - Purple_2">
    <p:bg>
      <p:bgPr>
        <a:solidFill>
          <a:srgbClr val="5051DB"/>
        </a:solidFill>
      </p:bgPr>
    </p:bg>
    <p:spTree>
      <p:nvGrpSpPr>
        <p:cNvPr id="135" name="Shape 135"/>
        <p:cNvGrpSpPr/>
        <p:nvPr/>
      </p:nvGrpSpPr>
      <p:grpSpPr>
        <a:xfrm>
          <a:off x="0" y="0"/>
          <a:ext cx="0" cy="0"/>
          <a:chOff x="0" y="0"/>
          <a:chExt cx="0" cy="0"/>
        </a:xfrm>
      </p:grpSpPr>
      <p:pic>
        <p:nvPicPr>
          <p:cNvPr id="136" name="Google Shape;136;p29"/>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37" name="Google Shape;137;p29"/>
          <p:cNvPicPr preferRelativeResize="0"/>
          <p:nvPr/>
        </p:nvPicPr>
        <p:blipFill>
          <a:blip r:embed="rId3">
            <a:alphaModFix/>
          </a:blip>
          <a:stretch>
            <a:fillRect/>
          </a:stretch>
        </p:blipFill>
        <p:spPr>
          <a:xfrm>
            <a:off x="580546" y="457200"/>
            <a:ext cx="2320814" cy="457200"/>
          </a:xfrm>
          <a:prstGeom prst="rect">
            <a:avLst/>
          </a:prstGeom>
          <a:noFill/>
          <a:ln>
            <a:noFill/>
          </a:ln>
        </p:spPr>
      </p:pic>
      <p:pic>
        <p:nvPicPr>
          <p:cNvPr id="138" name="Google Shape;138;p29"/>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139" name="Google Shape;139;p29"/>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140" name="Google Shape;140;p29"/>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1" name="Google Shape;141;p29"/>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Font typeface="Helvetica Neue"/>
              <a:buNone/>
              <a:defRPr b="1" sz="2000">
                <a:solidFill>
                  <a:srgbClr val="FFFFFF"/>
                </a:solidFill>
                <a:latin typeface="Helvetica Neue"/>
                <a:ea typeface="Helvetica Neue"/>
                <a:cs typeface="Helvetica Neue"/>
                <a:sym typeface="Helvetica Neue"/>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360">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Flatiron Assist">
  <p:cSld name="Screenshot - Purple_2_1">
    <p:bg>
      <p:bgPr>
        <a:solidFill>
          <a:srgbClr val="5051DB"/>
        </a:solidFill>
      </p:bgPr>
    </p:bg>
    <p:spTree>
      <p:nvGrpSpPr>
        <p:cNvPr id="142" name="Shape 142"/>
        <p:cNvGrpSpPr/>
        <p:nvPr/>
      </p:nvGrpSpPr>
      <p:grpSpPr>
        <a:xfrm>
          <a:off x="0" y="0"/>
          <a:ext cx="0" cy="0"/>
          <a:chOff x="0" y="0"/>
          <a:chExt cx="0" cy="0"/>
        </a:xfrm>
      </p:grpSpPr>
      <p:pic>
        <p:nvPicPr>
          <p:cNvPr id="143" name="Google Shape;143;p30"/>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44" name="Google Shape;144;p30"/>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45" name="Google Shape;145;p30"/>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146" name="Google Shape;146;p30"/>
          <p:cNvPicPr preferRelativeResize="0"/>
          <p:nvPr/>
        </p:nvPicPr>
        <p:blipFill>
          <a:blip r:embed="rId4">
            <a:alphaModFix/>
          </a:blip>
          <a:stretch>
            <a:fillRect/>
          </a:stretch>
        </p:blipFill>
        <p:spPr>
          <a:xfrm>
            <a:off x="580546" y="457200"/>
            <a:ext cx="2356700" cy="457200"/>
          </a:xfrm>
          <a:prstGeom prst="rect">
            <a:avLst/>
          </a:prstGeom>
          <a:noFill/>
          <a:ln>
            <a:noFill/>
          </a:ln>
        </p:spPr>
      </p:pic>
      <p:sp>
        <p:nvSpPr>
          <p:cNvPr id="147" name="Google Shape;147;p30"/>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8" name="Google Shape;148;p30"/>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360">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Flatiron">
  <p:cSld name="Screenshot - Purple_2_1_2">
    <p:bg>
      <p:bgPr>
        <a:solidFill>
          <a:srgbClr val="5051DB"/>
        </a:solidFill>
      </p:bgPr>
    </p:bg>
    <p:spTree>
      <p:nvGrpSpPr>
        <p:cNvPr id="149" name="Shape 149"/>
        <p:cNvGrpSpPr/>
        <p:nvPr/>
      </p:nvGrpSpPr>
      <p:grpSpPr>
        <a:xfrm>
          <a:off x="0" y="0"/>
          <a:ext cx="0" cy="0"/>
          <a:chOff x="0" y="0"/>
          <a:chExt cx="0" cy="0"/>
        </a:xfrm>
      </p:grpSpPr>
      <p:pic>
        <p:nvPicPr>
          <p:cNvPr id="150" name="Google Shape;150;p31"/>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51" name="Google Shape;151;p31"/>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52" name="Google Shape;152;p31"/>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153" name="Google Shape;153;p31"/>
          <p:cNvPicPr preferRelativeResize="0"/>
          <p:nvPr/>
        </p:nvPicPr>
        <p:blipFill>
          <a:blip r:embed="rId4">
            <a:alphaModFix/>
          </a:blip>
          <a:stretch>
            <a:fillRect/>
          </a:stretch>
        </p:blipFill>
        <p:spPr>
          <a:xfrm>
            <a:off x="582304" y="457200"/>
            <a:ext cx="1494117" cy="457201"/>
          </a:xfrm>
          <a:prstGeom prst="rect">
            <a:avLst/>
          </a:prstGeom>
          <a:noFill/>
          <a:ln>
            <a:noFill/>
          </a:ln>
        </p:spPr>
      </p:pic>
      <p:sp>
        <p:nvSpPr>
          <p:cNvPr id="154" name="Google Shape;154;p31"/>
          <p:cNvSpPr txBox="1"/>
          <p:nvPr>
            <p:ph idx="1" type="subTitle"/>
          </p:nvPr>
        </p:nvSpPr>
        <p:spPr>
          <a:xfrm>
            <a:off x="582304"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Char char="▪"/>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2pPr>
            <a:lvl3pPr lvl="2"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3pPr>
            <a:lvl4pPr lvl="3"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4pPr>
            <a:lvl5pPr lvl="4"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5pPr>
            <a:lvl6pPr lvl="5"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6pPr>
            <a:lvl7pPr lvl="6"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7pPr>
            <a:lvl8pPr lvl="7" rtl="0">
              <a:spcBef>
                <a:spcPts val="1600"/>
              </a:spcBef>
              <a:spcAft>
                <a:spcPts val="0"/>
              </a:spcAft>
              <a:buSzPts val="1400"/>
              <a:buFont typeface="Helvetica Neue Light"/>
              <a:buNone/>
              <a:defRPr>
                <a:latin typeface="Helvetica Neue Light"/>
                <a:ea typeface="Helvetica Neue Light"/>
                <a:cs typeface="Helvetica Neue Light"/>
                <a:sym typeface="Helvetica Neue Light"/>
              </a:defRPr>
            </a:lvl8pPr>
            <a:lvl9pPr lvl="8" rtl="0">
              <a:spcBef>
                <a:spcPts val="1600"/>
              </a:spcBef>
              <a:spcAft>
                <a:spcPts val="1600"/>
              </a:spcAft>
              <a:buSzPts val="1400"/>
              <a:buFont typeface="Helvetica Neue Light"/>
              <a:buNone/>
              <a:defRPr>
                <a:latin typeface="Helvetica Neue Light"/>
                <a:ea typeface="Helvetica Neue Light"/>
                <a:cs typeface="Helvetica Neue Light"/>
                <a:sym typeface="Helvetica Neue Light"/>
              </a:defRPr>
            </a:lvl9pPr>
          </a:lstStyle>
          <a:p/>
        </p:txBody>
      </p:sp>
      <p:sp>
        <p:nvSpPr>
          <p:cNvPr id="155" name="Google Shape;155;p31"/>
          <p:cNvSpPr txBox="1"/>
          <p:nvPr>
            <p:ph type="title"/>
          </p:nvPr>
        </p:nvSpPr>
        <p:spPr>
          <a:xfrm>
            <a:off x="582404"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36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OncoAnalytics">
  <p:cSld name="Screenshot - Purple_2_1_1">
    <p:bg>
      <p:bgPr>
        <a:solidFill>
          <a:srgbClr val="5051DB"/>
        </a:solidFill>
      </p:bgPr>
    </p:bg>
    <p:spTree>
      <p:nvGrpSpPr>
        <p:cNvPr id="156" name="Shape 156"/>
        <p:cNvGrpSpPr/>
        <p:nvPr/>
      </p:nvGrpSpPr>
      <p:grpSpPr>
        <a:xfrm>
          <a:off x="0" y="0"/>
          <a:ext cx="0" cy="0"/>
          <a:chOff x="0" y="0"/>
          <a:chExt cx="0" cy="0"/>
        </a:xfrm>
      </p:grpSpPr>
      <p:pic>
        <p:nvPicPr>
          <p:cNvPr id="157" name="Google Shape;157;p32"/>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58" name="Google Shape;158;p32"/>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59" name="Google Shape;159;p32"/>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160" name="Google Shape;160;p32"/>
          <p:cNvPicPr preferRelativeResize="0"/>
          <p:nvPr/>
        </p:nvPicPr>
        <p:blipFill>
          <a:blip r:embed="rId4">
            <a:alphaModFix/>
          </a:blip>
          <a:stretch>
            <a:fillRect/>
          </a:stretch>
        </p:blipFill>
        <p:spPr>
          <a:xfrm>
            <a:off x="571720" y="457200"/>
            <a:ext cx="2787804" cy="457200"/>
          </a:xfrm>
          <a:prstGeom prst="rect">
            <a:avLst/>
          </a:prstGeom>
          <a:noFill/>
          <a:ln>
            <a:noFill/>
          </a:ln>
        </p:spPr>
      </p:pic>
      <p:sp>
        <p:nvSpPr>
          <p:cNvPr id="161" name="Google Shape;161;p32"/>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2" name="Google Shape;162;p32"/>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OncoBilling">
  <p:cSld name="Screenshot - Purple_2_1_1_1">
    <p:bg>
      <p:bgPr>
        <a:solidFill>
          <a:srgbClr val="5051DB"/>
        </a:solidFill>
      </p:bgPr>
    </p:bg>
    <p:spTree>
      <p:nvGrpSpPr>
        <p:cNvPr id="163" name="Shape 163"/>
        <p:cNvGrpSpPr/>
        <p:nvPr/>
      </p:nvGrpSpPr>
      <p:grpSpPr>
        <a:xfrm>
          <a:off x="0" y="0"/>
          <a:ext cx="0" cy="0"/>
          <a:chOff x="0" y="0"/>
          <a:chExt cx="0" cy="0"/>
        </a:xfrm>
      </p:grpSpPr>
      <p:pic>
        <p:nvPicPr>
          <p:cNvPr id="164" name="Google Shape;164;p33"/>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65" name="Google Shape;165;p33"/>
          <p:cNvPicPr preferRelativeResize="0"/>
          <p:nvPr/>
        </p:nvPicPr>
        <p:blipFill>
          <a:blip r:embed="rId3">
            <a:alphaModFix/>
          </a:blip>
          <a:stretch>
            <a:fillRect/>
          </a:stretch>
        </p:blipFill>
        <p:spPr>
          <a:xfrm>
            <a:off x="571720" y="457200"/>
            <a:ext cx="2332653" cy="457200"/>
          </a:xfrm>
          <a:prstGeom prst="rect">
            <a:avLst/>
          </a:prstGeom>
          <a:noFill/>
          <a:ln>
            <a:noFill/>
          </a:ln>
        </p:spPr>
      </p:pic>
      <p:pic>
        <p:nvPicPr>
          <p:cNvPr id="166" name="Google Shape;166;p33"/>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167" name="Google Shape;167;p33"/>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168" name="Google Shape;168;p33"/>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9" name="Google Shape;169;p33"/>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OncoEMR">
  <p:cSld name="Screenshot - Purple_1">
    <p:bg>
      <p:bgPr>
        <a:solidFill>
          <a:srgbClr val="5051DB"/>
        </a:solidFill>
      </p:bgPr>
    </p:bg>
    <p:spTree>
      <p:nvGrpSpPr>
        <p:cNvPr id="170" name="Shape 170"/>
        <p:cNvGrpSpPr/>
        <p:nvPr/>
      </p:nvGrpSpPr>
      <p:grpSpPr>
        <a:xfrm>
          <a:off x="0" y="0"/>
          <a:ext cx="0" cy="0"/>
          <a:chOff x="0" y="0"/>
          <a:chExt cx="0" cy="0"/>
        </a:xfrm>
      </p:grpSpPr>
      <p:pic>
        <p:nvPicPr>
          <p:cNvPr id="171" name="Google Shape;171;p34"/>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72" name="Google Shape;172;p34"/>
          <p:cNvPicPr preferRelativeResize="0"/>
          <p:nvPr/>
        </p:nvPicPr>
        <p:blipFill>
          <a:blip r:embed="rId3">
            <a:alphaModFix/>
          </a:blip>
          <a:stretch>
            <a:fillRect/>
          </a:stretch>
        </p:blipFill>
        <p:spPr>
          <a:xfrm>
            <a:off x="580546" y="457200"/>
            <a:ext cx="1897093" cy="457199"/>
          </a:xfrm>
          <a:prstGeom prst="rect">
            <a:avLst/>
          </a:prstGeom>
          <a:noFill/>
          <a:ln>
            <a:noFill/>
          </a:ln>
        </p:spPr>
      </p:pic>
      <p:pic>
        <p:nvPicPr>
          <p:cNvPr id="173" name="Google Shape;173;p34"/>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174" name="Google Shape;174;p34"/>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175" name="Google Shape;175;p34"/>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6" name="Google Shape;176;p34"/>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2880">
          <p15:clr>
            <a:srgbClr val="9AA0A6"/>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OncoTrials">
  <p:cSld name="Screenshot - Purple_1_1">
    <p:bg>
      <p:bgPr>
        <a:solidFill>
          <a:srgbClr val="5051DB"/>
        </a:solidFill>
      </p:bgPr>
    </p:bg>
    <p:spTree>
      <p:nvGrpSpPr>
        <p:cNvPr id="177" name="Shape 177"/>
        <p:cNvGrpSpPr/>
        <p:nvPr/>
      </p:nvGrpSpPr>
      <p:grpSpPr>
        <a:xfrm>
          <a:off x="0" y="0"/>
          <a:ext cx="0" cy="0"/>
          <a:chOff x="0" y="0"/>
          <a:chExt cx="0" cy="0"/>
        </a:xfrm>
      </p:grpSpPr>
      <p:pic>
        <p:nvPicPr>
          <p:cNvPr id="178" name="Google Shape;178;p35"/>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79" name="Google Shape;179;p35"/>
          <p:cNvPicPr preferRelativeResize="0"/>
          <p:nvPr/>
        </p:nvPicPr>
        <p:blipFill>
          <a:blip r:embed="rId3">
            <a:alphaModFix/>
          </a:blip>
          <a:stretch>
            <a:fillRect/>
          </a:stretch>
        </p:blipFill>
        <p:spPr>
          <a:xfrm>
            <a:off x="580546" y="457200"/>
            <a:ext cx="2230243" cy="457200"/>
          </a:xfrm>
          <a:prstGeom prst="rect">
            <a:avLst/>
          </a:prstGeom>
          <a:noFill/>
          <a:ln>
            <a:noFill/>
          </a:ln>
        </p:spPr>
      </p:pic>
      <p:pic>
        <p:nvPicPr>
          <p:cNvPr id="180" name="Google Shape;180;p35"/>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181" name="Google Shape;181;p35"/>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182" name="Google Shape;182;p35"/>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 name="Google Shape;183;p35"/>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2880">
          <p15:clr>
            <a:srgbClr val="9AA0A6"/>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OncoTrials 1">
  <p:cSld name="Screenshot - Purple_1_1_1">
    <p:bg>
      <p:bgPr>
        <a:solidFill>
          <a:srgbClr val="5051DB"/>
        </a:solidFill>
      </p:bgPr>
    </p:bg>
    <p:spTree>
      <p:nvGrpSpPr>
        <p:cNvPr id="184" name="Shape 184"/>
        <p:cNvGrpSpPr/>
        <p:nvPr/>
      </p:nvGrpSpPr>
      <p:grpSpPr>
        <a:xfrm>
          <a:off x="0" y="0"/>
          <a:ext cx="0" cy="0"/>
          <a:chOff x="0" y="0"/>
          <a:chExt cx="0" cy="0"/>
        </a:xfrm>
      </p:grpSpPr>
      <p:pic>
        <p:nvPicPr>
          <p:cNvPr id="185" name="Google Shape;185;p36"/>
          <p:cNvPicPr preferRelativeResize="0"/>
          <p:nvPr/>
        </p:nvPicPr>
        <p:blipFill>
          <a:blip r:embed="rId2">
            <a:alphaModFix/>
          </a:blip>
          <a:stretch>
            <a:fillRect/>
          </a:stretch>
        </p:blipFill>
        <p:spPr>
          <a:xfrm>
            <a:off x="0" y="0"/>
            <a:ext cx="9143981" cy="5143500"/>
          </a:xfrm>
          <a:prstGeom prst="rect">
            <a:avLst/>
          </a:prstGeom>
          <a:noFill/>
          <a:ln>
            <a:noFill/>
          </a:ln>
        </p:spPr>
      </p:pic>
      <p:pic>
        <p:nvPicPr>
          <p:cNvPr id="186" name="Google Shape;186;p36"/>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87" name="Google Shape;187;p36"/>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188" name="Google Shape;188;p36"/>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9" name="Google Shape;189;p36"/>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None/>
              <a:defRPr sz="2000">
                <a:solidFill>
                  <a:srgbClr val="FFFFFF"/>
                </a:solidFill>
              </a:defRPr>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2880">
          <p15:clr>
            <a:srgbClr val="9AA0A6"/>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roduct - Light">
  <p:cSld name="Screenshot - Purple_1_1_1_1">
    <p:bg>
      <p:bgPr>
        <a:solidFill>
          <a:srgbClr val="5051DB"/>
        </a:solidFill>
      </p:bgPr>
    </p:bg>
    <p:spTree>
      <p:nvGrpSpPr>
        <p:cNvPr id="190" name="Shape 190"/>
        <p:cNvGrpSpPr/>
        <p:nvPr/>
      </p:nvGrpSpPr>
      <p:grpSpPr>
        <a:xfrm>
          <a:off x="0" y="0"/>
          <a:ext cx="0" cy="0"/>
          <a:chOff x="0" y="0"/>
          <a:chExt cx="0" cy="0"/>
        </a:xfrm>
      </p:grpSpPr>
      <p:pic>
        <p:nvPicPr>
          <p:cNvPr id="191" name="Google Shape;191;p37"/>
          <p:cNvPicPr preferRelativeResize="0"/>
          <p:nvPr/>
        </p:nvPicPr>
        <p:blipFill>
          <a:blip r:embed="rId2">
            <a:alphaModFix/>
          </a:blip>
          <a:stretch>
            <a:fillRect/>
          </a:stretch>
        </p:blipFill>
        <p:spPr>
          <a:xfrm>
            <a:off x="0" y="0"/>
            <a:ext cx="9143957" cy="5143500"/>
          </a:xfrm>
          <a:prstGeom prst="rect">
            <a:avLst/>
          </a:prstGeom>
          <a:noFill/>
          <a:ln>
            <a:noFill/>
          </a:ln>
        </p:spPr>
      </p:pic>
      <p:sp>
        <p:nvSpPr>
          <p:cNvPr id="192" name="Google Shape;192;p37"/>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a:t>
            </a:r>
            <a:endParaRPr sz="1400">
              <a:solidFill>
                <a:schemeClr val="dk1"/>
              </a:solidFill>
              <a:latin typeface="Helvetica Neue"/>
              <a:ea typeface="Helvetica Neue"/>
              <a:cs typeface="Helvetica Neue"/>
              <a:sym typeface="Helvetica Neue"/>
            </a:endParaRPr>
          </a:p>
        </p:txBody>
      </p:sp>
      <p:sp>
        <p:nvSpPr>
          <p:cNvPr id="193" name="Google Shape;193;p37"/>
          <p:cNvSpPr txBox="1"/>
          <p:nvPr>
            <p:ph idx="1" type="subTitle"/>
          </p:nvPr>
        </p:nvSpPr>
        <p:spPr>
          <a:xfrm>
            <a:off x="571720" y="2362200"/>
            <a:ext cx="2743200" cy="13716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4" name="Google Shape;194;p37"/>
          <p:cNvSpPr txBox="1"/>
          <p:nvPr>
            <p:ph type="title"/>
          </p:nvPr>
        </p:nvSpPr>
        <p:spPr>
          <a:xfrm>
            <a:off x="571820" y="1371600"/>
            <a:ext cx="2743200" cy="914400"/>
          </a:xfrm>
          <a:prstGeom prst="rect">
            <a:avLst/>
          </a:prstGeom>
        </p:spPr>
        <p:txBody>
          <a:bodyPr anchorCtr="0" anchor="t"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2800"/>
              <a:buNone/>
              <a:defRPr>
                <a:latin typeface="Helvetica Neue"/>
                <a:ea typeface="Helvetica Neue"/>
                <a:cs typeface="Helvetica Neue"/>
                <a:sym typeface="Helvetica Neue"/>
              </a:defRPr>
            </a:lvl2pPr>
            <a:lvl3pPr lvl="2" rtl="0">
              <a:spcBef>
                <a:spcPts val="0"/>
              </a:spcBef>
              <a:spcAft>
                <a:spcPts val="0"/>
              </a:spcAft>
              <a:buSzPts val="2800"/>
              <a:buNone/>
              <a:defRPr>
                <a:latin typeface="Helvetica Neue"/>
                <a:ea typeface="Helvetica Neue"/>
                <a:cs typeface="Helvetica Neue"/>
                <a:sym typeface="Helvetica Neue"/>
              </a:defRPr>
            </a:lvl3pPr>
            <a:lvl4pPr lvl="3" rtl="0">
              <a:spcBef>
                <a:spcPts val="0"/>
              </a:spcBef>
              <a:spcAft>
                <a:spcPts val="0"/>
              </a:spcAft>
              <a:buSzPts val="2800"/>
              <a:buNone/>
              <a:defRPr>
                <a:latin typeface="Helvetica Neue"/>
                <a:ea typeface="Helvetica Neue"/>
                <a:cs typeface="Helvetica Neue"/>
                <a:sym typeface="Helvetica Neue"/>
              </a:defRPr>
            </a:lvl4pPr>
            <a:lvl5pPr lvl="4" rtl="0">
              <a:spcBef>
                <a:spcPts val="0"/>
              </a:spcBef>
              <a:spcAft>
                <a:spcPts val="0"/>
              </a:spcAft>
              <a:buSzPts val="2800"/>
              <a:buNone/>
              <a:defRPr>
                <a:latin typeface="Helvetica Neue"/>
                <a:ea typeface="Helvetica Neue"/>
                <a:cs typeface="Helvetica Neue"/>
                <a:sym typeface="Helvetica Neue"/>
              </a:defRPr>
            </a:lvl5pPr>
            <a:lvl6pPr lvl="5" rtl="0">
              <a:spcBef>
                <a:spcPts val="0"/>
              </a:spcBef>
              <a:spcAft>
                <a:spcPts val="0"/>
              </a:spcAft>
              <a:buSzPts val="2800"/>
              <a:buNone/>
              <a:defRPr>
                <a:latin typeface="Helvetica Neue"/>
                <a:ea typeface="Helvetica Neue"/>
                <a:cs typeface="Helvetica Neue"/>
                <a:sym typeface="Helvetica Neue"/>
              </a:defRPr>
            </a:lvl6pPr>
            <a:lvl7pPr lvl="6" rtl="0">
              <a:spcBef>
                <a:spcPts val="0"/>
              </a:spcBef>
              <a:spcAft>
                <a:spcPts val="0"/>
              </a:spcAft>
              <a:buSzPts val="2800"/>
              <a:buNone/>
              <a:defRPr>
                <a:latin typeface="Helvetica Neue"/>
                <a:ea typeface="Helvetica Neue"/>
                <a:cs typeface="Helvetica Neue"/>
                <a:sym typeface="Helvetica Neue"/>
              </a:defRPr>
            </a:lvl7pPr>
            <a:lvl8pPr lvl="7" rtl="0">
              <a:spcBef>
                <a:spcPts val="0"/>
              </a:spcBef>
              <a:spcAft>
                <a:spcPts val="0"/>
              </a:spcAft>
              <a:buSzPts val="2800"/>
              <a:buNone/>
              <a:defRPr>
                <a:latin typeface="Helvetica Neue"/>
                <a:ea typeface="Helvetica Neue"/>
                <a:cs typeface="Helvetica Neue"/>
                <a:sym typeface="Helvetica Neue"/>
              </a:defRPr>
            </a:lvl8pPr>
            <a:lvl9pPr lvl="8" rtl="0">
              <a:spcBef>
                <a:spcPts val="0"/>
              </a:spcBef>
              <a:spcAft>
                <a:spcPts val="0"/>
              </a:spcAft>
              <a:buSzPts val="2800"/>
              <a:buNone/>
              <a:defRPr>
                <a:latin typeface="Helvetica Neue"/>
                <a:ea typeface="Helvetica Neue"/>
                <a:cs typeface="Helvetica Neue"/>
                <a:sym typeface="Helvetica Neue"/>
              </a:defRPr>
            </a:lvl9pPr>
          </a:lstStyle>
          <a:p/>
        </p:txBody>
      </p:sp>
      <p:pic>
        <p:nvPicPr>
          <p:cNvPr id="195" name="Google Shape;195;p37"/>
          <p:cNvPicPr preferRelativeResize="0"/>
          <p:nvPr/>
        </p:nvPicPr>
        <p:blipFill>
          <a:blip r:embed="rId3">
            <a:alphaModFix/>
          </a:blip>
          <a:stretch>
            <a:fillRect/>
          </a:stretch>
        </p:blipFill>
        <p:spPr>
          <a:xfrm>
            <a:off x="296923" y="4650790"/>
            <a:ext cx="834198" cy="256032"/>
          </a:xfrm>
          <a:prstGeom prst="rect">
            <a:avLst/>
          </a:prstGeom>
          <a:noFill/>
          <a:ln>
            <a:noFill/>
          </a:ln>
        </p:spPr>
      </p:pic>
    </p:spTree>
  </p:cSld>
  <p:clrMapOvr>
    <a:masterClrMapping/>
  </p:clrMapOvr>
  <p:extLst>
    <p:ext uri="{DCECCB84-F9BA-43D5-87BE-67443E8EF086}">
      <p15:sldGuideLst>
        <p15:guide id="1" orient="horz" pos="288">
          <p15:clr>
            <a:srgbClr val="9AA0A6"/>
          </p15:clr>
        </p15:guide>
        <p15:guide id="2" pos="288">
          <p15:clr>
            <a:srgbClr val="9AA0A6"/>
          </p15:clr>
        </p15:guide>
        <p15:guide id="3" pos="576">
          <p15:clr>
            <a:srgbClr val="9AA0A6"/>
          </p15:clr>
        </p15:guide>
        <p15:guide id="4" pos="864">
          <p15:clr>
            <a:srgbClr val="9AA0A6"/>
          </p15:clr>
        </p15:guide>
        <p15:guide id="5" pos="1152">
          <p15:clr>
            <a:srgbClr val="9AA0A6"/>
          </p15:clr>
        </p15:guide>
        <p15:guide id="6" pos="1440">
          <p15:clr>
            <a:srgbClr val="9AA0A6"/>
          </p15:clr>
        </p15:guide>
        <p15:guide id="7" pos="1728">
          <p15:clr>
            <a:srgbClr val="9AA0A6"/>
          </p15:clr>
        </p15:guide>
        <p15:guide id="8" pos="2016">
          <p15:clr>
            <a:srgbClr val="9AA0A6"/>
          </p15:clr>
        </p15:guide>
        <p15:guide id="9" pos="2592">
          <p15:clr>
            <a:srgbClr val="9AA0A6"/>
          </p15:clr>
        </p15:guide>
        <p15:guide id="10" pos="3168">
          <p15:clr>
            <a:srgbClr val="9AA0A6"/>
          </p15:clr>
        </p15:guide>
        <p15:guide id="11" pos="3456">
          <p15:clr>
            <a:srgbClr val="9AA0A6"/>
          </p15:clr>
        </p15:guide>
        <p15:guide id="12" pos="3744">
          <p15:clr>
            <a:srgbClr val="9AA0A6"/>
          </p15:clr>
        </p15:guide>
        <p15:guide id="13" pos="4032">
          <p15:clr>
            <a:srgbClr val="9AA0A6"/>
          </p15:clr>
        </p15:guide>
        <p15:guide id="14" pos="4320">
          <p15:clr>
            <a:srgbClr val="9AA0A6"/>
          </p15:clr>
        </p15:guide>
        <p15:guide id="15" pos="4608">
          <p15:clr>
            <a:srgbClr val="9AA0A6"/>
          </p15:clr>
        </p15:guide>
        <p15:guide id="16" pos="4896">
          <p15:clr>
            <a:srgbClr val="9AA0A6"/>
          </p15:clr>
        </p15:guide>
        <p15:guide id="17" pos="5472">
          <p15:clr>
            <a:srgbClr val="9AA0A6"/>
          </p15:clr>
        </p15:guide>
        <p15:guide id="18" orient="horz" pos="576">
          <p15:clr>
            <a:srgbClr val="9AA0A6"/>
          </p15:clr>
        </p15:guide>
        <p15:guide id="19" orient="horz" pos="864">
          <p15:clr>
            <a:srgbClr val="9AA0A6"/>
          </p15:clr>
        </p15:guide>
        <p15:guide id="20" orient="horz" pos="1152">
          <p15:clr>
            <a:srgbClr val="9AA0A6"/>
          </p15:clr>
        </p15:guide>
        <p15:guide id="21" orient="horz" pos="1440">
          <p15:clr>
            <a:srgbClr val="9AA0A6"/>
          </p15:clr>
        </p15:guide>
        <p15:guide id="22" orient="horz" pos="1728">
          <p15:clr>
            <a:srgbClr val="9AA0A6"/>
          </p15:clr>
        </p15:guide>
        <p15:guide id="23" orient="horz" pos="2016">
          <p15:clr>
            <a:srgbClr val="9AA0A6"/>
          </p15:clr>
        </p15:guide>
        <p15:guide id="24" orient="horz" pos="2304">
          <p15:clr>
            <a:srgbClr val="9AA0A6"/>
          </p15:clr>
        </p15:guide>
        <p15:guide id="25" orient="horz" pos="2592">
          <p15:clr>
            <a:srgbClr val="9AA0A6"/>
          </p15:clr>
        </p15:guide>
        <p15:guide id="26" orient="horz" pos="2880">
          <p15:clr>
            <a:srgbClr val="9AA0A6"/>
          </p15:clr>
        </p15:guide>
        <p15:guide id="27" orient="horz" pos="3168">
          <p15:clr>
            <a:srgbClr val="9AA0A6"/>
          </p15:clr>
        </p15:guide>
        <p15:guide id="28" pos="2304">
          <p15:clr>
            <a:srgbClr val="9AA0A6"/>
          </p15:clr>
        </p15:guide>
        <p15:guide id="29" pos="5184">
          <p15:clr>
            <a:srgbClr val="9AA0A6"/>
          </p15:clr>
        </p15:guide>
        <p15:guide id="30" pos="2880">
          <p15:clr>
            <a:srgbClr val="9AA0A6"/>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no speaker - subtitle">
  <p:cSld name="BLANK_3">
    <p:bg>
      <p:bgPr>
        <a:blipFill>
          <a:blip r:embed="rId2">
            <a:alphaModFix/>
          </a:blip>
          <a:stretch>
            <a:fillRect/>
          </a:stretch>
        </a:blipFill>
      </p:bgPr>
    </p:bg>
    <p:spTree>
      <p:nvGrpSpPr>
        <p:cNvPr id="196" name="Shape 196"/>
        <p:cNvGrpSpPr/>
        <p:nvPr/>
      </p:nvGrpSpPr>
      <p:grpSpPr>
        <a:xfrm>
          <a:off x="0" y="0"/>
          <a:ext cx="0" cy="0"/>
          <a:chOff x="0" y="0"/>
          <a:chExt cx="0" cy="0"/>
        </a:xfrm>
      </p:grpSpPr>
      <p:pic>
        <p:nvPicPr>
          <p:cNvPr id="197" name="Google Shape;197;p38"/>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198" name="Google Shape;198;p38"/>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199" name="Google Shape;199;p38"/>
          <p:cNvSpPr txBox="1"/>
          <p:nvPr>
            <p:ph type="title"/>
          </p:nvPr>
        </p:nvSpPr>
        <p:spPr>
          <a:xfrm>
            <a:off x="571720" y="1429850"/>
            <a:ext cx="53658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000"/>
              <a:buFont typeface="Helvetica Neue"/>
              <a:buNone/>
              <a:defRPr b="1" sz="40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None/>
              <a:defRPr b="1" sz="4000">
                <a:solidFill>
                  <a:srgbClr val="FFFFFF"/>
                </a:solidFill>
              </a:defRPr>
            </a:lvl2pPr>
            <a:lvl3pPr lvl="2" rtl="0">
              <a:spcBef>
                <a:spcPts val="0"/>
              </a:spcBef>
              <a:spcAft>
                <a:spcPts val="0"/>
              </a:spcAft>
              <a:buClr>
                <a:srgbClr val="FFFFFF"/>
              </a:buClr>
              <a:buSzPts val="4000"/>
              <a:buNone/>
              <a:defRPr b="1" sz="4000">
                <a:solidFill>
                  <a:srgbClr val="FFFFFF"/>
                </a:solidFill>
              </a:defRPr>
            </a:lvl3pPr>
            <a:lvl4pPr lvl="3" rtl="0">
              <a:spcBef>
                <a:spcPts val="0"/>
              </a:spcBef>
              <a:spcAft>
                <a:spcPts val="0"/>
              </a:spcAft>
              <a:buClr>
                <a:srgbClr val="FFFFFF"/>
              </a:buClr>
              <a:buSzPts val="4000"/>
              <a:buNone/>
              <a:defRPr b="1" sz="4000">
                <a:solidFill>
                  <a:srgbClr val="FFFFFF"/>
                </a:solidFill>
              </a:defRPr>
            </a:lvl4pPr>
            <a:lvl5pPr lvl="4" rtl="0">
              <a:spcBef>
                <a:spcPts val="0"/>
              </a:spcBef>
              <a:spcAft>
                <a:spcPts val="0"/>
              </a:spcAft>
              <a:buClr>
                <a:srgbClr val="FFFFFF"/>
              </a:buClr>
              <a:buSzPts val="4000"/>
              <a:buNone/>
              <a:defRPr b="1" sz="4000">
                <a:solidFill>
                  <a:srgbClr val="FFFFFF"/>
                </a:solidFill>
              </a:defRPr>
            </a:lvl5pPr>
            <a:lvl6pPr lvl="5" rtl="0">
              <a:spcBef>
                <a:spcPts val="0"/>
              </a:spcBef>
              <a:spcAft>
                <a:spcPts val="0"/>
              </a:spcAft>
              <a:buClr>
                <a:srgbClr val="FFFFFF"/>
              </a:buClr>
              <a:buSzPts val="4000"/>
              <a:buNone/>
              <a:defRPr b="1" sz="4000">
                <a:solidFill>
                  <a:srgbClr val="FFFFFF"/>
                </a:solidFill>
              </a:defRPr>
            </a:lvl6pPr>
            <a:lvl7pPr lvl="6" rtl="0">
              <a:spcBef>
                <a:spcPts val="0"/>
              </a:spcBef>
              <a:spcAft>
                <a:spcPts val="0"/>
              </a:spcAft>
              <a:buClr>
                <a:srgbClr val="FFFFFF"/>
              </a:buClr>
              <a:buSzPts val="4000"/>
              <a:buNone/>
              <a:defRPr b="1" sz="4000">
                <a:solidFill>
                  <a:srgbClr val="FFFFFF"/>
                </a:solidFill>
              </a:defRPr>
            </a:lvl7pPr>
            <a:lvl8pPr lvl="7" rtl="0">
              <a:spcBef>
                <a:spcPts val="0"/>
              </a:spcBef>
              <a:spcAft>
                <a:spcPts val="0"/>
              </a:spcAft>
              <a:buClr>
                <a:srgbClr val="FFFFFF"/>
              </a:buClr>
              <a:buSzPts val="4000"/>
              <a:buNone/>
              <a:defRPr b="1" sz="4000">
                <a:solidFill>
                  <a:srgbClr val="FFFFFF"/>
                </a:solidFill>
              </a:defRPr>
            </a:lvl8pPr>
            <a:lvl9pPr lvl="8" rtl="0">
              <a:spcBef>
                <a:spcPts val="0"/>
              </a:spcBef>
              <a:spcAft>
                <a:spcPts val="0"/>
              </a:spcAft>
              <a:buClr>
                <a:srgbClr val="FFFFFF"/>
              </a:buClr>
              <a:buSzPts val="4000"/>
              <a:buNone/>
              <a:defRPr b="1" sz="4000">
                <a:solidFill>
                  <a:srgbClr val="FFFFFF"/>
                </a:solidFill>
              </a:defRPr>
            </a:lvl9pPr>
          </a:lstStyle>
          <a:p/>
        </p:txBody>
      </p:sp>
      <p:sp>
        <p:nvSpPr>
          <p:cNvPr id="200" name="Google Shape;200;p38"/>
          <p:cNvSpPr txBox="1"/>
          <p:nvPr>
            <p:ph idx="1" type="subTitle"/>
          </p:nvPr>
        </p:nvSpPr>
        <p:spPr>
          <a:xfrm>
            <a:off x="598161" y="2799244"/>
            <a:ext cx="5029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000"/>
              <a:buFont typeface="Helvetica Neue Light"/>
              <a:buNone/>
              <a:defRPr sz="2000">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no speaker - eyebrow">
  <p:cSld name="BLANK_3_5">
    <p:bg>
      <p:bgPr>
        <a:blipFill>
          <a:blip r:embed="rId2">
            <a:alphaModFix/>
          </a:blip>
          <a:stretch>
            <a:fillRect/>
          </a:stretch>
        </a:blipFill>
      </p:bgPr>
    </p:bg>
    <p:spTree>
      <p:nvGrpSpPr>
        <p:cNvPr id="201" name="Shape 201"/>
        <p:cNvGrpSpPr/>
        <p:nvPr/>
      </p:nvGrpSpPr>
      <p:grpSpPr>
        <a:xfrm>
          <a:off x="0" y="0"/>
          <a:ext cx="0" cy="0"/>
          <a:chOff x="0" y="0"/>
          <a:chExt cx="0" cy="0"/>
        </a:xfrm>
      </p:grpSpPr>
      <p:pic>
        <p:nvPicPr>
          <p:cNvPr id="202" name="Google Shape;202;p39"/>
          <p:cNvPicPr preferRelativeResize="0"/>
          <p:nvPr/>
        </p:nvPicPr>
        <p:blipFill>
          <a:blip r:embed="rId3">
            <a:alphaModFix/>
          </a:blip>
          <a:stretch>
            <a:fillRect/>
          </a:stretch>
        </p:blipFill>
        <p:spPr>
          <a:xfrm>
            <a:off x="3" y="13913"/>
            <a:ext cx="9143981" cy="5143500"/>
          </a:xfrm>
          <a:prstGeom prst="rect">
            <a:avLst/>
          </a:prstGeom>
          <a:noFill/>
          <a:ln>
            <a:noFill/>
          </a:ln>
        </p:spPr>
      </p:pic>
      <p:pic>
        <p:nvPicPr>
          <p:cNvPr id="203" name="Google Shape;203;p39"/>
          <p:cNvPicPr preferRelativeResize="0"/>
          <p:nvPr/>
        </p:nvPicPr>
        <p:blipFill>
          <a:blip r:embed="rId4">
            <a:alphaModFix/>
          </a:blip>
          <a:stretch>
            <a:fillRect/>
          </a:stretch>
        </p:blipFill>
        <p:spPr>
          <a:xfrm>
            <a:off x="-6" y="13913"/>
            <a:ext cx="9144000" cy="5143500"/>
          </a:xfrm>
          <a:prstGeom prst="rect">
            <a:avLst/>
          </a:prstGeom>
          <a:noFill/>
          <a:ln>
            <a:noFill/>
          </a:ln>
        </p:spPr>
      </p:pic>
      <p:pic>
        <p:nvPicPr>
          <p:cNvPr id="204" name="Google Shape;204;p39"/>
          <p:cNvPicPr preferRelativeResize="0"/>
          <p:nvPr/>
        </p:nvPicPr>
        <p:blipFill>
          <a:blip r:embed="rId5">
            <a:alphaModFix/>
          </a:blip>
          <a:stretch>
            <a:fillRect/>
          </a:stretch>
        </p:blipFill>
        <p:spPr>
          <a:xfrm>
            <a:off x="-6" y="0"/>
            <a:ext cx="9144000" cy="5143500"/>
          </a:xfrm>
          <a:prstGeom prst="rect">
            <a:avLst/>
          </a:prstGeom>
          <a:noFill/>
          <a:ln>
            <a:noFill/>
          </a:ln>
        </p:spPr>
      </p:pic>
      <p:pic>
        <p:nvPicPr>
          <p:cNvPr id="205" name="Google Shape;205;p39"/>
          <p:cNvPicPr preferRelativeResize="0"/>
          <p:nvPr/>
        </p:nvPicPr>
        <p:blipFill rotWithShape="1">
          <a:blip r:embed="rId6">
            <a:alphaModFix/>
          </a:blip>
          <a:srcRect b="0" l="0" r="0" t="0"/>
          <a:stretch/>
        </p:blipFill>
        <p:spPr>
          <a:xfrm>
            <a:off x="296923" y="4655223"/>
            <a:ext cx="819599" cy="251599"/>
          </a:xfrm>
          <a:prstGeom prst="rect">
            <a:avLst/>
          </a:prstGeom>
          <a:noFill/>
          <a:ln>
            <a:noFill/>
          </a:ln>
        </p:spPr>
      </p:pic>
      <p:sp>
        <p:nvSpPr>
          <p:cNvPr id="206" name="Google Shape;206;p39"/>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07" name="Google Shape;207;p39"/>
          <p:cNvSpPr txBox="1"/>
          <p:nvPr>
            <p:ph type="title"/>
          </p:nvPr>
        </p:nvSpPr>
        <p:spPr>
          <a:xfrm>
            <a:off x="571720" y="1936938"/>
            <a:ext cx="52599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000"/>
              <a:buFont typeface="Helvetica Neue"/>
              <a:buNone/>
              <a:defRPr b="1" sz="40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None/>
              <a:defRPr b="1" sz="4000">
                <a:solidFill>
                  <a:srgbClr val="FFFFFF"/>
                </a:solidFill>
              </a:defRPr>
            </a:lvl2pPr>
            <a:lvl3pPr lvl="2" rtl="0">
              <a:spcBef>
                <a:spcPts val="0"/>
              </a:spcBef>
              <a:spcAft>
                <a:spcPts val="0"/>
              </a:spcAft>
              <a:buClr>
                <a:srgbClr val="FFFFFF"/>
              </a:buClr>
              <a:buSzPts val="4000"/>
              <a:buNone/>
              <a:defRPr b="1" sz="4000">
                <a:solidFill>
                  <a:srgbClr val="FFFFFF"/>
                </a:solidFill>
              </a:defRPr>
            </a:lvl3pPr>
            <a:lvl4pPr lvl="3" rtl="0">
              <a:spcBef>
                <a:spcPts val="0"/>
              </a:spcBef>
              <a:spcAft>
                <a:spcPts val="0"/>
              </a:spcAft>
              <a:buClr>
                <a:srgbClr val="FFFFFF"/>
              </a:buClr>
              <a:buSzPts val="4000"/>
              <a:buNone/>
              <a:defRPr b="1" sz="4000">
                <a:solidFill>
                  <a:srgbClr val="FFFFFF"/>
                </a:solidFill>
              </a:defRPr>
            </a:lvl4pPr>
            <a:lvl5pPr lvl="4" rtl="0">
              <a:spcBef>
                <a:spcPts val="0"/>
              </a:spcBef>
              <a:spcAft>
                <a:spcPts val="0"/>
              </a:spcAft>
              <a:buClr>
                <a:srgbClr val="FFFFFF"/>
              </a:buClr>
              <a:buSzPts val="4000"/>
              <a:buNone/>
              <a:defRPr b="1" sz="4000">
                <a:solidFill>
                  <a:srgbClr val="FFFFFF"/>
                </a:solidFill>
              </a:defRPr>
            </a:lvl5pPr>
            <a:lvl6pPr lvl="5" rtl="0">
              <a:spcBef>
                <a:spcPts val="0"/>
              </a:spcBef>
              <a:spcAft>
                <a:spcPts val="0"/>
              </a:spcAft>
              <a:buClr>
                <a:srgbClr val="FFFFFF"/>
              </a:buClr>
              <a:buSzPts val="4000"/>
              <a:buNone/>
              <a:defRPr b="1" sz="4000">
                <a:solidFill>
                  <a:srgbClr val="FFFFFF"/>
                </a:solidFill>
              </a:defRPr>
            </a:lvl6pPr>
            <a:lvl7pPr lvl="6" rtl="0">
              <a:spcBef>
                <a:spcPts val="0"/>
              </a:spcBef>
              <a:spcAft>
                <a:spcPts val="0"/>
              </a:spcAft>
              <a:buClr>
                <a:srgbClr val="FFFFFF"/>
              </a:buClr>
              <a:buSzPts val="4000"/>
              <a:buNone/>
              <a:defRPr b="1" sz="4000">
                <a:solidFill>
                  <a:srgbClr val="FFFFFF"/>
                </a:solidFill>
              </a:defRPr>
            </a:lvl7pPr>
            <a:lvl8pPr lvl="7" rtl="0">
              <a:spcBef>
                <a:spcPts val="0"/>
              </a:spcBef>
              <a:spcAft>
                <a:spcPts val="0"/>
              </a:spcAft>
              <a:buClr>
                <a:srgbClr val="FFFFFF"/>
              </a:buClr>
              <a:buSzPts val="4000"/>
              <a:buNone/>
              <a:defRPr b="1" sz="4000">
                <a:solidFill>
                  <a:srgbClr val="FFFFFF"/>
                </a:solidFill>
              </a:defRPr>
            </a:lvl8pPr>
            <a:lvl9pPr lvl="8" rtl="0">
              <a:spcBef>
                <a:spcPts val="0"/>
              </a:spcBef>
              <a:spcAft>
                <a:spcPts val="0"/>
              </a:spcAft>
              <a:buClr>
                <a:srgbClr val="FFFFFF"/>
              </a:buClr>
              <a:buSzPts val="4000"/>
              <a:buNone/>
              <a:defRPr b="1" sz="4000">
                <a:solidFill>
                  <a:srgbClr val="FFFFFF"/>
                </a:solidFill>
              </a:defRPr>
            </a:lvl9pPr>
          </a:lstStyle>
          <a:p/>
        </p:txBody>
      </p:sp>
      <p:sp>
        <p:nvSpPr>
          <p:cNvPr id="208" name="Google Shape;208;p39"/>
          <p:cNvSpPr txBox="1"/>
          <p:nvPr>
            <p:ph idx="1" type="subTitle"/>
          </p:nvPr>
        </p:nvSpPr>
        <p:spPr>
          <a:xfrm>
            <a:off x="606970" y="1491609"/>
            <a:ext cx="5029200" cy="358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700"/>
              <a:buNone/>
              <a:defRPr b="1" sz="1700">
                <a:solidFill>
                  <a:srgbClr val="FFFFFF"/>
                </a:solidFill>
              </a:defRPr>
            </a:lvl1pPr>
            <a:lvl2pPr lvl="1" rtl="0">
              <a:spcBef>
                <a:spcPts val="1600"/>
              </a:spcBef>
              <a:spcAft>
                <a:spcPts val="0"/>
              </a:spcAft>
              <a:buSzPts val="1300"/>
              <a:buNone/>
              <a:defRPr b="1" sz="1300"/>
            </a:lvl2pPr>
            <a:lvl3pPr lvl="2" rtl="0">
              <a:spcBef>
                <a:spcPts val="1600"/>
              </a:spcBef>
              <a:spcAft>
                <a:spcPts val="0"/>
              </a:spcAft>
              <a:buSzPts val="1300"/>
              <a:buNone/>
              <a:defRPr b="1" sz="1300"/>
            </a:lvl3pPr>
            <a:lvl4pPr lvl="3" rtl="0">
              <a:spcBef>
                <a:spcPts val="1600"/>
              </a:spcBef>
              <a:spcAft>
                <a:spcPts val="0"/>
              </a:spcAft>
              <a:buSzPts val="1300"/>
              <a:buNone/>
              <a:defRPr b="1" sz="1300"/>
            </a:lvl4pPr>
            <a:lvl5pPr lvl="4" rtl="0">
              <a:spcBef>
                <a:spcPts val="1600"/>
              </a:spcBef>
              <a:spcAft>
                <a:spcPts val="0"/>
              </a:spcAft>
              <a:buSzPts val="1300"/>
              <a:buNone/>
              <a:defRPr b="1" sz="1300"/>
            </a:lvl5pPr>
            <a:lvl6pPr lvl="5" rtl="0">
              <a:spcBef>
                <a:spcPts val="1600"/>
              </a:spcBef>
              <a:spcAft>
                <a:spcPts val="0"/>
              </a:spcAft>
              <a:buSzPts val="1300"/>
              <a:buNone/>
              <a:defRPr b="1" sz="1300"/>
            </a:lvl6pPr>
            <a:lvl7pPr lvl="6" rtl="0">
              <a:spcBef>
                <a:spcPts val="1600"/>
              </a:spcBef>
              <a:spcAft>
                <a:spcPts val="0"/>
              </a:spcAft>
              <a:buSzPts val="1300"/>
              <a:buNone/>
              <a:defRPr b="1" sz="1300"/>
            </a:lvl7pPr>
            <a:lvl8pPr lvl="7" rtl="0">
              <a:spcBef>
                <a:spcPts val="1600"/>
              </a:spcBef>
              <a:spcAft>
                <a:spcPts val="0"/>
              </a:spcAft>
              <a:buSzPts val="1300"/>
              <a:buNone/>
              <a:defRPr b="1" sz="1300"/>
            </a:lvl8pPr>
            <a:lvl9pPr lvl="8" rtl="0">
              <a:spcBef>
                <a:spcPts val="1600"/>
              </a:spcBef>
              <a:spcAft>
                <a:spcPts val="1600"/>
              </a:spcAft>
              <a:buSzPts val="1300"/>
              <a:buNone/>
              <a:defRPr b="1" sz="1300"/>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guide id="31" pos="187">
          <p15:clr>
            <a:srgbClr val="E46962"/>
          </p15:clr>
        </p15:guide>
        <p15:guide id="32" pos="255">
          <p15:clr>
            <a:srgbClr val="E46962"/>
          </p15:clr>
        </p15:guide>
        <p15:guide id="33" pos="373">
          <p15:clr>
            <a:srgbClr val="E46962"/>
          </p15:clr>
        </p15:guide>
        <p15:guide id="34" pos="5544">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1 Speaker">
  <p:cSld name="BLANK_3_4">
    <p:bg>
      <p:bgPr>
        <a:blipFill>
          <a:blip r:embed="rId2">
            <a:alphaModFix/>
          </a:blip>
          <a:stretch>
            <a:fillRect/>
          </a:stretch>
        </a:blipFill>
      </p:bgPr>
    </p:bg>
    <p:spTree>
      <p:nvGrpSpPr>
        <p:cNvPr id="209" name="Shape 209"/>
        <p:cNvGrpSpPr/>
        <p:nvPr/>
      </p:nvGrpSpPr>
      <p:grpSpPr>
        <a:xfrm>
          <a:off x="0" y="0"/>
          <a:ext cx="0" cy="0"/>
          <a:chOff x="0" y="0"/>
          <a:chExt cx="0" cy="0"/>
        </a:xfrm>
      </p:grpSpPr>
      <p:pic>
        <p:nvPicPr>
          <p:cNvPr id="210" name="Google Shape;210;p40"/>
          <p:cNvPicPr preferRelativeResize="0"/>
          <p:nvPr/>
        </p:nvPicPr>
        <p:blipFill>
          <a:blip r:embed="rId3">
            <a:alphaModFix/>
          </a:blip>
          <a:stretch>
            <a:fillRect/>
          </a:stretch>
        </p:blipFill>
        <p:spPr>
          <a:xfrm>
            <a:off x="-6" y="13913"/>
            <a:ext cx="9144000" cy="5143500"/>
          </a:xfrm>
          <a:prstGeom prst="rect">
            <a:avLst/>
          </a:prstGeom>
          <a:noFill/>
          <a:ln>
            <a:noFill/>
          </a:ln>
        </p:spPr>
      </p:pic>
      <p:pic>
        <p:nvPicPr>
          <p:cNvPr id="211" name="Google Shape;211;p40"/>
          <p:cNvPicPr preferRelativeResize="0"/>
          <p:nvPr/>
        </p:nvPicPr>
        <p:blipFill>
          <a:blip r:embed="rId4">
            <a:alphaModFix/>
          </a:blip>
          <a:stretch>
            <a:fillRect/>
          </a:stretch>
        </p:blipFill>
        <p:spPr>
          <a:xfrm>
            <a:off x="-6" y="0"/>
            <a:ext cx="9144000" cy="5143500"/>
          </a:xfrm>
          <a:prstGeom prst="rect">
            <a:avLst/>
          </a:prstGeom>
          <a:noFill/>
          <a:ln>
            <a:noFill/>
          </a:ln>
        </p:spPr>
      </p:pic>
      <p:pic>
        <p:nvPicPr>
          <p:cNvPr id="212" name="Google Shape;212;p40"/>
          <p:cNvPicPr preferRelativeResize="0"/>
          <p:nvPr/>
        </p:nvPicPr>
        <p:blipFill rotWithShape="1">
          <a:blip r:embed="rId5">
            <a:alphaModFix/>
          </a:blip>
          <a:srcRect b="0" l="0" r="0" t="0"/>
          <a:stretch/>
        </p:blipFill>
        <p:spPr>
          <a:xfrm>
            <a:off x="296923" y="4655223"/>
            <a:ext cx="819599" cy="251599"/>
          </a:xfrm>
          <a:prstGeom prst="rect">
            <a:avLst/>
          </a:prstGeom>
          <a:noFill/>
          <a:ln>
            <a:noFill/>
          </a:ln>
        </p:spPr>
      </p:pic>
      <p:sp>
        <p:nvSpPr>
          <p:cNvPr id="213" name="Google Shape;213;p40"/>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14" name="Google Shape;214;p40"/>
          <p:cNvSpPr txBox="1"/>
          <p:nvPr>
            <p:ph type="title"/>
          </p:nvPr>
        </p:nvSpPr>
        <p:spPr>
          <a:xfrm>
            <a:off x="571720" y="457200"/>
            <a:ext cx="4722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3500"/>
              <a:buFont typeface="Helvetica Neue"/>
              <a:buNone/>
              <a:defRPr b="1" sz="35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15" name="Google Shape;215;p40"/>
          <p:cNvSpPr txBox="1"/>
          <p:nvPr>
            <p:ph idx="1" type="subTitle"/>
          </p:nvPr>
        </p:nvSpPr>
        <p:spPr>
          <a:xfrm>
            <a:off x="571725" y="1916900"/>
            <a:ext cx="4863600" cy="413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800"/>
              <a:buFont typeface="Helvetica Neue Light"/>
              <a:buNone/>
              <a:defRPr>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2 Speakers">
  <p:cSld name="BLANK_3_3">
    <p:bg>
      <p:bgPr>
        <a:blipFill>
          <a:blip r:embed="rId2">
            <a:alphaModFix/>
          </a:blip>
          <a:stretch>
            <a:fillRect/>
          </a:stretch>
        </a:blipFill>
      </p:bgPr>
    </p:bg>
    <p:spTree>
      <p:nvGrpSpPr>
        <p:cNvPr id="216" name="Shape 216"/>
        <p:cNvGrpSpPr/>
        <p:nvPr/>
      </p:nvGrpSpPr>
      <p:grpSpPr>
        <a:xfrm>
          <a:off x="0" y="0"/>
          <a:ext cx="0" cy="0"/>
          <a:chOff x="0" y="0"/>
          <a:chExt cx="0" cy="0"/>
        </a:xfrm>
      </p:grpSpPr>
      <p:pic>
        <p:nvPicPr>
          <p:cNvPr id="217" name="Google Shape;217;p41"/>
          <p:cNvPicPr preferRelativeResize="0"/>
          <p:nvPr/>
        </p:nvPicPr>
        <p:blipFill>
          <a:blip r:embed="rId3">
            <a:alphaModFix/>
          </a:blip>
          <a:stretch>
            <a:fillRect/>
          </a:stretch>
        </p:blipFill>
        <p:spPr>
          <a:xfrm>
            <a:off x="3" y="13913"/>
            <a:ext cx="9143981" cy="5143500"/>
          </a:xfrm>
          <a:prstGeom prst="rect">
            <a:avLst/>
          </a:prstGeom>
          <a:noFill/>
          <a:ln>
            <a:noFill/>
          </a:ln>
        </p:spPr>
      </p:pic>
      <p:pic>
        <p:nvPicPr>
          <p:cNvPr id="218" name="Google Shape;218;p41"/>
          <p:cNvPicPr preferRelativeResize="0"/>
          <p:nvPr/>
        </p:nvPicPr>
        <p:blipFill>
          <a:blip r:embed="rId4">
            <a:alphaModFix/>
          </a:blip>
          <a:stretch>
            <a:fillRect/>
          </a:stretch>
        </p:blipFill>
        <p:spPr>
          <a:xfrm>
            <a:off x="-6" y="13913"/>
            <a:ext cx="9144000" cy="5143500"/>
          </a:xfrm>
          <a:prstGeom prst="rect">
            <a:avLst/>
          </a:prstGeom>
          <a:noFill/>
          <a:ln>
            <a:noFill/>
          </a:ln>
        </p:spPr>
      </p:pic>
      <p:pic>
        <p:nvPicPr>
          <p:cNvPr id="219" name="Google Shape;219;p41"/>
          <p:cNvPicPr preferRelativeResize="0"/>
          <p:nvPr/>
        </p:nvPicPr>
        <p:blipFill>
          <a:blip r:embed="rId5">
            <a:alphaModFix/>
          </a:blip>
          <a:stretch>
            <a:fillRect/>
          </a:stretch>
        </p:blipFill>
        <p:spPr>
          <a:xfrm>
            <a:off x="-6" y="0"/>
            <a:ext cx="9144000" cy="5143500"/>
          </a:xfrm>
          <a:prstGeom prst="rect">
            <a:avLst/>
          </a:prstGeom>
          <a:noFill/>
          <a:ln>
            <a:noFill/>
          </a:ln>
        </p:spPr>
      </p:pic>
      <p:sp>
        <p:nvSpPr>
          <p:cNvPr id="220" name="Google Shape;220;p41"/>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221" name="Google Shape;221;p41"/>
          <p:cNvPicPr preferRelativeResize="0"/>
          <p:nvPr/>
        </p:nvPicPr>
        <p:blipFill rotWithShape="1">
          <a:blip r:embed="rId6">
            <a:alphaModFix/>
          </a:blip>
          <a:srcRect b="0" l="0" r="0" t="0"/>
          <a:stretch/>
        </p:blipFill>
        <p:spPr>
          <a:xfrm>
            <a:off x="296923" y="4655223"/>
            <a:ext cx="819599" cy="251599"/>
          </a:xfrm>
          <a:prstGeom prst="rect">
            <a:avLst/>
          </a:prstGeom>
          <a:noFill/>
          <a:ln>
            <a:noFill/>
          </a:ln>
        </p:spPr>
      </p:pic>
      <p:sp>
        <p:nvSpPr>
          <p:cNvPr id="222" name="Google Shape;222;p41"/>
          <p:cNvSpPr txBox="1"/>
          <p:nvPr>
            <p:ph idx="1" type="subTitle"/>
          </p:nvPr>
        </p:nvSpPr>
        <p:spPr>
          <a:xfrm>
            <a:off x="1506346" y="3429000"/>
            <a:ext cx="30129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23" name="Google Shape;223;p41"/>
          <p:cNvSpPr txBox="1"/>
          <p:nvPr>
            <p:ph idx="2" type="subTitle"/>
          </p:nvPr>
        </p:nvSpPr>
        <p:spPr>
          <a:xfrm>
            <a:off x="1506346" y="2514600"/>
            <a:ext cx="30129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24" name="Google Shape;224;p41"/>
          <p:cNvSpPr txBox="1"/>
          <p:nvPr>
            <p:ph type="title"/>
          </p:nvPr>
        </p:nvSpPr>
        <p:spPr>
          <a:xfrm>
            <a:off x="571720" y="457200"/>
            <a:ext cx="4722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3500"/>
              <a:buFont typeface="Helvetica Neue"/>
              <a:buNone/>
              <a:defRPr b="1" sz="35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25" name="Google Shape;225;p41"/>
          <p:cNvSpPr txBox="1"/>
          <p:nvPr>
            <p:ph idx="3" type="subTitle"/>
          </p:nvPr>
        </p:nvSpPr>
        <p:spPr>
          <a:xfrm>
            <a:off x="571725" y="1916900"/>
            <a:ext cx="4863600" cy="3693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800"/>
              <a:buFont typeface="Helvetica Neue Light"/>
              <a:buNone/>
              <a:defRPr>
                <a:solidFill>
                  <a:srgbClr val="FFFFFF"/>
                </a:solidFill>
                <a:latin typeface="Helvetica Neue Light"/>
                <a:ea typeface="Helvetica Neue Light"/>
                <a:cs typeface="Helvetica Neue Light"/>
                <a:sym typeface="Helvetica Neue Light"/>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26" name="Google Shape;226;p41"/>
          <p:cNvSpPr/>
          <p:nvPr>
            <p:ph idx="4" type="pic"/>
          </p:nvPr>
        </p:nvSpPr>
        <p:spPr>
          <a:xfrm>
            <a:off x="614300" y="2547250"/>
            <a:ext cx="612600" cy="612600"/>
          </a:xfrm>
          <a:prstGeom prst="snip2DiagRect">
            <a:avLst>
              <a:gd fmla="val 0" name="adj1"/>
              <a:gd fmla="val 16667" name="adj2"/>
            </a:avLst>
          </a:prstGeom>
          <a:noFill/>
          <a:ln>
            <a:noFill/>
          </a:ln>
        </p:spPr>
      </p:sp>
      <p:sp>
        <p:nvSpPr>
          <p:cNvPr id="227" name="Google Shape;227;p41"/>
          <p:cNvSpPr/>
          <p:nvPr>
            <p:ph idx="5" type="pic"/>
          </p:nvPr>
        </p:nvSpPr>
        <p:spPr>
          <a:xfrm>
            <a:off x="614300" y="3421050"/>
            <a:ext cx="612600" cy="612600"/>
          </a:xfrm>
          <a:prstGeom prst="snip2DiagRect">
            <a:avLst>
              <a:gd fmla="val 0" name="adj1"/>
              <a:gd fmla="val 16667" name="adj2"/>
            </a:avLst>
          </a:prstGeom>
          <a:noFill/>
          <a:ln>
            <a:noFill/>
          </a:ln>
        </p:spPr>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3 Speakers">
  <p:cSld name="BLANK_3_3_1">
    <p:bg>
      <p:bgPr>
        <a:blipFill>
          <a:blip r:embed="rId2">
            <a:alphaModFix/>
          </a:blip>
          <a:stretch>
            <a:fillRect/>
          </a:stretch>
        </a:blipFill>
      </p:bgPr>
    </p:bg>
    <p:spTree>
      <p:nvGrpSpPr>
        <p:cNvPr id="228" name="Shape 228"/>
        <p:cNvGrpSpPr/>
        <p:nvPr/>
      </p:nvGrpSpPr>
      <p:grpSpPr>
        <a:xfrm>
          <a:off x="0" y="0"/>
          <a:ext cx="0" cy="0"/>
          <a:chOff x="0" y="0"/>
          <a:chExt cx="0" cy="0"/>
        </a:xfrm>
      </p:grpSpPr>
      <p:pic>
        <p:nvPicPr>
          <p:cNvPr id="229" name="Google Shape;229;p42"/>
          <p:cNvPicPr preferRelativeResize="0"/>
          <p:nvPr/>
        </p:nvPicPr>
        <p:blipFill>
          <a:blip r:embed="rId3">
            <a:alphaModFix/>
          </a:blip>
          <a:stretch>
            <a:fillRect/>
          </a:stretch>
        </p:blipFill>
        <p:spPr>
          <a:xfrm>
            <a:off x="3" y="13913"/>
            <a:ext cx="9143981" cy="5143500"/>
          </a:xfrm>
          <a:prstGeom prst="rect">
            <a:avLst/>
          </a:prstGeom>
          <a:noFill/>
          <a:ln>
            <a:noFill/>
          </a:ln>
        </p:spPr>
      </p:pic>
      <p:pic>
        <p:nvPicPr>
          <p:cNvPr id="230" name="Google Shape;230;p42"/>
          <p:cNvPicPr preferRelativeResize="0"/>
          <p:nvPr/>
        </p:nvPicPr>
        <p:blipFill>
          <a:blip r:embed="rId4">
            <a:alphaModFix/>
          </a:blip>
          <a:stretch>
            <a:fillRect/>
          </a:stretch>
        </p:blipFill>
        <p:spPr>
          <a:xfrm>
            <a:off x="-6" y="13913"/>
            <a:ext cx="9144000" cy="5143500"/>
          </a:xfrm>
          <a:prstGeom prst="rect">
            <a:avLst/>
          </a:prstGeom>
          <a:noFill/>
          <a:ln>
            <a:noFill/>
          </a:ln>
        </p:spPr>
      </p:pic>
      <p:pic>
        <p:nvPicPr>
          <p:cNvPr id="231" name="Google Shape;231;p42"/>
          <p:cNvPicPr preferRelativeResize="0"/>
          <p:nvPr/>
        </p:nvPicPr>
        <p:blipFill>
          <a:blip r:embed="rId5">
            <a:alphaModFix/>
          </a:blip>
          <a:stretch>
            <a:fillRect/>
          </a:stretch>
        </p:blipFill>
        <p:spPr>
          <a:xfrm>
            <a:off x="-6" y="0"/>
            <a:ext cx="9144000" cy="5143500"/>
          </a:xfrm>
          <a:prstGeom prst="rect">
            <a:avLst/>
          </a:prstGeom>
          <a:noFill/>
          <a:ln>
            <a:noFill/>
          </a:ln>
        </p:spPr>
      </p:pic>
      <p:sp>
        <p:nvSpPr>
          <p:cNvPr id="232" name="Google Shape;232;p42"/>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233" name="Google Shape;233;p42"/>
          <p:cNvPicPr preferRelativeResize="0"/>
          <p:nvPr/>
        </p:nvPicPr>
        <p:blipFill rotWithShape="1">
          <a:blip r:embed="rId6">
            <a:alphaModFix/>
          </a:blip>
          <a:srcRect b="0" l="0" r="0" t="0"/>
          <a:stretch/>
        </p:blipFill>
        <p:spPr>
          <a:xfrm>
            <a:off x="296923" y="4655223"/>
            <a:ext cx="819599" cy="251599"/>
          </a:xfrm>
          <a:prstGeom prst="rect">
            <a:avLst/>
          </a:prstGeom>
          <a:noFill/>
          <a:ln>
            <a:noFill/>
          </a:ln>
        </p:spPr>
      </p:pic>
      <p:sp>
        <p:nvSpPr>
          <p:cNvPr id="234" name="Google Shape;234;p42"/>
          <p:cNvSpPr txBox="1"/>
          <p:nvPr>
            <p:ph idx="1" type="subTitle"/>
          </p:nvPr>
        </p:nvSpPr>
        <p:spPr>
          <a:xfrm>
            <a:off x="1395850" y="3692905"/>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Clr>
                <a:schemeClr val="lt1"/>
              </a:buClr>
              <a:buSzPts val="1000"/>
              <a:buNone/>
              <a:defRPr sz="1000">
                <a:solidFill>
                  <a:schemeClr val="lt1"/>
                </a:solidFill>
              </a:defRPr>
            </a:lvl2pPr>
            <a:lvl3pPr lvl="2" rtl="0">
              <a:lnSpc>
                <a:spcPct val="100000"/>
              </a:lnSpc>
              <a:spcBef>
                <a:spcPts val="0"/>
              </a:spcBef>
              <a:spcAft>
                <a:spcPts val="0"/>
              </a:spcAft>
              <a:buClr>
                <a:schemeClr val="lt1"/>
              </a:buClr>
              <a:buSzPts val="1000"/>
              <a:buNone/>
              <a:defRPr sz="1000">
                <a:solidFill>
                  <a:schemeClr val="lt1"/>
                </a:solidFill>
              </a:defRPr>
            </a:lvl3pPr>
            <a:lvl4pPr lvl="3" rtl="0">
              <a:lnSpc>
                <a:spcPct val="100000"/>
              </a:lnSpc>
              <a:spcBef>
                <a:spcPts val="0"/>
              </a:spcBef>
              <a:spcAft>
                <a:spcPts val="0"/>
              </a:spcAft>
              <a:buClr>
                <a:schemeClr val="lt1"/>
              </a:buClr>
              <a:buSzPts val="1000"/>
              <a:buNone/>
              <a:defRPr sz="1000">
                <a:solidFill>
                  <a:schemeClr val="lt1"/>
                </a:solidFill>
              </a:defRPr>
            </a:lvl4pPr>
            <a:lvl5pPr lvl="4" rtl="0">
              <a:lnSpc>
                <a:spcPct val="100000"/>
              </a:lnSpc>
              <a:spcBef>
                <a:spcPts val="0"/>
              </a:spcBef>
              <a:spcAft>
                <a:spcPts val="0"/>
              </a:spcAft>
              <a:buClr>
                <a:schemeClr val="lt1"/>
              </a:buClr>
              <a:buSzPts val="1000"/>
              <a:buNone/>
              <a:defRPr sz="1000">
                <a:solidFill>
                  <a:schemeClr val="lt1"/>
                </a:solidFill>
              </a:defRPr>
            </a:lvl5pPr>
            <a:lvl6pPr lvl="5" rtl="0">
              <a:lnSpc>
                <a:spcPct val="100000"/>
              </a:lnSpc>
              <a:spcBef>
                <a:spcPts val="0"/>
              </a:spcBef>
              <a:spcAft>
                <a:spcPts val="0"/>
              </a:spcAft>
              <a:buClr>
                <a:schemeClr val="lt1"/>
              </a:buClr>
              <a:buSzPts val="1000"/>
              <a:buNone/>
              <a:defRPr sz="1000">
                <a:solidFill>
                  <a:schemeClr val="lt1"/>
                </a:solidFill>
              </a:defRPr>
            </a:lvl6pPr>
            <a:lvl7pPr lvl="6" rtl="0">
              <a:lnSpc>
                <a:spcPct val="100000"/>
              </a:lnSpc>
              <a:spcBef>
                <a:spcPts val="0"/>
              </a:spcBef>
              <a:spcAft>
                <a:spcPts val="0"/>
              </a:spcAft>
              <a:buClr>
                <a:schemeClr val="lt1"/>
              </a:buClr>
              <a:buSzPts val="1000"/>
              <a:buNone/>
              <a:defRPr sz="1000">
                <a:solidFill>
                  <a:schemeClr val="lt1"/>
                </a:solidFill>
              </a:defRPr>
            </a:lvl7pPr>
            <a:lvl8pPr lvl="7" rtl="0">
              <a:lnSpc>
                <a:spcPct val="100000"/>
              </a:lnSpc>
              <a:spcBef>
                <a:spcPts val="0"/>
              </a:spcBef>
              <a:spcAft>
                <a:spcPts val="0"/>
              </a:spcAft>
              <a:buClr>
                <a:schemeClr val="lt1"/>
              </a:buClr>
              <a:buSzPts val="1000"/>
              <a:buNone/>
              <a:defRPr sz="1000">
                <a:solidFill>
                  <a:schemeClr val="lt1"/>
                </a:solidFill>
              </a:defRPr>
            </a:lvl8pPr>
            <a:lvl9pPr lvl="8" rtl="0">
              <a:lnSpc>
                <a:spcPct val="100000"/>
              </a:lnSpc>
              <a:spcBef>
                <a:spcPts val="0"/>
              </a:spcBef>
              <a:spcAft>
                <a:spcPts val="0"/>
              </a:spcAft>
              <a:buClr>
                <a:schemeClr val="lt1"/>
              </a:buClr>
              <a:buSzPts val="1000"/>
              <a:buNone/>
              <a:defRPr sz="1000">
                <a:solidFill>
                  <a:schemeClr val="lt1"/>
                </a:solidFill>
              </a:defRPr>
            </a:lvl9pPr>
          </a:lstStyle>
          <a:p/>
        </p:txBody>
      </p:sp>
      <p:sp>
        <p:nvSpPr>
          <p:cNvPr id="235" name="Google Shape;235;p42"/>
          <p:cNvSpPr txBox="1"/>
          <p:nvPr>
            <p:ph idx="2" type="subTitle"/>
          </p:nvPr>
        </p:nvSpPr>
        <p:spPr>
          <a:xfrm>
            <a:off x="1395850" y="2057400"/>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36" name="Google Shape;236;p42"/>
          <p:cNvSpPr txBox="1"/>
          <p:nvPr>
            <p:ph idx="3" type="subTitle"/>
          </p:nvPr>
        </p:nvSpPr>
        <p:spPr>
          <a:xfrm>
            <a:off x="1395850" y="2892805"/>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Clr>
                <a:schemeClr val="lt1"/>
              </a:buClr>
              <a:buSzPts val="1000"/>
              <a:buNone/>
              <a:defRPr sz="1000">
                <a:solidFill>
                  <a:schemeClr val="lt1"/>
                </a:solidFill>
              </a:defRPr>
            </a:lvl2pPr>
            <a:lvl3pPr lvl="2" rtl="0">
              <a:lnSpc>
                <a:spcPct val="100000"/>
              </a:lnSpc>
              <a:spcBef>
                <a:spcPts val="0"/>
              </a:spcBef>
              <a:spcAft>
                <a:spcPts val="0"/>
              </a:spcAft>
              <a:buClr>
                <a:schemeClr val="lt1"/>
              </a:buClr>
              <a:buSzPts val="1000"/>
              <a:buNone/>
              <a:defRPr sz="1000">
                <a:solidFill>
                  <a:schemeClr val="lt1"/>
                </a:solidFill>
              </a:defRPr>
            </a:lvl3pPr>
            <a:lvl4pPr lvl="3" rtl="0">
              <a:lnSpc>
                <a:spcPct val="100000"/>
              </a:lnSpc>
              <a:spcBef>
                <a:spcPts val="0"/>
              </a:spcBef>
              <a:spcAft>
                <a:spcPts val="0"/>
              </a:spcAft>
              <a:buClr>
                <a:schemeClr val="lt1"/>
              </a:buClr>
              <a:buSzPts val="1000"/>
              <a:buNone/>
              <a:defRPr sz="1000">
                <a:solidFill>
                  <a:schemeClr val="lt1"/>
                </a:solidFill>
              </a:defRPr>
            </a:lvl4pPr>
            <a:lvl5pPr lvl="4" rtl="0">
              <a:lnSpc>
                <a:spcPct val="100000"/>
              </a:lnSpc>
              <a:spcBef>
                <a:spcPts val="0"/>
              </a:spcBef>
              <a:spcAft>
                <a:spcPts val="0"/>
              </a:spcAft>
              <a:buClr>
                <a:schemeClr val="lt1"/>
              </a:buClr>
              <a:buSzPts val="1000"/>
              <a:buNone/>
              <a:defRPr sz="1000">
                <a:solidFill>
                  <a:schemeClr val="lt1"/>
                </a:solidFill>
              </a:defRPr>
            </a:lvl5pPr>
            <a:lvl6pPr lvl="5" rtl="0">
              <a:lnSpc>
                <a:spcPct val="100000"/>
              </a:lnSpc>
              <a:spcBef>
                <a:spcPts val="0"/>
              </a:spcBef>
              <a:spcAft>
                <a:spcPts val="0"/>
              </a:spcAft>
              <a:buClr>
                <a:schemeClr val="lt1"/>
              </a:buClr>
              <a:buSzPts val="1000"/>
              <a:buNone/>
              <a:defRPr sz="1000">
                <a:solidFill>
                  <a:schemeClr val="lt1"/>
                </a:solidFill>
              </a:defRPr>
            </a:lvl6pPr>
            <a:lvl7pPr lvl="6" rtl="0">
              <a:lnSpc>
                <a:spcPct val="100000"/>
              </a:lnSpc>
              <a:spcBef>
                <a:spcPts val="0"/>
              </a:spcBef>
              <a:spcAft>
                <a:spcPts val="0"/>
              </a:spcAft>
              <a:buClr>
                <a:schemeClr val="lt1"/>
              </a:buClr>
              <a:buSzPts val="1000"/>
              <a:buNone/>
              <a:defRPr sz="1000">
                <a:solidFill>
                  <a:schemeClr val="lt1"/>
                </a:solidFill>
              </a:defRPr>
            </a:lvl7pPr>
            <a:lvl8pPr lvl="7" rtl="0">
              <a:lnSpc>
                <a:spcPct val="100000"/>
              </a:lnSpc>
              <a:spcBef>
                <a:spcPts val="0"/>
              </a:spcBef>
              <a:spcAft>
                <a:spcPts val="0"/>
              </a:spcAft>
              <a:buClr>
                <a:schemeClr val="lt1"/>
              </a:buClr>
              <a:buSzPts val="1000"/>
              <a:buNone/>
              <a:defRPr sz="1000">
                <a:solidFill>
                  <a:schemeClr val="lt1"/>
                </a:solidFill>
              </a:defRPr>
            </a:lvl8pPr>
            <a:lvl9pPr lvl="8" rtl="0">
              <a:lnSpc>
                <a:spcPct val="100000"/>
              </a:lnSpc>
              <a:spcBef>
                <a:spcPts val="0"/>
              </a:spcBef>
              <a:spcAft>
                <a:spcPts val="0"/>
              </a:spcAft>
              <a:buClr>
                <a:schemeClr val="lt1"/>
              </a:buClr>
              <a:buSzPts val="1000"/>
              <a:buNone/>
              <a:defRPr sz="1000">
                <a:solidFill>
                  <a:schemeClr val="lt1"/>
                </a:solidFill>
              </a:defRPr>
            </a:lvl9pPr>
          </a:lstStyle>
          <a:p/>
        </p:txBody>
      </p:sp>
      <p:sp>
        <p:nvSpPr>
          <p:cNvPr id="237" name="Google Shape;237;p42"/>
          <p:cNvSpPr txBox="1"/>
          <p:nvPr>
            <p:ph type="title"/>
          </p:nvPr>
        </p:nvSpPr>
        <p:spPr>
          <a:xfrm>
            <a:off x="571727" y="457200"/>
            <a:ext cx="64854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3500"/>
              <a:buFont typeface="Helvetica Neue"/>
              <a:buNone/>
              <a:defRPr b="1" sz="35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38" name="Google Shape;238;p42"/>
          <p:cNvSpPr txBox="1"/>
          <p:nvPr>
            <p:ph idx="4" type="subTitle"/>
          </p:nvPr>
        </p:nvSpPr>
        <p:spPr>
          <a:xfrm>
            <a:off x="571725" y="1202525"/>
            <a:ext cx="6485400" cy="3978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800"/>
              <a:buFont typeface="Helvetica Neue Light"/>
              <a:buNone/>
              <a:defRPr>
                <a:solidFill>
                  <a:srgbClr val="FFFFFF"/>
                </a:solidFill>
                <a:latin typeface="Helvetica Neue Light"/>
                <a:ea typeface="Helvetica Neue Light"/>
                <a:cs typeface="Helvetica Neue Light"/>
                <a:sym typeface="Helvetica Neue Light"/>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9" name="Google Shape;239;p42"/>
          <p:cNvSpPr/>
          <p:nvPr>
            <p:ph idx="5" type="pic"/>
          </p:nvPr>
        </p:nvSpPr>
        <p:spPr>
          <a:xfrm>
            <a:off x="613850" y="2057400"/>
            <a:ext cx="685800" cy="685800"/>
          </a:xfrm>
          <a:prstGeom prst="snip2DiagRect">
            <a:avLst>
              <a:gd fmla="val 0" name="adj1"/>
              <a:gd fmla="val 16667" name="adj2"/>
            </a:avLst>
          </a:prstGeom>
          <a:noFill/>
          <a:ln>
            <a:noFill/>
          </a:ln>
        </p:spPr>
      </p:sp>
      <p:sp>
        <p:nvSpPr>
          <p:cNvPr id="240" name="Google Shape;240;p42"/>
          <p:cNvSpPr/>
          <p:nvPr>
            <p:ph idx="6" type="pic"/>
          </p:nvPr>
        </p:nvSpPr>
        <p:spPr>
          <a:xfrm>
            <a:off x="613850" y="2857500"/>
            <a:ext cx="685800" cy="685800"/>
          </a:xfrm>
          <a:prstGeom prst="snip2DiagRect">
            <a:avLst>
              <a:gd fmla="val 0" name="adj1"/>
              <a:gd fmla="val 16667" name="adj2"/>
            </a:avLst>
          </a:prstGeom>
          <a:noFill/>
          <a:ln>
            <a:noFill/>
          </a:ln>
        </p:spPr>
      </p:sp>
      <p:sp>
        <p:nvSpPr>
          <p:cNvPr id="241" name="Google Shape;241;p42"/>
          <p:cNvSpPr/>
          <p:nvPr>
            <p:ph idx="7" type="pic"/>
          </p:nvPr>
        </p:nvSpPr>
        <p:spPr>
          <a:xfrm>
            <a:off x="613850" y="3657600"/>
            <a:ext cx="685800" cy="685800"/>
          </a:xfrm>
          <a:prstGeom prst="snip2DiagRect">
            <a:avLst>
              <a:gd fmla="val 0" name="adj1"/>
              <a:gd fmla="val 16667" name="adj2"/>
            </a:avLst>
          </a:prstGeom>
          <a:noFill/>
          <a:ln>
            <a:noFill/>
          </a:ln>
        </p:spPr>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4 Speakers">
  <p:cSld name="BLANK_3_3_1_2">
    <p:bg>
      <p:bgPr>
        <a:blipFill>
          <a:blip r:embed="rId2">
            <a:alphaModFix/>
          </a:blip>
          <a:stretch>
            <a:fillRect/>
          </a:stretch>
        </a:blipFill>
      </p:bgPr>
    </p:bg>
    <p:spTree>
      <p:nvGrpSpPr>
        <p:cNvPr id="242" name="Shape 242"/>
        <p:cNvGrpSpPr/>
        <p:nvPr/>
      </p:nvGrpSpPr>
      <p:grpSpPr>
        <a:xfrm>
          <a:off x="0" y="0"/>
          <a:ext cx="0" cy="0"/>
          <a:chOff x="0" y="0"/>
          <a:chExt cx="0" cy="0"/>
        </a:xfrm>
      </p:grpSpPr>
      <p:pic>
        <p:nvPicPr>
          <p:cNvPr id="243" name="Google Shape;243;p43"/>
          <p:cNvPicPr preferRelativeResize="0"/>
          <p:nvPr/>
        </p:nvPicPr>
        <p:blipFill>
          <a:blip r:embed="rId3">
            <a:alphaModFix/>
          </a:blip>
          <a:stretch>
            <a:fillRect/>
          </a:stretch>
        </p:blipFill>
        <p:spPr>
          <a:xfrm>
            <a:off x="3" y="13913"/>
            <a:ext cx="9143981" cy="5143500"/>
          </a:xfrm>
          <a:prstGeom prst="rect">
            <a:avLst/>
          </a:prstGeom>
          <a:noFill/>
          <a:ln>
            <a:noFill/>
          </a:ln>
        </p:spPr>
      </p:pic>
      <p:pic>
        <p:nvPicPr>
          <p:cNvPr id="244" name="Google Shape;244;p43"/>
          <p:cNvPicPr preferRelativeResize="0"/>
          <p:nvPr/>
        </p:nvPicPr>
        <p:blipFill>
          <a:blip r:embed="rId4">
            <a:alphaModFix/>
          </a:blip>
          <a:stretch>
            <a:fillRect/>
          </a:stretch>
        </p:blipFill>
        <p:spPr>
          <a:xfrm>
            <a:off x="-6" y="13913"/>
            <a:ext cx="9144000" cy="5143500"/>
          </a:xfrm>
          <a:prstGeom prst="rect">
            <a:avLst/>
          </a:prstGeom>
          <a:noFill/>
          <a:ln>
            <a:noFill/>
          </a:ln>
        </p:spPr>
      </p:pic>
      <p:pic>
        <p:nvPicPr>
          <p:cNvPr id="245" name="Google Shape;245;p43"/>
          <p:cNvPicPr preferRelativeResize="0"/>
          <p:nvPr/>
        </p:nvPicPr>
        <p:blipFill>
          <a:blip r:embed="rId5">
            <a:alphaModFix/>
          </a:blip>
          <a:stretch>
            <a:fillRect/>
          </a:stretch>
        </p:blipFill>
        <p:spPr>
          <a:xfrm>
            <a:off x="-6" y="0"/>
            <a:ext cx="9144000" cy="5143500"/>
          </a:xfrm>
          <a:prstGeom prst="rect">
            <a:avLst/>
          </a:prstGeom>
          <a:noFill/>
          <a:ln>
            <a:noFill/>
          </a:ln>
        </p:spPr>
      </p:pic>
      <p:sp>
        <p:nvSpPr>
          <p:cNvPr id="246" name="Google Shape;246;p43"/>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47" name="Google Shape;247;p43"/>
          <p:cNvSpPr txBox="1"/>
          <p:nvPr>
            <p:ph idx="1" type="subTitle"/>
          </p:nvPr>
        </p:nvSpPr>
        <p:spPr>
          <a:xfrm>
            <a:off x="4800600" y="3452388"/>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48" name="Google Shape;248;p43"/>
          <p:cNvSpPr txBox="1"/>
          <p:nvPr>
            <p:ph idx="2" type="subTitle"/>
          </p:nvPr>
        </p:nvSpPr>
        <p:spPr>
          <a:xfrm>
            <a:off x="1398000" y="3452386"/>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pic>
        <p:nvPicPr>
          <p:cNvPr id="249" name="Google Shape;249;p43"/>
          <p:cNvPicPr preferRelativeResize="0"/>
          <p:nvPr/>
        </p:nvPicPr>
        <p:blipFill rotWithShape="1">
          <a:blip r:embed="rId6">
            <a:alphaModFix/>
          </a:blip>
          <a:srcRect b="0" l="0" r="0" t="0"/>
          <a:stretch/>
        </p:blipFill>
        <p:spPr>
          <a:xfrm>
            <a:off x="296923" y="4655223"/>
            <a:ext cx="819599" cy="251599"/>
          </a:xfrm>
          <a:prstGeom prst="rect">
            <a:avLst/>
          </a:prstGeom>
          <a:noFill/>
          <a:ln>
            <a:noFill/>
          </a:ln>
        </p:spPr>
      </p:pic>
      <p:sp>
        <p:nvSpPr>
          <p:cNvPr id="250" name="Google Shape;250;p43"/>
          <p:cNvSpPr txBox="1"/>
          <p:nvPr>
            <p:ph idx="3" type="subTitle"/>
          </p:nvPr>
        </p:nvSpPr>
        <p:spPr>
          <a:xfrm>
            <a:off x="4800600" y="2634963"/>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51" name="Google Shape;251;p43"/>
          <p:cNvSpPr txBox="1"/>
          <p:nvPr>
            <p:ph idx="4" type="subTitle"/>
          </p:nvPr>
        </p:nvSpPr>
        <p:spPr>
          <a:xfrm>
            <a:off x="1398000" y="2634961"/>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52" name="Google Shape;252;p43"/>
          <p:cNvSpPr txBox="1"/>
          <p:nvPr>
            <p:ph type="title"/>
          </p:nvPr>
        </p:nvSpPr>
        <p:spPr>
          <a:xfrm>
            <a:off x="571720" y="457200"/>
            <a:ext cx="4722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3500"/>
              <a:buFont typeface="Helvetica Neue"/>
              <a:buNone/>
              <a:defRPr b="1" sz="35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53" name="Google Shape;253;p43"/>
          <p:cNvSpPr txBox="1"/>
          <p:nvPr>
            <p:ph idx="5" type="subTitle"/>
          </p:nvPr>
        </p:nvSpPr>
        <p:spPr>
          <a:xfrm>
            <a:off x="571725" y="1916900"/>
            <a:ext cx="4863600" cy="3693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800"/>
              <a:buNone/>
              <a:defRPr>
                <a:solidFill>
                  <a:srgbClr val="FFFFFF"/>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54" name="Google Shape;254;p43"/>
          <p:cNvSpPr/>
          <p:nvPr>
            <p:ph idx="6" type="pic"/>
          </p:nvPr>
        </p:nvSpPr>
        <p:spPr>
          <a:xfrm>
            <a:off x="571500" y="2586975"/>
            <a:ext cx="685800" cy="685800"/>
          </a:xfrm>
          <a:prstGeom prst="snip2DiagRect">
            <a:avLst>
              <a:gd fmla="val 0" name="adj1"/>
              <a:gd fmla="val 16667" name="adj2"/>
            </a:avLst>
          </a:prstGeom>
          <a:noFill/>
          <a:ln>
            <a:noFill/>
          </a:ln>
        </p:spPr>
      </p:sp>
      <p:sp>
        <p:nvSpPr>
          <p:cNvPr id="255" name="Google Shape;255;p43"/>
          <p:cNvSpPr/>
          <p:nvPr>
            <p:ph idx="7" type="pic"/>
          </p:nvPr>
        </p:nvSpPr>
        <p:spPr>
          <a:xfrm>
            <a:off x="571500" y="3387075"/>
            <a:ext cx="685800" cy="685800"/>
          </a:xfrm>
          <a:prstGeom prst="snip2DiagRect">
            <a:avLst>
              <a:gd fmla="val 0" name="adj1"/>
              <a:gd fmla="val 16667" name="adj2"/>
            </a:avLst>
          </a:prstGeom>
          <a:noFill/>
          <a:ln>
            <a:noFill/>
          </a:ln>
        </p:spPr>
      </p:sp>
      <p:sp>
        <p:nvSpPr>
          <p:cNvPr id="256" name="Google Shape;256;p43"/>
          <p:cNvSpPr/>
          <p:nvPr>
            <p:ph idx="8" type="pic"/>
          </p:nvPr>
        </p:nvSpPr>
        <p:spPr>
          <a:xfrm>
            <a:off x="3969613" y="2586975"/>
            <a:ext cx="685800" cy="685800"/>
          </a:xfrm>
          <a:prstGeom prst="snip2DiagRect">
            <a:avLst>
              <a:gd fmla="val 0" name="adj1"/>
              <a:gd fmla="val 16667" name="adj2"/>
            </a:avLst>
          </a:prstGeom>
          <a:noFill/>
          <a:ln>
            <a:noFill/>
          </a:ln>
        </p:spPr>
      </p:sp>
      <p:sp>
        <p:nvSpPr>
          <p:cNvPr id="257" name="Google Shape;257;p43"/>
          <p:cNvSpPr/>
          <p:nvPr>
            <p:ph idx="9" type="pic"/>
          </p:nvPr>
        </p:nvSpPr>
        <p:spPr>
          <a:xfrm>
            <a:off x="3969613" y="3387075"/>
            <a:ext cx="685800" cy="685800"/>
          </a:xfrm>
          <a:prstGeom prst="snip2DiagRect">
            <a:avLst>
              <a:gd fmla="val 0" name="adj1"/>
              <a:gd fmla="val 16667" name="adj2"/>
            </a:avLst>
          </a:prstGeom>
          <a:noFill/>
          <a:ln>
            <a:noFill/>
          </a:ln>
        </p:spPr>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Moderator, 3 Panelists">
  <p:cSld name="BLANK_3_3_1_1">
    <p:bg>
      <p:bgPr>
        <a:blipFill>
          <a:blip r:embed="rId2">
            <a:alphaModFix/>
          </a:blip>
          <a:stretch>
            <a:fillRect/>
          </a:stretch>
        </a:blipFill>
      </p:bgPr>
    </p:bg>
    <p:spTree>
      <p:nvGrpSpPr>
        <p:cNvPr id="258" name="Shape 258"/>
        <p:cNvGrpSpPr/>
        <p:nvPr/>
      </p:nvGrpSpPr>
      <p:grpSpPr>
        <a:xfrm>
          <a:off x="0" y="0"/>
          <a:ext cx="0" cy="0"/>
          <a:chOff x="0" y="0"/>
          <a:chExt cx="0" cy="0"/>
        </a:xfrm>
      </p:grpSpPr>
      <p:pic>
        <p:nvPicPr>
          <p:cNvPr id="259" name="Google Shape;259;p44"/>
          <p:cNvPicPr preferRelativeResize="0"/>
          <p:nvPr/>
        </p:nvPicPr>
        <p:blipFill rotWithShape="1">
          <a:blip r:embed="rId3">
            <a:alphaModFix/>
          </a:blip>
          <a:srcRect b="0" l="37500" r="0" t="0"/>
          <a:stretch/>
        </p:blipFill>
        <p:spPr>
          <a:xfrm>
            <a:off x="0" y="0"/>
            <a:ext cx="5715000" cy="5143500"/>
          </a:xfrm>
          <a:prstGeom prst="rect">
            <a:avLst/>
          </a:prstGeom>
          <a:noFill/>
          <a:ln>
            <a:noFill/>
          </a:ln>
        </p:spPr>
      </p:pic>
      <p:sp>
        <p:nvSpPr>
          <p:cNvPr id="260" name="Google Shape;260;p44"/>
          <p:cNvSpPr/>
          <p:nvPr/>
        </p:nvSpPr>
        <p:spPr>
          <a:xfrm>
            <a:off x="5715000" y="0"/>
            <a:ext cx="3429000" cy="5157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4"/>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62" name="Google Shape;262;p44"/>
          <p:cNvSpPr txBox="1"/>
          <p:nvPr>
            <p:ph idx="1" type="subTitle"/>
          </p:nvPr>
        </p:nvSpPr>
        <p:spPr>
          <a:xfrm>
            <a:off x="6858000" y="4114800"/>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63" name="Google Shape;263;p44"/>
          <p:cNvSpPr txBox="1"/>
          <p:nvPr>
            <p:ph idx="2" type="subTitle"/>
          </p:nvPr>
        </p:nvSpPr>
        <p:spPr>
          <a:xfrm>
            <a:off x="6858000" y="2286000"/>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pic>
        <p:nvPicPr>
          <p:cNvPr id="264" name="Google Shape;264;p44"/>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265" name="Google Shape;265;p44"/>
          <p:cNvSpPr txBox="1"/>
          <p:nvPr>
            <p:ph idx="3" type="subTitle"/>
          </p:nvPr>
        </p:nvSpPr>
        <p:spPr>
          <a:xfrm>
            <a:off x="6858000" y="3200300"/>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66" name="Google Shape;266;p44"/>
          <p:cNvSpPr txBox="1"/>
          <p:nvPr>
            <p:ph idx="4" type="subTitle"/>
          </p:nvPr>
        </p:nvSpPr>
        <p:spPr>
          <a:xfrm>
            <a:off x="6858000" y="800100"/>
            <a:ext cx="2286000" cy="6858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67" name="Google Shape;267;p44"/>
          <p:cNvSpPr txBox="1"/>
          <p:nvPr>
            <p:ph type="title"/>
          </p:nvPr>
        </p:nvSpPr>
        <p:spPr>
          <a:xfrm>
            <a:off x="571720" y="457200"/>
            <a:ext cx="4722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3500"/>
              <a:buFont typeface="Helvetica Neue"/>
              <a:buNone/>
              <a:defRPr b="1" sz="35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68" name="Google Shape;268;p44"/>
          <p:cNvSpPr txBox="1"/>
          <p:nvPr>
            <p:ph idx="5" type="subTitle"/>
          </p:nvPr>
        </p:nvSpPr>
        <p:spPr>
          <a:xfrm>
            <a:off x="571720" y="1916900"/>
            <a:ext cx="4863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800"/>
              <a:buFont typeface="Helvetica Neue Light"/>
              <a:buNone/>
              <a:defRPr>
                <a:solidFill>
                  <a:srgbClr val="FFFFFF"/>
                </a:solidFill>
                <a:latin typeface="Helvetica Neue Light"/>
                <a:ea typeface="Helvetica Neue Light"/>
                <a:cs typeface="Helvetica Neue Light"/>
                <a:sym typeface="Helvetica Neue Light"/>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Multiple Choice Question">
  <p:cSld name="BLANK_3_2">
    <p:bg>
      <p:bgPr>
        <a:blipFill>
          <a:blip r:embed="rId2">
            <a:alphaModFix/>
          </a:blip>
          <a:stretch>
            <a:fillRect/>
          </a:stretch>
        </a:blipFill>
      </p:bgPr>
    </p:bg>
    <p:spTree>
      <p:nvGrpSpPr>
        <p:cNvPr id="269" name="Shape 269"/>
        <p:cNvGrpSpPr/>
        <p:nvPr/>
      </p:nvGrpSpPr>
      <p:grpSpPr>
        <a:xfrm>
          <a:off x="0" y="0"/>
          <a:ext cx="0" cy="0"/>
          <a:chOff x="0" y="0"/>
          <a:chExt cx="0" cy="0"/>
        </a:xfrm>
      </p:grpSpPr>
      <p:pic>
        <p:nvPicPr>
          <p:cNvPr id="270" name="Google Shape;270;p45"/>
          <p:cNvPicPr preferRelativeResize="0"/>
          <p:nvPr/>
        </p:nvPicPr>
        <p:blipFill>
          <a:blip r:embed="rId3">
            <a:alphaModFix/>
          </a:blip>
          <a:stretch>
            <a:fillRect/>
          </a:stretch>
        </p:blipFill>
        <p:spPr>
          <a:xfrm>
            <a:off x="0" y="0"/>
            <a:ext cx="9144000" cy="5143500"/>
          </a:xfrm>
          <a:prstGeom prst="rect">
            <a:avLst/>
          </a:prstGeom>
          <a:noFill/>
          <a:ln>
            <a:noFill/>
          </a:ln>
        </p:spPr>
      </p:pic>
      <p:sp>
        <p:nvSpPr>
          <p:cNvPr id="271" name="Google Shape;271;p45"/>
          <p:cNvSpPr/>
          <p:nvPr/>
        </p:nvSpPr>
        <p:spPr>
          <a:xfrm>
            <a:off x="171175" y="4606600"/>
            <a:ext cx="1092000" cy="358500"/>
          </a:xfrm>
          <a:prstGeom prst="rect">
            <a:avLst/>
          </a:prstGeom>
          <a:solidFill>
            <a:srgbClr val="5051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2" name="Google Shape;272;p45"/>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273" name="Google Shape;273;p45"/>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74" name="Google Shape;274;p45"/>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75" name="Google Shape;275;p45"/>
          <p:cNvSpPr txBox="1"/>
          <p:nvPr/>
        </p:nvSpPr>
        <p:spPr>
          <a:xfrm>
            <a:off x="0" y="4580850"/>
            <a:ext cx="9144000" cy="572700"/>
          </a:xfrm>
          <a:prstGeom prst="rect">
            <a:avLst/>
          </a:prstGeom>
          <a:solidFill>
            <a:srgbClr val="000000"/>
          </a:solidFill>
          <a:ln>
            <a:noFill/>
          </a:ln>
        </p:spPr>
        <p:txBody>
          <a:bodyPr anchorCtr="0" anchor="ctr" bIns="91425" lIns="457200" spcFirstLastPara="1" rIns="91425" wrap="square" tIns="91425">
            <a:noAutofit/>
          </a:bodyPr>
          <a:lstStyle/>
          <a:p>
            <a:pPr indent="0" lvl="0" marL="0" rtl="0" algn="l">
              <a:spcBef>
                <a:spcPts val="0"/>
              </a:spcBef>
              <a:spcAft>
                <a:spcPts val="0"/>
              </a:spcAft>
              <a:buNone/>
            </a:pPr>
            <a:r>
              <a:rPr lang="en" sz="1400">
                <a:solidFill>
                  <a:srgbClr val="FFFFFF"/>
                </a:solidFill>
                <a:latin typeface="Helvetica Neue"/>
                <a:ea typeface="Helvetica Neue"/>
                <a:cs typeface="Helvetica Neue"/>
                <a:sym typeface="Helvetica Neue"/>
              </a:rPr>
              <a:t>Answer on </a:t>
            </a:r>
            <a:r>
              <a:rPr b="1" lang="en" sz="1400">
                <a:solidFill>
                  <a:srgbClr val="FFFFFF"/>
                </a:solidFill>
                <a:latin typeface="Helvetica Neue"/>
                <a:ea typeface="Helvetica Neue"/>
                <a:cs typeface="Helvetica Neue"/>
                <a:sym typeface="Helvetica Neue"/>
              </a:rPr>
              <a:t>Slido.com</a:t>
            </a:r>
            <a:endParaRPr b="1" sz="1400">
              <a:solidFill>
                <a:srgbClr val="FFFFFF"/>
              </a:solidFill>
              <a:latin typeface="Helvetica Neue"/>
              <a:ea typeface="Helvetica Neue"/>
              <a:cs typeface="Helvetica Neue"/>
              <a:sym typeface="Helvetica Neue"/>
            </a:endParaRPr>
          </a:p>
        </p:txBody>
      </p:sp>
      <p:sp>
        <p:nvSpPr>
          <p:cNvPr id="276" name="Google Shape;276;p45"/>
          <p:cNvSpPr txBox="1"/>
          <p:nvPr/>
        </p:nvSpPr>
        <p:spPr>
          <a:xfrm>
            <a:off x="8052000" y="4581000"/>
            <a:ext cx="1092000" cy="572700"/>
          </a:xfrm>
          <a:prstGeom prst="rect">
            <a:avLst/>
          </a:prstGeom>
          <a:noFill/>
          <a:ln>
            <a:noFill/>
          </a:ln>
        </p:spPr>
        <p:txBody>
          <a:bodyPr anchorCtr="0" anchor="ctr" bIns="91425" lIns="91425" spcFirstLastPara="1" rIns="457200" wrap="square" tIns="91425">
            <a:noAutofit/>
          </a:bodyPr>
          <a:lstStyle/>
          <a:p>
            <a:pPr indent="0" lvl="0" marL="0" rtl="0" algn="r">
              <a:spcBef>
                <a:spcPts val="0"/>
              </a:spcBef>
              <a:spcAft>
                <a:spcPts val="0"/>
              </a:spcAft>
              <a:buClr>
                <a:schemeClr val="dk1"/>
              </a:buClr>
              <a:buSzPts val="1100"/>
              <a:buFont typeface="Arial"/>
              <a:buNone/>
            </a:pPr>
            <a:r>
              <a:rPr b="1" lang="en" sz="1400">
                <a:solidFill>
                  <a:srgbClr val="FFFFFF"/>
                </a:solidFill>
                <a:latin typeface="Helvetica Neue"/>
                <a:ea typeface="Helvetica Neue"/>
                <a:cs typeface="Helvetica Neue"/>
                <a:sym typeface="Helvetica Neue"/>
              </a:rPr>
              <a:t>#8534</a:t>
            </a:r>
            <a:endParaRPr b="1" sz="1400">
              <a:solidFill>
                <a:srgbClr val="FFFFFF"/>
              </a:solidFill>
              <a:latin typeface="Helvetica Neue"/>
              <a:ea typeface="Helvetica Neue"/>
              <a:cs typeface="Helvetica Neue"/>
              <a:sym typeface="Helvetica Neue"/>
            </a:endParaRPr>
          </a:p>
        </p:txBody>
      </p:sp>
      <p:pic>
        <p:nvPicPr>
          <p:cNvPr id="277" name="Google Shape;277;p45"/>
          <p:cNvPicPr preferRelativeResize="0"/>
          <p:nvPr/>
        </p:nvPicPr>
        <p:blipFill rotWithShape="1">
          <a:blip r:embed="rId5">
            <a:alphaModFix/>
          </a:blip>
          <a:srcRect b="0" l="55937" r="0" t="0"/>
          <a:stretch/>
        </p:blipFill>
        <p:spPr>
          <a:xfrm>
            <a:off x="6094200" y="4671525"/>
            <a:ext cx="1851991" cy="391375"/>
          </a:xfrm>
          <a:prstGeom prst="rect">
            <a:avLst/>
          </a:prstGeom>
          <a:noFill/>
          <a:ln>
            <a:noFill/>
          </a:ln>
        </p:spPr>
      </p:pic>
      <p:sp>
        <p:nvSpPr>
          <p:cNvPr id="278" name="Google Shape;278;p45"/>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indent="-228600" lvl="1" marL="914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2pPr>
            <a:lvl3pPr indent="-228600" lvl="2" marL="1371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3pPr>
            <a:lvl4pPr indent="-228600" lvl="3" marL="18288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4pPr>
            <a:lvl5pPr indent="-228600" lvl="4" marL="22860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5pPr>
            <a:lvl6pPr indent="-228600" lvl="5" marL="27432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6pPr>
            <a:lvl7pPr indent="-228600" lvl="6" marL="3200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7pPr>
            <a:lvl8pPr indent="-228600" lvl="7" marL="3657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8pPr>
            <a:lvl9pPr indent="-228600" lvl="8" marL="4114800" rtl="0">
              <a:lnSpc>
                <a:spcPct val="115000"/>
              </a:lnSpc>
              <a:spcBef>
                <a:spcPts val="1600"/>
              </a:spcBef>
              <a:spcAft>
                <a:spcPts val="160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Purple">
  <p:cSld name="BLANK_3_2_1">
    <p:bg>
      <p:bgPr>
        <a:blipFill>
          <a:blip r:embed="rId2">
            <a:alphaModFix/>
          </a:blip>
          <a:stretch>
            <a:fillRect/>
          </a:stretch>
        </a:blipFill>
      </p:bgPr>
    </p:bg>
    <p:spTree>
      <p:nvGrpSpPr>
        <p:cNvPr id="279" name="Shape 279"/>
        <p:cNvGrpSpPr/>
        <p:nvPr/>
      </p:nvGrpSpPr>
      <p:grpSpPr>
        <a:xfrm>
          <a:off x="0" y="0"/>
          <a:ext cx="0" cy="0"/>
          <a:chOff x="0" y="0"/>
          <a:chExt cx="0" cy="0"/>
        </a:xfrm>
      </p:grpSpPr>
      <p:pic>
        <p:nvPicPr>
          <p:cNvPr id="280" name="Google Shape;280;p46"/>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281" name="Google Shape;281;p46"/>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282" name="Google Shape;282;p46"/>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83" name="Google Shape;283;p46"/>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84" name="Google Shape;284;p46"/>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indent="-228600" lvl="1" marL="914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2pPr>
            <a:lvl3pPr indent="-228600" lvl="2" marL="1371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3pPr>
            <a:lvl4pPr indent="-228600" lvl="3" marL="18288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4pPr>
            <a:lvl5pPr indent="-228600" lvl="4" marL="22860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5pPr>
            <a:lvl6pPr indent="-228600" lvl="5" marL="27432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6pPr>
            <a:lvl7pPr indent="-228600" lvl="6" marL="3200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7pPr>
            <a:lvl8pPr indent="-228600" lvl="7" marL="3657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8pPr>
            <a:lvl9pPr indent="-228600" lvl="8" marL="4114800" rtl="0">
              <a:lnSpc>
                <a:spcPct val="115000"/>
              </a:lnSpc>
              <a:spcBef>
                <a:spcPts val="1600"/>
              </a:spcBef>
              <a:spcAft>
                <a:spcPts val="160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Blue">
  <p:cSld name="BLANK_3_2_1_1">
    <p:bg>
      <p:bgPr>
        <a:blipFill>
          <a:blip r:embed="rId2">
            <a:alphaModFix/>
          </a:blip>
          <a:stretch>
            <a:fillRect/>
          </a:stretch>
        </a:blipFill>
      </p:bgPr>
    </p:bg>
    <p:spTree>
      <p:nvGrpSpPr>
        <p:cNvPr id="285" name="Shape 285"/>
        <p:cNvGrpSpPr/>
        <p:nvPr/>
      </p:nvGrpSpPr>
      <p:grpSpPr>
        <a:xfrm>
          <a:off x="0" y="0"/>
          <a:ext cx="0" cy="0"/>
          <a:chOff x="0" y="0"/>
          <a:chExt cx="0" cy="0"/>
        </a:xfrm>
      </p:grpSpPr>
      <p:pic>
        <p:nvPicPr>
          <p:cNvPr id="286" name="Google Shape;286;p47"/>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287" name="Google Shape;287;p47"/>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88" name="Google Shape;288;p47"/>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89" name="Google Shape;289;p47"/>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rgbClr val="FFFFFF"/>
              </a:buClr>
              <a:buSzPts val="1500"/>
              <a:buNone/>
              <a:defRPr sz="1500">
                <a:solidFill>
                  <a:srgbClr val="FFFFFF"/>
                </a:solidFill>
              </a:defRPr>
            </a:lvl1pPr>
            <a:lvl2pPr indent="-228600" lvl="1" marL="914400" rtl="0">
              <a:lnSpc>
                <a:spcPct val="115000"/>
              </a:lnSpc>
              <a:spcBef>
                <a:spcPts val="1600"/>
              </a:spcBef>
              <a:spcAft>
                <a:spcPts val="0"/>
              </a:spcAft>
              <a:buClr>
                <a:srgbClr val="FFFFFF"/>
              </a:buClr>
              <a:buSzPts val="1500"/>
              <a:buNone/>
              <a:defRPr sz="1500">
                <a:solidFill>
                  <a:srgbClr val="FFFFFF"/>
                </a:solidFill>
              </a:defRPr>
            </a:lvl2pPr>
            <a:lvl3pPr indent="-228600" lvl="2" marL="1371600" rtl="0">
              <a:lnSpc>
                <a:spcPct val="115000"/>
              </a:lnSpc>
              <a:spcBef>
                <a:spcPts val="1600"/>
              </a:spcBef>
              <a:spcAft>
                <a:spcPts val="0"/>
              </a:spcAft>
              <a:buClr>
                <a:srgbClr val="FFFFFF"/>
              </a:buClr>
              <a:buSzPts val="1500"/>
              <a:buNone/>
              <a:defRPr sz="1500">
                <a:solidFill>
                  <a:srgbClr val="FFFFFF"/>
                </a:solidFill>
              </a:defRPr>
            </a:lvl3pPr>
            <a:lvl4pPr indent="-228600" lvl="3" marL="1828800" rtl="0">
              <a:lnSpc>
                <a:spcPct val="115000"/>
              </a:lnSpc>
              <a:spcBef>
                <a:spcPts val="1600"/>
              </a:spcBef>
              <a:spcAft>
                <a:spcPts val="0"/>
              </a:spcAft>
              <a:buClr>
                <a:srgbClr val="FFFFFF"/>
              </a:buClr>
              <a:buSzPts val="1500"/>
              <a:buNone/>
              <a:defRPr sz="1500">
                <a:solidFill>
                  <a:srgbClr val="FFFFFF"/>
                </a:solidFill>
              </a:defRPr>
            </a:lvl4pPr>
            <a:lvl5pPr indent="-228600" lvl="4" marL="2286000" rtl="0">
              <a:lnSpc>
                <a:spcPct val="115000"/>
              </a:lnSpc>
              <a:spcBef>
                <a:spcPts val="1600"/>
              </a:spcBef>
              <a:spcAft>
                <a:spcPts val="0"/>
              </a:spcAft>
              <a:buClr>
                <a:srgbClr val="FFFFFF"/>
              </a:buClr>
              <a:buSzPts val="1500"/>
              <a:buNone/>
              <a:defRPr sz="1500">
                <a:solidFill>
                  <a:srgbClr val="FFFFFF"/>
                </a:solidFill>
              </a:defRPr>
            </a:lvl5pPr>
            <a:lvl6pPr indent="-228600" lvl="5" marL="2743200" rtl="0">
              <a:lnSpc>
                <a:spcPct val="115000"/>
              </a:lnSpc>
              <a:spcBef>
                <a:spcPts val="1600"/>
              </a:spcBef>
              <a:spcAft>
                <a:spcPts val="0"/>
              </a:spcAft>
              <a:buClr>
                <a:srgbClr val="FFFFFF"/>
              </a:buClr>
              <a:buSzPts val="1500"/>
              <a:buNone/>
              <a:defRPr sz="1500">
                <a:solidFill>
                  <a:srgbClr val="FFFFFF"/>
                </a:solidFill>
              </a:defRPr>
            </a:lvl6pPr>
            <a:lvl7pPr indent="-228600" lvl="6" marL="3200400" rtl="0">
              <a:lnSpc>
                <a:spcPct val="115000"/>
              </a:lnSpc>
              <a:spcBef>
                <a:spcPts val="1600"/>
              </a:spcBef>
              <a:spcAft>
                <a:spcPts val="0"/>
              </a:spcAft>
              <a:buClr>
                <a:srgbClr val="FFFFFF"/>
              </a:buClr>
              <a:buSzPts val="1500"/>
              <a:buNone/>
              <a:defRPr sz="1500">
                <a:solidFill>
                  <a:srgbClr val="FFFFFF"/>
                </a:solidFill>
              </a:defRPr>
            </a:lvl7pPr>
            <a:lvl8pPr indent="-228600" lvl="7" marL="3657600" rtl="0">
              <a:lnSpc>
                <a:spcPct val="115000"/>
              </a:lnSpc>
              <a:spcBef>
                <a:spcPts val="1600"/>
              </a:spcBef>
              <a:spcAft>
                <a:spcPts val="0"/>
              </a:spcAft>
              <a:buClr>
                <a:srgbClr val="FFFFFF"/>
              </a:buClr>
              <a:buSzPts val="1500"/>
              <a:buNone/>
              <a:defRPr sz="1500">
                <a:solidFill>
                  <a:srgbClr val="FFFFFF"/>
                </a:solidFill>
              </a:defRPr>
            </a:lvl8pPr>
            <a:lvl9pPr indent="-228600" lvl="8" marL="4114800" rtl="0">
              <a:lnSpc>
                <a:spcPct val="115000"/>
              </a:lnSpc>
              <a:spcBef>
                <a:spcPts val="1600"/>
              </a:spcBef>
              <a:spcAft>
                <a:spcPts val="1600"/>
              </a:spcAft>
              <a:buClr>
                <a:srgbClr val="FFFFFF"/>
              </a:buClr>
              <a:buSzPts val="1500"/>
              <a:buNone/>
              <a:defRPr sz="1500">
                <a:solidFill>
                  <a:srgbClr val="FFFFFF"/>
                </a:solidFill>
              </a:defRPr>
            </a:lvl9pPr>
          </a:lstStyle>
          <a:p/>
        </p:txBody>
      </p:sp>
      <p:pic>
        <p:nvPicPr>
          <p:cNvPr id="290" name="Google Shape;290;p47"/>
          <p:cNvPicPr preferRelativeResize="0"/>
          <p:nvPr/>
        </p:nvPicPr>
        <p:blipFill>
          <a:blip r:embed="rId4">
            <a:alphaModFix/>
          </a:blip>
          <a:stretch>
            <a:fillRect/>
          </a:stretch>
        </p:blipFill>
        <p:spPr>
          <a:xfrm>
            <a:off x="0" y="0"/>
            <a:ext cx="9144000" cy="5143500"/>
          </a:xfrm>
          <a:prstGeom prst="rect">
            <a:avLst/>
          </a:prstGeom>
          <a:noFill/>
          <a:ln>
            <a:noFill/>
          </a:ln>
        </p:spPr>
      </p:pic>
      <p:pic>
        <p:nvPicPr>
          <p:cNvPr id="291" name="Google Shape;291;p47"/>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292" name="Google Shape;292;p47"/>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Turquoise">
  <p:cSld name="BLANK_3_2_1_1_1">
    <p:bg>
      <p:bgPr>
        <a:blipFill>
          <a:blip r:embed="rId2">
            <a:alphaModFix/>
          </a:blip>
          <a:stretch>
            <a:fillRect/>
          </a:stretch>
        </a:blipFill>
      </p:bgPr>
    </p:bg>
    <p:spTree>
      <p:nvGrpSpPr>
        <p:cNvPr id="293" name="Shape 293"/>
        <p:cNvGrpSpPr/>
        <p:nvPr/>
      </p:nvGrpSpPr>
      <p:grpSpPr>
        <a:xfrm>
          <a:off x="0" y="0"/>
          <a:ext cx="0" cy="0"/>
          <a:chOff x="0" y="0"/>
          <a:chExt cx="0" cy="0"/>
        </a:xfrm>
      </p:grpSpPr>
      <p:pic>
        <p:nvPicPr>
          <p:cNvPr id="294" name="Google Shape;294;p48"/>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295" name="Google Shape;295;p48"/>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296" name="Google Shape;296;p48"/>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297" name="Google Shape;297;p48"/>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298" name="Google Shape;298;p48"/>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indent="-228600" lvl="1" marL="914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2pPr>
            <a:lvl3pPr indent="-228600" lvl="2" marL="1371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3pPr>
            <a:lvl4pPr indent="-228600" lvl="3" marL="18288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4pPr>
            <a:lvl5pPr indent="-228600" lvl="4" marL="22860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5pPr>
            <a:lvl6pPr indent="-228600" lvl="5" marL="27432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6pPr>
            <a:lvl7pPr indent="-228600" lvl="6" marL="3200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7pPr>
            <a:lvl8pPr indent="-228600" lvl="7" marL="3657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8pPr>
            <a:lvl9pPr indent="-228600" lvl="8" marL="4114800" rtl="0">
              <a:lnSpc>
                <a:spcPct val="115000"/>
              </a:lnSpc>
              <a:spcBef>
                <a:spcPts val="1600"/>
              </a:spcBef>
              <a:spcAft>
                <a:spcPts val="160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Slate">
  <p:cSld name="BLANK_3_2_1_1_1_1">
    <p:bg>
      <p:bgPr>
        <a:blipFill>
          <a:blip r:embed="rId2">
            <a:alphaModFix/>
          </a:blip>
          <a:stretch>
            <a:fillRect/>
          </a:stretch>
        </a:blipFill>
      </p:bgPr>
    </p:bg>
    <p:spTree>
      <p:nvGrpSpPr>
        <p:cNvPr id="299" name="Shape 299"/>
        <p:cNvGrpSpPr/>
        <p:nvPr/>
      </p:nvGrpSpPr>
      <p:grpSpPr>
        <a:xfrm>
          <a:off x="0" y="0"/>
          <a:ext cx="0" cy="0"/>
          <a:chOff x="0" y="0"/>
          <a:chExt cx="0" cy="0"/>
        </a:xfrm>
      </p:grpSpPr>
      <p:pic>
        <p:nvPicPr>
          <p:cNvPr id="300" name="Google Shape;300;p49"/>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01" name="Google Shape;301;p49"/>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302" name="Google Shape;302;p49"/>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303" name="Google Shape;303;p49"/>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rgbClr val="FFFFFF"/>
              </a:buClr>
              <a:buSzPts val="1500"/>
              <a:buNone/>
              <a:defRPr sz="1500">
                <a:solidFill>
                  <a:srgbClr val="FFFFFF"/>
                </a:solidFill>
              </a:defRPr>
            </a:lvl1pPr>
            <a:lvl2pPr indent="-228600" lvl="1" marL="914400" rtl="0">
              <a:lnSpc>
                <a:spcPct val="115000"/>
              </a:lnSpc>
              <a:spcBef>
                <a:spcPts val="1600"/>
              </a:spcBef>
              <a:spcAft>
                <a:spcPts val="0"/>
              </a:spcAft>
              <a:buClr>
                <a:srgbClr val="FFFFFF"/>
              </a:buClr>
              <a:buSzPts val="1500"/>
              <a:buNone/>
              <a:defRPr sz="1500">
                <a:solidFill>
                  <a:srgbClr val="FFFFFF"/>
                </a:solidFill>
              </a:defRPr>
            </a:lvl2pPr>
            <a:lvl3pPr indent="-228600" lvl="2" marL="1371600" rtl="0">
              <a:lnSpc>
                <a:spcPct val="115000"/>
              </a:lnSpc>
              <a:spcBef>
                <a:spcPts val="1600"/>
              </a:spcBef>
              <a:spcAft>
                <a:spcPts val="0"/>
              </a:spcAft>
              <a:buClr>
                <a:srgbClr val="FFFFFF"/>
              </a:buClr>
              <a:buSzPts val="1500"/>
              <a:buNone/>
              <a:defRPr sz="1500">
                <a:solidFill>
                  <a:srgbClr val="FFFFFF"/>
                </a:solidFill>
              </a:defRPr>
            </a:lvl3pPr>
            <a:lvl4pPr indent="-228600" lvl="3" marL="1828800" rtl="0">
              <a:lnSpc>
                <a:spcPct val="115000"/>
              </a:lnSpc>
              <a:spcBef>
                <a:spcPts val="1600"/>
              </a:spcBef>
              <a:spcAft>
                <a:spcPts val="0"/>
              </a:spcAft>
              <a:buClr>
                <a:srgbClr val="FFFFFF"/>
              </a:buClr>
              <a:buSzPts val="1500"/>
              <a:buNone/>
              <a:defRPr sz="1500">
                <a:solidFill>
                  <a:srgbClr val="FFFFFF"/>
                </a:solidFill>
              </a:defRPr>
            </a:lvl4pPr>
            <a:lvl5pPr indent="-228600" lvl="4" marL="2286000" rtl="0">
              <a:lnSpc>
                <a:spcPct val="115000"/>
              </a:lnSpc>
              <a:spcBef>
                <a:spcPts val="1600"/>
              </a:spcBef>
              <a:spcAft>
                <a:spcPts val="0"/>
              </a:spcAft>
              <a:buClr>
                <a:srgbClr val="FFFFFF"/>
              </a:buClr>
              <a:buSzPts val="1500"/>
              <a:buNone/>
              <a:defRPr sz="1500">
                <a:solidFill>
                  <a:srgbClr val="FFFFFF"/>
                </a:solidFill>
              </a:defRPr>
            </a:lvl5pPr>
            <a:lvl6pPr indent="-228600" lvl="5" marL="2743200" rtl="0">
              <a:lnSpc>
                <a:spcPct val="115000"/>
              </a:lnSpc>
              <a:spcBef>
                <a:spcPts val="1600"/>
              </a:spcBef>
              <a:spcAft>
                <a:spcPts val="0"/>
              </a:spcAft>
              <a:buClr>
                <a:srgbClr val="FFFFFF"/>
              </a:buClr>
              <a:buSzPts val="1500"/>
              <a:buNone/>
              <a:defRPr sz="1500">
                <a:solidFill>
                  <a:srgbClr val="FFFFFF"/>
                </a:solidFill>
              </a:defRPr>
            </a:lvl6pPr>
            <a:lvl7pPr indent="-228600" lvl="6" marL="3200400" rtl="0">
              <a:lnSpc>
                <a:spcPct val="115000"/>
              </a:lnSpc>
              <a:spcBef>
                <a:spcPts val="1600"/>
              </a:spcBef>
              <a:spcAft>
                <a:spcPts val="0"/>
              </a:spcAft>
              <a:buClr>
                <a:srgbClr val="FFFFFF"/>
              </a:buClr>
              <a:buSzPts val="1500"/>
              <a:buNone/>
              <a:defRPr sz="1500">
                <a:solidFill>
                  <a:srgbClr val="FFFFFF"/>
                </a:solidFill>
              </a:defRPr>
            </a:lvl7pPr>
            <a:lvl8pPr indent="-228600" lvl="7" marL="3657600" rtl="0">
              <a:lnSpc>
                <a:spcPct val="115000"/>
              </a:lnSpc>
              <a:spcBef>
                <a:spcPts val="1600"/>
              </a:spcBef>
              <a:spcAft>
                <a:spcPts val="0"/>
              </a:spcAft>
              <a:buClr>
                <a:srgbClr val="FFFFFF"/>
              </a:buClr>
              <a:buSzPts val="1500"/>
              <a:buNone/>
              <a:defRPr sz="1500">
                <a:solidFill>
                  <a:srgbClr val="FFFFFF"/>
                </a:solidFill>
              </a:defRPr>
            </a:lvl8pPr>
            <a:lvl9pPr indent="-228600" lvl="8" marL="4114800" rtl="0">
              <a:lnSpc>
                <a:spcPct val="115000"/>
              </a:lnSpc>
              <a:spcBef>
                <a:spcPts val="1600"/>
              </a:spcBef>
              <a:spcAft>
                <a:spcPts val="1600"/>
              </a:spcAft>
              <a:buClr>
                <a:srgbClr val="FFFFFF"/>
              </a:buClr>
              <a:buSzPts val="1500"/>
              <a:buNone/>
              <a:defRPr sz="1500">
                <a:solidFill>
                  <a:srgbClr val="FFFFFF"/>
                </a:solidFill>
              </a:defRPr>
            </a:lvl9pPr>
          </a:lstStyle>
          <a:p/>
        </p:txBody>
      </p:sp>
      <p:pic>
        <p:nvPicPr>
          <p:cNvPr id="304" name="Google Shape;304;p49"/>
          <p:cNvPicPr preferRelativeResize="0"/>
          <p:nvPr/>
        </p:nvPicPr>
        <p:blipFill>
          <a:blip r:embed="rId4">
            <a:alphaModFix/>
          </a:blip>
          <a:stretch>
            <a:fillRect/>
          </a:stretch>
        </p:blipFill>
        <p:spPr>
          <a:xfrm>
            <a:off x="0" y="0"/>
            <a:ext cx="9144000" cy="5143500"/>
          </a:xfrm>
          <a:prstGeom prst="rect">
            <a:avLst/>
          </a:prstGeom>
          <a:noFill/>
          <a:ln>
            <a:noFill/>
          </a:ln>
        </p:spPr>
      </p:pic>
      <p:pic>
        <p:nvPicPr>
          <p:cNvPr id="305" name="Google Shape;305;p49"/>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06" name="Google Shape;306;p49"/>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Slate 1">
  <p:cSld name="BLANK_3_2_1_1_1_1_2">
    <p:bg>
      <p:bgPr>
        <a:blipFill>
          <a:blip r:embed="rId2">
            <a:alphaModFix/>
          </a:blip>
          <a:stretch>
            <a:fillRect/>
          </a:stretch>
        </a:blipFill>
      </p:bgPr>
    </p:bg>
    <p:spTree>
      <p:nvGrpSpPr>
        <p:cNvPr id="307" name="Shape 307"/>
        <p:cNvGrpSpPr/>
        <p:nvPr/>
      </p:nvGrpSpPr>
      <p:grpSpPr>
        <a:xfrm>
          <a:off x="0" y="0"/>
          <a:ext cx="0" cy="0"/>
          <a:chOff x="0" y="0"/>
          <a:chExt cx="0" cy="0"/>
        </a:xfrm>
      </p:grpSpPr>
      <p:pic>
        <p:nvPicPr>
          <p:cNvPr id="308" name="Google Shape;308;p50"/>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309" name="Google Shape;309;p50"/>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310" name="Google Shape;310;p50"/>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311" name="Google Shape;311;p50"/>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312" name="Google Shape;312;p50"/>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rgbClr val="FFFFFF"/>
              </a:buClr>
              <a:buSzPts val="1500"/>
              <a:buNone/>
              <a:defRPr sz="1500">
                <a:solidFill>
                  <a:srgbClr val="FFFFFF"/>
                </a:solidFill>
              </a:defRPr>
            </a:lvl1pPr>
            <a:lvl2pPr indent="-228600" lvl="1" marL="914400" rtl="0">
              <a:lnSpc>
                <a:spcPct val="115000"/>
              </a:lnSpc>
              <a:spcBef>
                <a:spcPts val="1600"/>
              </a:spcBef>
              <a:spcAft>
                <a:spcPts val="0"/>
              </a:spcAft>
              <a:buClr>
                <a:srgbClr val="FFFFFF"/>
              </a:buClr>
              <a:buSzPts val="1500"/>
              <a:buNone/>
              <a:defRPr sz="1500">
                <a:solidFill>
                  <a:srgbClr val="FFFFFF"/>
                </a:solidFill>
              </a:defRPr>
            </a:lvl2pPr>
            <a:lvl3pPr indent="-228600" lvl="2" marL="1371600" rtl="0">
              <a:lnSpc>
                <a:spcPct val="115000"/>
              </a:lnSpc>
              <a:spcBef>
                <a:spcPts val="1600"/>
              </a:spcBef>
              <a:spcAft>
                <a:spcPts val="0"/>
              </a:spcAft>
              <a:buClr>
                <a:srgbClr val="FFFFFF"/>
              </a:buClr>
              <a:buSzPts val="1500"/>
              <a:buNone/>
              <a:defRPr sz="1500">
                <a:solidFill>
                  <a:srgbClr val="FFFFFF"/>
                </a:solidFill>
              </a:defRPr>
            </a:lvl3pPr>
            <a:lvl4pPr indent="-228600" lvl="3" marL="1828800" rtl="0">
              <a:lnSpc>
                <a:spcPct val="115000"/>
              </a:lnSpc>
              <a:spcBef>
                <a:spcPts val="1600"/>
              </a:spcBef>
              <a:spcAft>
                <a:spcPts val="0"/>
              </a:spcAft>
              <a:buClr>
                <a:srgbClr val="FFFFFF"/>
              </a:buClr>
              <a:buSzPts val="1500"/>
              <a:buNone/>
              <a:defRPr sz="1500">
                <a:solidFill>
                  <a:srgbClr val="FFFFFF"/>
                </a:solidFill>
              </a:defRPr>
            </a:lvl4pPr>
            <a:lvl5pPr indent="-228600" lvl="4" marL="2286000" rtl="0">
              <a:lnSpc>
                <a:spcPct val="115000"/>
              </a:lnSpc>
              <a:spcBef>
                <a:spcPts val="1600"/>
              </a:spcBef>
              <a:spcAft>
                <a:spcPts val="0"/>
              </a:spcAft>
              <a:buClr>
                <a:srgbClr val="FFFFFF"/>
              </a:buClr>
              <a:buSzPts val="1500"/>
              <a:buNone/>
              <a:defRPr sz="1500">
                <a:solidFill>
                  <a:srgbClr val="FFFFFF"/>
                </a:solidFill>
              </a:defRPr>
            </a:lvl5pPr>
            <a:lvl6pPr indent="-228600" lvl="5" marL="2743200" rtl="0">
              <a:lnSpc>
                <a:spcPct val="115000"/>
              </a:lnSpc>
              <a:spcBef>
                <a:spcPts val="1600"/>
              </a:spcBef>
              <a:spcAft>
                <a:spcPts val="0"/>
              </a:spcAft>
              <a:buClr>
                <a:srgbClr val="FFFFFF"/>
              </a:buClr>
              <a:buSzPts val="1500"/>
              <a:buNone/>
              <a:defRPr sz="1500">
                <a:solidFill>
                  <a:srgbClr val="FFFFFF"/>
                </a:solidFill>
              </a:defRPr>
            </a:lvl6pPr>
            <a:lvl7pPr indent="-228600" lvl="6" marL="3200400" rtl="0">
              <a:lnSpc>
                <a:spcPct val="115000"/>
              </a:lnSpc>
              <a:spcBef>
                <a:spcPts val="1600"/>
              </a:spcBef>
              <a:spcAft>
                <a:spcPts val="0"/>
              </a:spcAft>
              <a:buClr>
                <a:srgbClr val="FFFFFF"/>
              </a:buClr>
              <a:buSzPts val="1500"/>
              <a:buNone/>
              <a:defRPr sz="1500">
                <a:solidFill>
                  <a:srgbClr val="FFFFFF"/>
                </a:solidFill>
              </a:defRPr>
            </a:lvl7pPr>
            <a:lvl8pPr indent="-228600" lvl="7" marL="3657600" rtl="0">
              <a:lnSpc>
                <a:spcPct val="115000"/>
              </a:lnSpc>
              <a:spcBef>
                <a:spcPts val="1600"/>
              </a:spcBef>
              <a:spcAft>
                <a:spcPts val="0"/>
              </a:spcAft>
              <a:buClr>
                <a:srgbClr val="FFFFFF"/>
              </a:buClr>
              <a:buSzPts val="1500"/>
              <a:buNone/>
              <a:defRPr sz="1500">
                <a:solidFill>
                  <a:srgbClr val="FFFFFF"/>
                </a:solidFill>
              </a:defRPr>
            </a:lvl8pPr>
            <a:lvl9pPr indent="-228600" lvl="8" marL="4114800" rtl="0">
              <a:lnSpc>
                <a:spcPct val="115000"/>
              </a:lnSpc>
              <a:spcBef>
                <a:spcPts val="1600"/>
              </a:spcBef>
              <a:spcAft>
                <a:spcPts val="1600"/>
              </a:spcAft>
              <a:buClr>
                <a:srgbClr val="FFFFFF"/>
              </a:buClr>
              <a:buSzPts val="1500"/>
              <a:buNone/>
              <a:defRPr sz="1500">
                <a:solidFill>
                  <a:srgbClr val="FFFFFF"/>
                </a:solidFill>
              </a:defRPr>
            </a:lvl9pPr>
          </a:lstStyle>
          <a:p/>
        </p:txBody>
      </p:sp>
      <p:sp>
        <p:nvSpPr>
          <p:cNvPr id="313" name="Google Shape;313;p50"/>
          <p:cNvSpPr txBox="1"/>
          <p:nvPr>
            <p:ph idx="2"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pic>
        <p:nvPicPr>
          <p:cNvPr id="314" name="Google Shape;314;p50"/>
          <p:cNvPicPr preferRelativeResize="0"/>
          <p:nvPr/>
        </p:nvPicPr>
        <p:blipFill rotWithShape="1">
          <a:blip r:embed="rId4">
            <a:alphaModFix/>
          </a:blip>
          <a:srcRect b="0" l="0" r="0" t="0"/>
          <a:stretch/>
        </p:blipFill>
        <p:spPr>
          <a:xfrm>
            <a:off x="296923" y="4655223"/>
            <a:ext cx="819599" cy="251599"/>
          </a:xfrm>
          <a:prstGeom prst="rect">
            <a:avLst/>
          </a:prstGeom>
          <a:noFill/>
          <a:ln>
            <a:noFill/>
          </a:ln>
        </p:spPr>
      </p:pic>
      <p:sp>
        <p:nvSpPr>
          <p:cNvPr id="315" name="Google Shape;315;p50"/>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Slate 1 1">
  <p:cSld name="BLANK_3_2_1_1_1_1_2_1">
    <p:bg>
      <p:bgPr>
        <a:solidFill>
          <a:srgbClr val="A92C9C"/>
        </a:solidFill>
      </p:bgPr>
    </p:bg>
    <p:spTree>
      <p:nvGrpSpPr>
        <p:cNvPr id="316" name="Shape 316"/>
        <p:cNvGrpSpPr/>
        <p:nvPr/>
      </p:nvGrpSpPr>
      <p:grpSpPr>
        <a:xfrm>
          <a:off x="0" y="0"/>
          <a:ext cx="0" cy="0"/>
          <a:chOff x="0" y="0"/>
          <a:chExt cx="0" cy="0"/>
        </a:xfrm>
      </p:grpSpPr>
      <p:pic>
        <p:nvPicPr>
          <p:cNvPr id="317" name="Google Shape;317;p51"/>
          <p:cNvPicPr preferRelativeResize="0"/>
          <p:nvPr/>
        </p:nvPicPr>
        <p:blipFill>
          <a:blip r:embed="rId2">
            <a:alphaModFix/>
          </a:blip>
          <a:stretch>
            <a:fillRect/>
          </a:stretch>
        </p:blipFill>
        <p:spPr>
          <a:xfrm>
            <a:off x="0" y="0"/>
            <a:ext cx="9144000" cy="5143508"/>
          </a:xfrm>
          <a:prstGeom prst="rect">
            <a:avLst/>
          </a:prstGeom>
          <a:noFill/>
          <a:ln>
            <a:noFill/>
          </a:ln>
        </p:spPr>
      </p:pic>
      <p:pic>
        <p:nvPicPr>
          <p:cNvPr id="318" name="Google Shape;318;p51"/>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19" name="Google Shape;319;p51"/>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320" name="Google Shape;320;p51"/>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21" name="Google Shape;321;p51"/>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Slate 1 1 1">
  <p:cSld name="BLANK_3_2_1_1_1_1_2_1_1">
    <p:bg>
      <p:bgPr>
        <a:solidFill>
          <a:srgbClr val="A92C9C"/>
        </a:solidFill>
      </p:bgPr>
    </p:bg>
    <p:spTree>
      <p:nvGrpSpPr>
        <p:cNvPr id="322" name="Shape 322"/>
        <p:cNvGrpSpPr/>
        <p:nvPr/>
      </p:nvGrpSpPr>
      <p:grpSpPr>
        <a:xfrm>
          <a:off x="0" y="0"/>
          <a:ext cx="0" cy="0"/>
          <a:chOff x="0" y="0"/>
          <a:chExt cx="0" cy="0"/>
        </a:xfrm>
      </p:grpSpPr>
      <p:pic>
        <p:nvPicPr>
          <p:cNvPr id="323" name="Google Shape;323;p52"/>
          <p:cNvPicPr preferRelativeResize="0"/>
          <p:nvPr/>
        </p:nvPicPr>
        <p:blipFill>
          <a:blip r:embed="rId2">
            <a:alphaModFix/>
          </a:blip>
          <a:stretch>
            <a:fillRect/>
          </a:stretch>
        </p:blipFill>
        <p:spPr>
          <a:xfrm>
            <a:off x="0" y="0"/>
            <a:ext cx="9144000" cy="5143508"/>
          </a:xfrm>
          <a:prstGeom prst="rect">
            <a:avLst/>
          </a:prstGeom>
          <a:noFill/>
          <a:ln>
            <a:noFill/>
          </a:ln>
        </p:spPr>
      </p:pic>
      <p:pic>
        <p:nvPicPr>
          <p:cNvPr id="324" name="Google Shape;324;p52"/>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25" name="Google Shape;325;p52"/>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pic>
        <p:nvPicPr>
          <p:cNvPr id="326" name="Google Shape;326;p52"/>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27" name="Google Shape;327;p52"/>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sz="1400">
              <a:latin typeface="Helvetica Neue"/>
              <a:ea typeface="Helvetica Neue"/>
              <a:cs typeface="Helvetica Neue"/>
              <a:sym typeface="Helvetica Neue"/>
            </a:endParaRPr>
          </a:p>
        </p:txBody>
      </p:sp>
      <p:sp>
        <p:nvSpPr>
          <p:cNvPr id="328" name="Google Shape;328;p52"/>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400"/>
              <a:buFont typeface="Helvetica Neue"/>
              <a:buNone/>
              <a:defRPr b="1" sz="2400">
                <a:solidFill>
                  <a:srgbClr val="FFFFFF"/>
                </a:solidFill>
                <a:latin typeface="Helvetica Neue"/>
                <a:ea typeface="Helvetica Neue"/>
                <a:cs typeface="Helvetica Neue"/>
                <a:sym typeface="Helvetica Neue"/>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329" name="Google Shape;329;p52"/>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1pPr>
            <a:lvl2pPr indent="-228600" lvl="1" marL="914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2pPr>
            <a:lvl3pPr indent="-228600" lvl="2" marL="1371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3pPr>
            <a:lvl4pPr indent="-228600" lvl="3" marL="18288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4pPr>
            <a:lvl5pPr indent="-228600" lvl="4" marL="22860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5pPr>
            <a:lvl6pPr indent="-228600" lvl="5" marL="27432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6pPr>
            <a:lvl7pPr indent="-228600" lvl="6" marL="32004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7pPr>
            <a:lvl8pPr indent="-228600" lvl="7" marL="3657600" rtl="0">
              <a:lnSpc>
                <a:spcPct val="115000"/>
              </a:lnSpc>
              <a:spcBef>
                <a:spcPts val="1600"/>
              </a:spcBef>
              <a:spcAft>
                <a:spcPts val="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8pPr>
            <a:lvl9pPr indent="-228600" lvl="8" marL="4114800" rtl="0">
              <a:lnSpc>
                <a:spcPct val="115000"/>
              </a:lnSpc>
              <a:spcBef>
                <a:spcPts val="1600"/>
              </a:spcBef>
              <a:spcAft>
                <a:spcPts val="1600"/>
              </a:spcAft>
              <a:buClr>
                <a:srgbClr val="FFFFFF"/>
              </a:buClr>
              <a:buSzPts val="1500"/>
              <a:buFont typeface="Helvetica Neue Light"/>
              <a:buNone/>
              <a:defRPr sz="1500">
                <a:solidFill>
                  <a:srgbClr val="FFFFFF"/>
                </a:solidFill>
                <a:latin typeface="Helvetica Neue Light"/>
                <a:ea typeface="Helvetica Neue Light"/>
                <a:cs typeface="Helvetica Neue Light"/>
                <a:sym typeface="Helvetica Neue Light"/>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White">
  <p:cSld name="BLANK_3_2_1_1_1_1_1">
    <p:spTree>
      <p:nvGrpSpPr>
        <p:cNvPr id="330" name="Shape 330"/>
        <p:cNvGrpSpPr/>
        <p:nvPr/>
      </p:nvGrpSpPr>
      <p:grpSpPr>
        <a:xfrm>
          <a:off x="0" y="0"/>
          <a:ext cx="0" cy="0"/>
          <a:chOff x="0" y="0"/>
          <a:chExt cx="0" cy="0"/>
        </a:xfrm>
      </p:grpSpPr>
      <p:sp>
        <p:nvSpPr>
          <p:cNvPr id="331" name="Google Shape;331;p53"/>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2pPr>
            <a:lvl3pPr lvl="2"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3pPr>
            <a:lvl4pPr lvl="3"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4pPr>
            <a:lvl5pPr lvl="4"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5pPr>
            <a:lvl6pPr lvl="5"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6pPr>
            <a:lvl7pPr lvl="6"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7pPr>
            <a:lvl8pPr lvl="7"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8pPr>
            <a:lvl9pPr lvl="8"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9pPr>
          </a:lstStyle>
          <a:p/>
        </p:txBody>
      </p:sp>
      <p:sp>
        <p:nvSpPr>
          <p:cNvPr id="332" name="Google Shape;332;p53"/>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chemeClr val="dk1"/>
              </a:buClr>
              <a:buSzPts val="1500"/>
              <a:buNone/>
              <a:defRPr sz="1500">
                <a:solidFill>
                  <a:schemeClr val="dk1"/>
                </a:solidFill>
              </a:defRPr>
            </a:lvl1pPr>
            <a:lvl2pPr indent="-228600" lvl="1" marL="914400" rtl="0">
              <a:lnSpc>
                <a:spcPct val="115000"/>
              </a:lnSpc>
              <a:spcBef>
                <a:spcPts val="1600"/>
              </a:spcBef>
              <a:spcAft>
                <a:spcPts val="0"/>
              </a:spcAft>
              <a:buClr>
                <a:schemeClr val="dk1"/>
              </a:buClr>
              <a:buSzPts val="1500"/>
              <a:buNone/>
              <a:defRPr sz="1500">
                <a:solidFill>
                  <a:schemeClr val="dk1"/>
                </a:solidFill>
              </a:defRPr>
            </a:lvl2pPr>
            <a:lvl3pPr indent="-228600" lvl="2" marL="1371600" rtl="0">
              <a:lnSpc>
                <a:spcPct val="115000"/>
              </a:lnSpc>
              <a:spcBef>
                <a:spcPts val="1600"/>
              </a:spcBef>
              <a:spcAft>
                <a:spcPts val="0"/>
              </a:spcAft>
              <a:buClr>
                <a:schemeClr val="dk1"/>
              </a:buClr>
              <a:buSzPts val="1500"/>
              <a:buNone/>
              <a:defRPr sz="1500">
                <a:solidFill>
                  <a:schemeClr val="dk1"/>
                </a:solidFill>
              </a:defRPr>
            </a:lvl3pPr>
            <a:lvl4pPr indent="-228600" lvl="3" marL="1828800" rtl="0">
              <a:lnSpc>
                <a:spcPct val="115000"/>
              </a:lnSpc>
              <a:spcBef>
                <a:spcPts val="1600"/>
              </a:spcBef>
              <a:spcAft>
                <a:spcPts val="0"/>
              </a:spcAft>
              <a:buClr>
                <a:schemeClr val="dk1"/>
              </a:buClr>
              <a:buSzPts val="1500"/>
              <a:buNone/>
              <a:defRPr sz="1500">
                <a:solidFill>
                  <a:schemeClr val="dk1"/>
                </a:solidFill>
              </a:defRPr>
            </a:lvl4pPr>
            <a:lvl5pPr indent="-228600" lvl="4" marL="2286000" rtl="0">
              <a:lnSpc>
                <a:spcPct val="115000"/>
              </a:lnSpc>
              <a:spcBef>
                <a:spcPts val="1600"/>
              </a:spcBef>
              <a:spcAft>
                <a:spcPts val="0"/>
              </a:spcAft>
              <a:buClr>
                <a:schemeClr val="dk1"/>
              </a:buClr>
              <a:buSzPts val="1500"/>
              <a:buNone/>
              <a:defRPr sz="1500">
                <a:solidFill>
                  <a:schemeClr val="dk1"/>
                </a:solidFill>
              </a:defRPr>
            </a:lvl5pPr>
            <a:lvl6pPr indent="-228600" lvl="5" marL="2743200" rtl="0">
              <a:lnSpc>
                <a:spcPct val="115000"/>
              </a:lnSpc>
              <a:spcBef>
                <a:spcPts val="1600"/>
              </a:spcBef>
              <a:spcAft>
                <a:spcPts val="0"/>
              </a:spcAft>
              <a:buClr>
                <a:schemeClr val="dk1"/>
              </a:buClr>
              <a:buSzPts val="1500"/>
              <a:buNone/>
              <a:defRPr sz="1500">
                <a:solidFill>
                  <a:schemeClr val="dk1"/>
                </a:solidFill>
              </a:defRPr>
            </a:lvl6pPr>
            <a:lvl7pPr indent="-228600" lvl="6" marL="3200400" rtl="0">
              <a:lnSpc>
                <a:spcPct val="115000"/>
              </a:lnSpc>
              <a:spcBef>
                <a:spcPts val="1600"/>
              </a:spcBef>
              <a:spcAft>
                <a:spcPts val="0"/>
              </a:spcAft>
              <a:buClr>
                <a:schemeClr val="dk1"/>
              </a:buClr>
              <a:buSzPts val="1500"/>
              <a:buNone/>
              <a:defRPr sz="1500">
                <a:solidFill>
                  <a:schemeClr val="dk1"/>
                </a:solidFill>
              </a:defRPr>
            </a:lvl7pPr>
            <a:lvl8pPr indent="-228600" lvl="7" marL="3657600" rtl="0">
              <a:lnSpc>
                <a:spcPct val="115000"/>
              </a:lnSpc>
              <a:spcBef>
                <a:spcPts val="1600"/>
              </a:spcBef>
              <a:spcAft>
                <a:spcPts val="0"/>
              </a:spcAft>
              <a:buClr>
                <a:schemeClr val="dk1"/>
              </a:buClr>
              <a:buSzPts val="1500"/>
              <a:buNone/>
              <a:defRPr sz="1500">
                <a:solidFill>
                  <a:schemeClr val="dk1"/>
                </a:solidFill>
              </a:defRPr>
            </a:lvl8pPr>
            <a:lvl9pPr indent="-228600" lvl="8" marL="4114800" rtl="0">
              <a:lnSpc>
                <a:spcPct val="115000"/>
              </a:lnSpc>
              <a:spcBef>
                <a:spcPts val="1600"/>
              </a:spcBef>
              <a:spcAft>
                <a:spcPts val="1600"/>
              </a:spcAft>
              <a:buClr>
                <a:schemeClr val="dk1"/>
              </a:buClr>
              <a:buSzPts val="1500"/>
              <a:buNone/>
              <a:defRPr sz="1500">
                <a:solidFill>
                  <a:schemeClr val="dk1"/>
                </a:solidFill>
              </a:defRPr>
            </a:lvl9pPr>
          </a:lstStyle>
          <a:p/>
        </p:txBody>
      </p:sp>
      <p:pic>
        <p:nvPicPr>
          <p:cNvPr id="333" name="Google Shape;333;p53"/>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334" name="Google Shape;334;p53"/>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335" name="Google Shape;335;p53"/>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Section Divider - White 1">
  <p:cSld name="BLANK_3_2_1_1_1_1_1_1">
    <p:spTree>
      <p:nvGrpSpPr>
        <p:cNvPr id="336" name="Shape 336"/>
        <p:cNvGrpSpPr/>
        <p:nvPr/>
      </p:nvGrpSpPr>
      <p:grpSpPr>
        <a:xfrm>
          <a:off x="0" y="0"/>
          <a:ext cx="0" cy="0"/>
          <a:chOff x="0" y="0"/>
          <a:chExt cx="0" cy="0"/>
        </a:xfrm>
      </p:grpSpPr>
      <p:sp>
        <p:nvSpPr>
          <p:cNvPr id="337" name="Google Shape;337;p54"/>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2pPr>
            <a:lvl3pPr lvl="2"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3pPr>
            <a:lvl4pPr lvl="3"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4pPr>
            <a:lvl5pPr lvl="4"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5pPr>
            <a:lvl6pPr lvl="5"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6pPr>
            <a:lvl7pPr lvl="6"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7pPr>
            <a:lvl8pPr lvl="7"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8pPr>
            <a:lvl9pPr lvl="8"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9pPr>
          </a:lstStyle>
          <a:p/>
        </p:txBody>
      </p:sp>
      <p:sp>
        <p:nvSpPr>
          <p:cNvPr id="338" name="Google Shape;338;p54"/>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lvl1pPr indent="-228600" lvl="0" marL="457200" rtl="0">
              <a:lnSpc>
                <a:spcPct val="115000"/>
              </a:lnSpc>
              <a:spcBef>
                <a:spcPts val="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1pPr>
            <a:lvl2pPr indent="-228600" lvl="1" marL="914400" rtl="0">
              <a:lnSpc>
                <a:spcPct val="115000"/>
              </a:lnSpc>
              <a:spcBef>
                <a:spcPts val="160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2pPr>
            <a:lvl3pPr indent="-228600" lvl="2" marL="1371600" rtl="0">
              <a:lnSpc>
                <a:spcPct val="115000"/>
              </a:lnSpc>
              <a:spcBef>
                <a:spcPts val="160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3pPr>
            <a:lvl4pPr indent="-228600" lvl="3" marL="1828800" rtl="0">
              <a:lnSpc>
                <a:spcPct val="115000"/>
              </a:lnSpc>
              <a:spcBef>
                <a:spcPts val="160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4pPr>
            <a:lvl5pPr indent="-228600" lvl="4" marL="2286000" rtl="0">
              <a:lnSpc>
                <a:spcPct val="115000"/>
              </a:lnSpc>
              <a:spcBef>
                <a:spcPts val="160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5pPr>
            <a:lvl6pPr indent="-228600" lvl="5" marL="2743200" rtl="0">
              <a:lnSpc>
                <a:spcPct val="115000"/>
              </a:lnSpc>
              <a:spcBef>
                <a:spcPts val="160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6pPr>
            <a:lvl7pPr indent="-228600" lvl="6" marL="3200400" rtl="0">
              <a:lnSpc>
                <a:spcPct val="115000"/>
              </a:lnSpc>
              <a:spcBef>
                <a:spcPts val="160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7pPr>
            <a:lvl8pPr indent="-228600" lvl="7" marL="3657600" rtl="0">
              <a:lnSpc>
                <a:spcPct val="115000"/>
              </a:lnSpc>
              <a:spcBef>
                <a:spcPts val="1600"/>
              </a:spcBef>
              <a:spcAft>
                <a:spcPts val="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8pPr>
            <a:lvl9pPr indent="-228600" lvl="8" marL="4114800" rtl="0">
              <a:lnSpc>
                <a:spcPct val="115000"/>
              </a:lnSpc>
              <a:spcBef>
                <a:spcPts val="1600"/>
              </a:spcBef>
              <a:spcAft>
                <a:spcPts val="1600"/>
              </a:spcAft>
              <a:buClr>
                <a:schemeClr val="dk1"/>
              </a:buClr>
              <a:buSzPts val="1500"/>
              <a:buFont typeface="Helvetica Neue Light"/>
              <a:buNone/>
              <a:defRPr sz="1500">
                <a:solidFill>
                  <a:schemeClr val="dk1"/>
                </a:solidFill>
                <a:latin typeface="Helvetica Neue Light"/>
                <a:ea typeface="Helvetica Neue Light"/>
                <a:cs typeface="Helvetica Neue Light"/>
                <a:sym typeface="Helvetica Neue Light"/>
              </a:defRPr>
            </a:lvl9pPr>
          </a:lstStyle>
          <a:p/>
        </p:txBody>
      </p:sp>
      <p:pic>
        <p:nvPicPr>
          <p:cNvPr id="339" name="Google Shape;339;p54"/>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340" name="Google Shape;340;p54"/>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pic>
        <p:nvPicPr>
          <p:cNvPr id="341" name="Google Shape;341;p54"/>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itle &amp; List - Purple">
  <p:cSld name="BLANK_3_1">
    <p:spTree>
      <p:nvGrpSpPr>
        <p:cNvPr id="342" name="Shape 342"/>
        <p:cNvGrpSpPr/>
        <p:nvPr/>
      </p:nvGrpSpPr>
      <p:grpSpPr>
        <a:xfrm>
          <a:off x="0" y="0"/>
          <a:ext cx="0" cy="0"/>
          <a:chOff x="0" y="0"/>
          <a:chExt cx="0" cy="0"/>
        </a:xfrm>
      </p:grpSpPr>
      <p:sp>
        <p:nvSpPr>
          <p:cNvPr id="343" name="Google Shape;343;p55"/>
          <p:cNvSpPr txBox="1"/>
          <p:nvPr>
            <p:ph type="title"/>
          </p:nvPr>
        </p:nvSpPr>
        <p:spPr>
          <a:xfrm>
            <a:off x="571500" y="457200"/>
            <a:ext cx="8115300" cy="571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2pPr>
            <a:lvl3pPr lvl="2"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3pPr>
            <a:lvl4pPr lvl="3"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4pPr>
            <a:lvl5pPr lvl="4"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5pPr>
            <a:lvl6pPr lvl="5"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6pPr>
            <a:lvl7pPr lvl="6"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7pPr>
            <a:lvl8pPr lvl="7"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8pPr>
            <a:lvl9pPr lvl="8"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9pPr>
          </a:lstStyle>
          <a:p/>
        </p:txBody>
      </p:sp>
      <p:sp>
        <p:nvSpPr>
          <p:cNvPr id="344" name="Google Shape;344;p55"/>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sp>
        <p:nvSpPr>
          <p:cNvPr id="345" name="Google Shape;345;p55"/>
          <p:cNvSpPr txBox="1"/>
          <p:nvPr>
            <p:ph idx="1" type="subTitle"/>
          </p:nvPr>
        </p:nvSpPr>
        <p:spPr>
          <a:xfrm>
            <a:off x="567822" y="1828800"/>
            <a:ext cx="5124600" cy="45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46" name="Google Shape;346;p55"/>
          <p:cNvSpPr txBox="1"/>
          <p:nvPr>
            <p:ph idx="2" type="subTitle"/>
          </p:nvPr>
        </p:nvSpPr>
        <p:spPr>
          <a:xfrm>
            <a:off x="567822" y="2286000"/>
            <a:ext cx="5124600" cy="4572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47" name="Google Shape;347;p55"/>
          <p:cNvSpPr txBox="1"/>
          <p:nvPr>
            <p:ph idx="3" type="subTitle"/>
          </p:nvPr>
        </p:nvSpPr>
        <p:spPr>
          <a:xfrm>
            <a:off x="567822" y="2743200"/>
            <a:ext cx="5124600" cy="457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348" name="Google Shape;348;p55"/>
          <p:cNvPicPr preferRelativeResize="0"/>
          <p:nvPr/>
        </p:nvPicPr>
        <p:blipFill rotWithShape="1">
          <a:blip r:embed="rId2">
            <a:alphaModFix/>
          </a:blip>
          <a:srcRect b="0" l="98882" r="0" t="0"/>
          <a:stretch/>
        </p:blipFill>
        <p:spPr>
          <a:xfrm>
            <a:off x="9041762" y="0"/>
            <a:ext cx="102240" cy="5143513"/>
          </a:xfrm>
          <a:prstGeom prst="rect">
            <a:avLst/>
          </a:prstGeom>
          <a:noFill/>
          <a:ln>
            <a:noFill/>
          </a:ln>
        </p:spPr>
      </p:pic>
      <p:pic>
        <p:nvPicPr>
          <p:cNvPr id="349" name="Google Shape;349;p55"/>
          <p:cNvPicPr preferRelativeResize="0"/>
          <p:nvPr/>
        </p:nvPicPr>
        <p:blipFill>
          <a:blip r:embed="rId3">
            <a:alphaModFix/>
          </a:blip>
          <a:stretch>
            <a:fillRect/>
          </a:stretch>
        </p:blipFill>
        <p:spPr>
          <a:xfrm>
            <a:off x="296923" y="4650790"/>
            <a:ext cx="834198" cy="256032"/>
          </a:xfrm>
          <a:prstGeom prst="rect">
            <a:avLst/>
          </a:prstGeom>
          <a:noFill/>
          <a:ln>
            <a:noFill/>
          </a:ln>
        </p:spPr>
      </p:pic>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guide id="31" pos="360">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itle &amp; List - Blue">
  <p:cSld name="BLANK_3_1_1">
    <p:spTree>
      <p:nvGrpSpPr>
        <p:cNvPr id="350" name="Shape 350"/>
        <p:cNvGrpSpPr/>
        <p:nvPr/>
      </p:nvGrpSpPr>
      <p:grpSpPr>
        <a:xfrm>
          <a:off x="0" y="0"/>
          <a:ext cx="0" cy="0"/>
          <a:chOff x="0" y="0"/>
          <a:chExt cx="0" cy="0"/>
        </a:xfrm>
      </p:grpSpPr>
      <p:pic>
        <p:nvPicPr>
          <p:cNvPr id="351" name="Google Shape;351;p56"/>
          <p:cNvPicPr preferRelativeResize="0"/>
          <p:nvPr/>
        </p:nvPicPr>
        <p:blipFill rotWithShape="1">
          <a:blip r:embed="rId2">
            <a:alphaModFix/>
          </a:blip>
          <a:srcRect b="0" l="98857" r="0" t="0"/>
          <a:stretch/>
        </p:blipFill>
        <p:spPr>
          <a:xfrm>
            <a:off x="9039503" y="0"/>
            <a:ext cx="104501" cy="5143513"/>
          </a:xfrm>
          <a:prstGeom prst="rect">
            <a:avLst/>
          </a:prstGeom>
          <a:noFill/>
          <a:ln>
            <a:noFill/>
          </a:ln>
        </p:spPr>
      </p:pic>
      <p:pic>
        <p:nvPicPr>
          <p:cNvPr id="352" name="Google Shape;352;p56"/>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53" name="Google Shape;353;p56"/>
          <p:cNvSpPr txBox="1"/>
          <p:nvPr>
            <p:ph type="title"/>
          </p:nvPr>
        </p:nvSpPr>
        <p:spPr>
          <a:xfrm>
            <a:off x="571500" y="457200"/>
            <a:ext cx="8115300" cy="571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2pPr>
            <a:lvl3pPr lvl="2"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3pPr>
            <a:lvl4pPr lvl="3"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4pPr>
            <a:lvl5pPr lvl="4"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5pPr>
            <a:lvl6pPr lvl="5"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6pPr>
            <a:lvl7pPr lvl="6"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7pPr>
            <a:lvl8pPr lvl="7"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8pPr>
            <a:lvl9pPr lvl="8"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9pPr>
          </a:lstStyle>
          <a:p/>
        </p:txBody>
      </p:sp>
      <p:sp>
        <p:nvSpPr>
          <p:cNvPr id="354" name="Google Shape;354;p56"/>
          <p:cNvSpPr txBox="1"/>
          <p:nvPr>
            <p:ph idx="1" type="subTitle"/>
          </p:nvPr>
        </p:nvSpPr>
        <p:spPr>
          <a:xfrm>
            <a:off x="567822" y="1828800"/>
            <a:ext cx="5124600" cy="45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5" name="Google Shape;355;p56"/>
          <p:cNvSpPr txBox="1"/>
          <p:nvPr>
            <p:ph idx="2" type="subTitle"/>
          </p:nvPr>
        </p:nvSpPr>
        <p:spPr>
          <a:xfrm>
            <a:off x="567822" y="2286000"/>
            <a:ext cx="5124600" cy="4572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6" name="Google Shape;356;p56"/>
          <p:cNvSpPr txBox="1"/>
          <p:nvPr>
            <p:ph idx="3" type="subTitle"/>
          </p:nvPr>
        </p:nvSpPr>
        <p:spPr>
          <a:xfrm>
            <a:off x="567822" y="2743200"/>
            <a:ext cx="5124600" cy="457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itle &amp; List - Turquoise">
  <p:cSld name="BLANK_3_1_1_1">
    <p:spTree>
      <p:nvGrpSpPr>
        <p:cNvPr id="357" name="Shape 357"/>
        <p:cNvGrpSpPr/>
        <p:nvPr/>
      </p:nvGrpSpPr>
      <p:grpSpPr>
        <a:xfrm>
          <a:off x="0" y="0"/>
          <a:ext cx="0" cy="0"/>
          <a:chOff x="0" y="0"/>
          <a:chExt cx="0" cy="0"/>
        </a:xfrm>
      </p:grpSpPr>
      <p:pic>
        <p:nvPicPr>
          <p:cNvPr id="358" name="Google Shape;358;p57"/>
          <p:cNvPicPr preferRelativeResize="0"/>
          <p:nvPr/>
        </p:nvPicPr>
        <p:blipFill rotWithShape="1">
          <a:blip r:embed="rId2">
            <a:alphaModFix/>
          </a:blip>
          <a:srcRect b="0" l="98862" r="0" t="0"/>
          <a:stretch/>
        </p:blipFill>
        <p:spPr>
          <a:xfrm>
            <a:off x="9039947" y="0"/>
            <a:ext cx="104040" cy="5143500"/>
          </a:xfrm>
          <a:prstGeom prst="rect">
            <a:avLst/>
          </a:prstGeom>
          <a:noFill/>
          <a:ln>
            <a:noFill/>
          </a:ln>
        </p:spPr>
      </p:pic>
      <p:pic>
        <p:nvPicPr>
          <p:cNvPr id="359" name="Google Shape;359;p57"/>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60" name="Google Shape;360;p57"/>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sp>
        <p:nvSpPr>
          <p:cNvPr id="361" name="Google Shape;361;p57"/>
          <p:cNvSpPr txBox="1"/>
          <p:nvPr>
            <p:ph type="title"/>
          </p:nvPr>
        </p:nvSpPr>
        <p:spPr>
          <a:xfrm>
            <a:off x="571500" y="457200"/>
            <a:ext cx="8115300" cy="571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2pPr>
            <a:lvl3pPr lvl="2"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3pPr>
            <a:lvl4pPr lvl="3"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4pPr>
            <a:lvl5pPr lvl="4"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5pPr>
            <a:lvl6pPr lvl="5"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6pPr>
            <a:lvl7pPr lvl="6"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7pPr>
            <a:lvl8pPr lvl="7"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8pPr>
            <a:lvl9pPr lvl="8"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9pPr>
          </a:lstStyle>
          <a:p/>
        </p:txBody>
      </p:sp>
      <p:sp>
        <p:nvSpPr>
          <p:cNvPr id="362" name="Google Shape;362;p57"/>
          <p:cNvSpPr txBox="1"/>
          <p:nvPr>
            <p:ph idx="1" type="subTitle"/>
          </p:nvPr>
        </p:nvSpPr>
        <p:spPr>
          <a:xfrm>
            <a:off x="567822" y="1828800"/>
            <a:ext cx="5124600" cy="45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3" name="Google Shape;363;p57"/>
          <p:cNvSpPr txBox="1"/>
          <p:nvPr>
            <p:ph idx="2" type="subTitle"/>
          </p:nvPr>
        </p:nvSpPr>
        <p:spPr>
          <a:xfrm>
            <a:off x="567822" y="2286000"/>
            <a:ext cx="5124600" cy="4572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4" name="Google Shape;364;p57"/>
          <p:cNvSpPr txBox="1"/>
          <p:nvPr>
            <p:ph idx="3" type="subTitle"/>
          </p:nvPr>
        </p:nvSpPr>
        <p:spPr>
          <a:xfrm>
            <a:off x="567822" y="2743200"/>
            <a:ext cx="5124600" cy="457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itle &amp; List - Black &amp; Slate">
  <p:cSld name="BLANK_3_1_1_1_1">
    <p:bg>
      <p:bgPr>
        <a:solidFill>
          <a:schemeClr val="lt1"/>
        </a:solidFill>
      </p:bgPr>
    </p:bg>
    <p:spTree>
      <p:nvGrpSpPr>
        <p:cNvPr id="365" name="Shape 365"/>
        <p:cNvGrpSpPr/>
        <p:nvPr/>
      </p:nvGrpSpPr>
      <p:grpSpPr>
        <a:xfrm>
          <a:off x="0" y="0"/>
          <a:ext cx="0" cy="0"/>
          <a:chOff x="0" y="0"/>
          <a:chExt cx="0" cy="0"/>
        </a:xfrm>
      </p:grpSpPr>
      <p:pic>
        <p:nvPicPr>
          <p:cNvPr id="366" name="Google Shape;366;p58"/>
          <p:cNvPicPr preferRelativeResize="0"/>
          <p:nvPr/>
        </p:nvPicPr>
        <p:blipFill rotWithShape="1">
          <a:blip r:embed="rId2">
            <a:alphaModFix/>
          </a:blip>
          <a:srcRect b="0" l="98833" r="0" t="0"/>
          <a:stretch/>
        </p:blipFill>
        <p:spPr>
          <a:xfrm>
            <a:off x="9037235" y="0"/>
            <a:ext cx="106752" cy="5143500"/>
          </a:xfrm>
          <a:prstGeom prst="rect">
            <a:avLst/>
          </a:prstGeom>
          <a:noFill/>
          <a:ln>
            <a:noFill/>
          </a:ln>
        </p:spPr>
      </p:pic>
      <p:pic>
        <p:nvPicPr>
          <p:cNvPr id="367" name="Google Shape;367;p58"/>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68" name="Google Shape;368;p58"/>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sp>
        <p:nvSpPr>
          <p:cNvPr id="369" name="Google Shape;369;p58"/>
          <p:cNvSpPr txBox="1"/>
          <p:nvPr>
            <p:ph type="title"/>
          </p:nvPr>
        </p:nvSpPr>
        <p:spPr>
          <a:xfrm>
            <a:off x="571500" y="457200"/>
            <a:ext cx="8115300" cy="571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2pPr>
            <a:lvl3pPr lvl="2"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3pPr>
            <a:lvl4pPr lvl="3"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4pPr>
            <a:lvl5pPr lvl="4"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5pPr>
            <a:lvl6pPr lvl="5"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6pPr>
            <a:lvl7pPr lvl="6"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7pPr>
            <a:lvl8pPr lvl="7"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8pPr>
            <a:lvl9pPr lvl="8"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9pPr>
          </a:lstStyle>
          <a:p/>
        </p:txBody>
      </p:sp>
      <p:sp>
        <p:nvSpPr>
          <p:cNvPr id="370" name="Google Shape;370;p58"/>
          <p:cNvSpPr txBox="1"/>
          <p:nvPr>
            <p:ph idx="1" type="subTitle"/>
          </p:nvPr>
        </p:nvSpPr>
        <p:spPr>
          <a:xfrm>
            <a:off x="567822" y="1828800"/>
            <a:ext cx="5124600" cy="45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1" name="Google Shape;371;p58"/>
          <p:cNvSpPr txBox="1"/>
          <p:nvPr>
            <p:ph idx="2" type="subTitle"/>
          </p:nvPr>
        </p:nvSpPr>
        <p:spPr>
          <a:xfrm>
            <a:off x="567822" y="2286000"/>
            <a:ext cx="5124600" cy="4572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2" name="Google Shape;372;p58"/>
          <p:cNvSpPr txBox="1"/>
          <p:nvPr>
            <p:ph idx="3" type="subTitle"/>
          </p:nvPr>
        </p:nvSpPr>
        <p:spPr>
          <a:xfrm>
            <a:off x="567822" y="2743200"/>
            <a:ext cx="5124600" cy="457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itle &amp; List - Black &amp; Slate 1">
  <p:cSld name="BLANK_3_1_1_1_1_1">
    <p:spTree>
      <p:nvGrpSpPr>
        <p:cNvPr id="373" name="Shape 373"/>
        <p:cNvGrpSpPr/>
        <p:nvPr/>
      </p:nvGrpSpPr>
      <p:grpSpPr>
        <a:xfrm>
          <a:off x="0" y="0"/>
          <a:ext cx="0" cy="0"/>
          <a:chOff x="0" y="0"/>
          <a:chExt cx="0" cy="0"/>
        </a:xfrm>
      </p:grpSpPr>
      <p:pic>
        <p:nvPicPr>
          <p:cNvPr id="374" name="Google Shape;374;p59"/>
          <p:cNvPicPr preferRelativeResize="0"/>
          <p:nvPr/>
        </p:nvPicPr>
        <p:blipFill rotWithShape="1">
          <a:blip r:embed="rId2">
            <a:alphaModFix/>
          </a:blip>
          <a:srcRect b="0" l="98834" r="0" t="0"/>
          <a:stretch/>
        </p:blipFill>
        <p:spPr>
          <a:xfrm>
            <a:off x="9037403" y="0"/>
            <a:ext cx="106603" cy="5143513"/>
          </a:xfrm>
          <a:prstGeom prst="rect">
            <a:avLst/>
          </a:prstGeom>
          <a:noFill/>
          <a:ln>
            <a:noFill/>
          </a:ln>
        </p:spPr>
      </p:pic>
      <p:pic>
        <p:nvPicPr>
          <p:cNvPr id="375" name="Google Shape;375;p59"/>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
        <p:nvSpPr>
          <p:cNvPr id="376" name="Google Shape;376;p59"/>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i="0" lang="en" sz="800" u="none" cap="none" strike="noStrike">
                <a:solidFill>
                  <a:schemeClr val="dk1"/>
                </a:solidFill>
                <a:latin typeface="Helvetica Neue"/>
                <a:ea typeface="Helvetica Neue"/>
                <a:cs typeface="Helvetica Neue"/>
                <a:sym typeface="Helvetica Neue"/>
              </a:rPr>
              <a:t>© Flatiron Health </a:t>
            </a:r>
            <a:endParaRPr sz="1400">
              <a:latin typeface="Helvetica Neue"/>
              <a:ea typeface="Helvetica Neue"/>
              <a:cs typeface="Helvetica Neue"/>
              <a:sym typeface="Helvetica Neue"/>
            </a:endParaRPr>
          </a:p>
        </p:txBody>
      </p:sp>
      <p:sp>
        <p:nvSpPr>
          <p:cNvPr id="377" name="Google Shape;377;p59"/>
          <p:cNvSpPr txBox="1"/>
          <p:nvPr>
            <p:ph type="title"/>
          </p:nvPr>
        </p:nvSpPr>
        <p:spPr>
          <a:xfrm>
            <a:off x="571500" y="457200"/>
            <a:ext cx="8115300" cy="571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Helvetica Neue"/>
              <a:buNone/>
              <a:defRPr b="1" sz="2400">
                <a:solidFill>
                  <a:schemeClr val="dk1"/>
                </a:solidFill>
                <a:latin typeface="Helvetica Neue"/>
                <a:ea typeface="Helvetica Neue"/>
                <a:cs typeface="Helvetica Neue"/>
                <a:sym typeface="Helvetica Neue"/>
              </a:defRPr>
            </a:lvl1pPr>
            <a:lvl2pPr lvl="1"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2pPr>
            <a:lvl3pPr lvl="2"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3pPr>
            <a:lvl4pPr lvl="3"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4pPr>
            <a:lvl5pPr lvl="4"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5pPr>
            <a:lvl6pPr lvl="5"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6pPr>
            <a:lvl7pPr lvl="6"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7pPr>
            <a:lvl8pPr lvl="7"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8pPr>
            <a:lvl9pPr lvl="8" rtl="0">
              <a:spcBef>
                <a:spcPts val="0"/>
              </a:spcBef>
              <a:spcAft>
                <a:spcPts val="0"/>
              </a:spcAft>
              <a:buClr>
                <a:schemeClr val="accent1"/>
              </a:buClr>
              <a:buSzPts val="4000"/>
              <a:buFont typeface="Helvetica Neue Light"/>
              <a:buNone/>
              <a:defRPr sz="4000">
                <a:solidFill>
                  <a:schemeClr val="accent1"/>
                </a:solidFill>
                <a:latin typeface="Helvetica Neue Light"/>
                <a:ea typeface="Helvetica Neue Light"/>
                <a:cs typeface="Helvetica Neue Light"/>
                <a:sym typeface="Helvetica Neue Light"/>
              </a:defRPr>
            </a:lvl9pPr>
          </a:lstStyle>
          <a:p/>
        </p:txBody>
      </p:sp>
      <p:sp>
        <p:nvSpPr>
          <p:cNvPr id="378" name="Google Shape;378;p59"/>
          <p:cNvSpPr txBox="1"/>
          <p:nvPr>
            <p:ph idx="1" type="subTitle"/>
          </p:nvPr>
        </p:nvSpPr>
        <p:spPr>
          <a:xfrm>
            <a:off x="567822" y="1828800"/>
            <a:ext cx="5124600" cy="45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9" name="Google Shape;379;p59"/>
          <p:cNvSpPr txBox="1"/>
          <p:nvPr>
            <p:ph idx="2" type="subTitle"/>
          </p:nvPr>
        </p:nvSpPr>
        <p:spPr>
          <a:xfrm>
            <a:off x="567822" y="2286000"/>
            <a:ext cx="5124600" cy="4572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80" name="Google Shape;380;p59"/>
          <p:cNvSpPr txBox="1"/>
          <p:nvPr>
            <p:ph idx="3" type="subTitle"/>
          </p:nvPr>
        </p:nvSpPr>
        <p:spPr>
          <a:xfrm>
            <a:off x="567822" y="2743200"/>
            <a:ext cx="5124600" cy="457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1500"/>
              <a:buFont typeface="Helvetica Neue Light"/>
              <a:buNone/>
              <a:defRPr sz="1500">
                <a:latin typeface="Helvetica Neue Light"/>
                <a:ea typeface="Helvetica Neue Light"/>
                <a:cs typeface="Helvetica Neue Light"/>
                <a:sym typeface="Helvetica Neue Ligh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1" name="Shape 381"/>
        <p:cNvGrpSpPr/>
        <p:nvPr/>
      </p:nvGrpSpPr>
      <p:grpSpPr>
        <a:xfrm>
          <a:off x="0" y="0"/>
          <a:ext cx="0" cy="0"/>
          <a:chOff x="0" y="0"/>
          <a:chExt cx="0" cy="0"/>
        </a:xfrm>
      </p:grpSpPr>
      <p:sp>
        <p:nvSpPr>
          <p:cNvPr id="382" name="Google Shape;382;p6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383" name="Google Shape;383;p6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28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urple">
  <p:cSld name="BLANK_4">
    <p:bg>
      <p:bgPr>
        <a:solidFill>
          <a:srgbClr val="5051DB"/>
        </a:solidFill>
      </p:bgPr>
    </p:bg>
    <p:spTree>
      <p:nvGrpSpPr>
        <p:cNvPr id="384" name="Shape 384"/>
        <p:cNvGrpSpPr/>
        <p:nvPr/>
      </p:nvGrpSpPr>
      <p:grpSpPr>
        <a:xfrm>
          <a:off x="0" y="0"/>
          <a:ext cx="0" cy="0"/>
          <a:chOff x="0" y="0"/>
          <a:chExt cx="0" cy="0"/>
        </a:xfrm>
      </p:grpSpPr>
      <p:pic>
        <p:nvPicPr>
          <p:cNvPr id="385" name="Google Shape;385;p61"/>
          <p:cNvPicPr preferRelativeResize="0"/>
          <p:nvPr/>
        </p:nvPicPr>
        <p:blipFill rotWithShape="1">
          <a:blip r:embed="rId2">
            <a:alphaModFix/>
          </a:blip>
          <a:srcRect b="0" l="0" r="0" t="0"/>
          <a:stretch/>
        </p:blipFill>
        <p:spPr>
          <a:xfrm>
            <a:off x="296923" y="4650790"/>
            <a:ext cx="1142999" cy="256032"/>
          </a:xfrm>
          <a:prstGeom prst="rect">
            <a:avLst/>
          </a:prstGeom>
          <a:noFill/>
          <a:ln>
            <a:noFill/>
          </a:ln>
        </p:spPr>
      </p:pic>
      <p:sp>
        <p:nvSpPr>
          <p:cNvPr id="386" name="Google Shape;386;p61"/>
          <p:cNvSpPr/>
          <p:nvPr/>
        </p:nvSpPr>
        <p:spPr>
          <a:xfrm>
            <a:off x="171175" y="4606600"/>
            <a:ext cx="1429500" cy="358500"/>
          </a:xfrm>
          <a:prstGeom prst="rect">
            <a:avLst/>
          </a:prstGeom>
          <a:solidFill>
            <a:srgbClr val="5051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61"/>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b="0" i="0" lang="en" sz="800" u="none" cap="none" strike="noStrike">
                <a:solidFill>
                  <a:schemeClr val="lt1"/>
                </a:solidFill>
                <a:latin typeface="Helvetica Neue"/>
                <a:ea typeface="Helvetica Neue"/>
                <a:cs typeface="Helvetica Neue"/>
                <a:sym typeface="Helvetica Neue"/>
              </a:rPr>
              <a:t>© Flatiron Health</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ntent Slide">
  <p:cSld name="Blank Content Slide">
    <p:spTree>
      <p:nvGrpSpPr>
        <p:cNvPr id="388" name="Shape 388"/>
        <p:cNvGrpSpPr/>
        <p:nvPr/>
      </p:nvGrpSpPr>
      <p:grpSpPr>
        <a:xfrm>
          <a:off x="0" y="0"/>
          <a:ext cx="0" cy="0"/>
          <a:chOff x="0" y="0"/>
          <a:chExt cx="0" cy="0"/>
        </a:xfrm>
      </p:grpSpPr>
      <p:pic>
        <p:nvPicPr>
          <p:cNvPr id="389" name="Google Shape;389;p62"/>
          <p:cNvPicPr preferRelativeResize="0"/>
          <p:nvPr/>
        </p:nvPicPr>
        <p:blipFill rotWithShape="1">
          <a:blip r:embed="rId2">
            <a:alphaModFix/>
          </a:blip>
          <a:srcRect b="0" l="0" r="0" t="0"/>
          <a:stretch/>
        </p:blipFill>
        <p:spPr>
          <a:xfrm>
            <a:off x="0" y="0"/>
            <a:ext cx="9144000" cy="5143511"/>
          </a:xfrm>
          <a:prstGeom prst="rect">
            <a:avLst/>
          </a:prstGeom>
          <a:noFill/>
          <a:ln>
            <a:noFill/>
          </a:ln>
        </p:spPr>
      </p:pic>
      <p:sp>
        <p:nvSpPr>
          <p:cNvPr id="390" name="Google Shape;390;p62"/>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b="0" i="0" lang="en" sz="800" u="none" cap="none" strike="noStrike">
                <a:solidFill>
                  <a:schemeClr val="dk1"/>
                </a:solidFill>
                <a:latin typeface="Helvetica Neue"/>
                <a:ea typeface="Helvetica Neue"/>
                <a:cs typeface="Helvetica Neue"/>
                <a:sym typeface="Helvetica Neue"/>
              </a:rPr>
              <a:t>© Flatiron Health </a:t>
            </a:r>
            <a:endParaRPr b="0" i="0" sz="1400" u="none" cap="none" strike="noStrike">
              <a:solidFill>
                <a:srgbClr val="000000"/>
              </a:solidFill>
              <a:latin typeface="Helvetica Neue"/>
              <a:ea typeface="Helvetica Neue"/>
              <a:cs typeface="Helvetica Neue"/>
              <a:sym typeface="Helvetica Neue"/>
            </a:endParaRPr>
          </a:p>
        </p:txBody>
      </p:sp>
      <p:pic>
        <p:nvPicPr>
          <p:cNvPr id="391" name="Google Shape;391;p62"/>
          <p:cNvPicPr preferRelativeResize="0"/>
          <p:nvPr/>
        </p:nvPicPr>
        <p:blipFill rotWithShape="1">
          <a:blip r:embed="rId3">
            <a:alphaModFix/>
          </a:blip>
          <a:srcRect b="0" l="0" r="0" t="0"/>
          <a:stretch/>
        </p:blipFill>
        <p:spPr>
          <a:xfrm>
            <a:off x="296923" y="4655223"/>
            <a:ext cx="819599" cy="25159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ntent Slide 1">
  <p:cSld name="Blank Content Slide_1">
    <p:spTree>
      <p:nvGrpSpPr>
        <p:cNvPr id="392" name="Shape 392"/>
        <p:cNvGrpSpPr/>
        <p:nvPr/>
      </p:nvGrpSpPr>
      <p:grpSpPr>
        <a:xfrm>
          <a:off x="0" y="0"/>
          <a:ext cx="0" cy="0"/>
          <a:chOff x="0" y="0"/>
          <a:chExt cx="0" cy="0"/>
        </a:xfrm>
      </p:grpSpPr>
      <p:sp>
        <p:nvSpPr>
          <p:cNvPr id="393" name="Google Shape;393;p63"/>
          <p:cNvSpPr txBox="1"/>
          <p:nvPr/>
        </p:nvSpPr>
        <p:spPr>
          <a:xfrm>
            <a:off x="7939100" y="4661025"/>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800"/>
              <a:buFont typeface="Arial"/>
              <a:buNone/>
            </a:pPr>
            <a:r>
              <a:rPr b="0" i="0" lang="en" sz="800" u="none" cap="none" strike="noStrike">
                <a:solidFill>
                  <a:schemeClr val="dk1"/>
                </a:solidFill>
                <a:latin typeface="Helvetica Neue"/>
                <a:ea typeface="Helvetica Neue"/>
                <a:cs typeface="Helvetica Neue"/>
                <a:sym typeface="Helvetica Neue"/>
              </a:rPr>
              <a:t>© Flatiron Health </a:t>
            </a:r>
            <a:endParaRPr b="0" i="0" sz="1400" u="none" cap="none" strike="noStrike">
              <a:solidFill>
                <a:srgbClr val="000000"/>
              </a:solidFill>
              <a:latin typeface="Helvetica Neue"/>
              <a:ea typeface="Helvetica Neue"/>
              <a:cs typeface="Helvetica Neue"/>
              <a:sym typeface="Helvetica Neue"/>
            </a:endParaRPr>
          </a:p>
        </p:txBody>
      </p:sp>
      <p:pic>
        <p:nvPicPr>
          <p:cNvPr id="394" name="Google Shape;394;p63"/>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pic>
        <p:nvPicPr>
          <p:cNvPr id="395" name="Google Shape;395;p63"/>
          <p:cNvPicPr preferRelativeResize="0"/>
          <p:nvPr/>
        </p:nvPicPr>
        <p:blipFill rotWithShape="1">
          <a:blip r:embed="rId3">
            <a:alphaModFix/>
          </a:blip>
          <a:srcRect b="0" l="98882" r="0" t="0"/>
          <a:stretch/>
        </p:blipFill>
        <p:spPr>
          <a:xfrm>
            <a:off x="9041762" y="0"/>
            <a:ext cx="102240" cy="5143513"/>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2 Speakers 1">
  <p:cSld name="BLANK_3_3_2">
    <p:bg>
      <p:bgPr>
        <a:solidFill>
          <a:srgbClr val="5051DB"/>
        </a:solidFill>
      </p:bgPr>
    </p:bg>
    <p:spTree>
      <p:nvGrpSpPr>
        <p:cNvPr id="396" name="Shape 396"/>
        <p:cNvGrpSpPr/>
        <p:nvPr/>
      </p:nvGrpSpPr>
      <p:grpSpPr>
        <a:xfrm>
          <a:off x="0" y="0"/>
          <a:ext cx="0" cy="0"/>
          <a:chOff x="0" y="0"/>
          <a:chExt cx="0" cy="0"/>
        </a:xfrm>
      </p:grpSpPr>
      <p:sp>
        <p:nvSpPr>
          <p:cNvPr id="397" name="Google Shape;397;p64"/>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a:latin typeface="Helvetica Neue"/>
              <a:ea typeface="Helvetica Neue"/>
              <a:cs typeface="Helvetica Neue"/>
              <a:sym typeface="Helvetica Neue"/>
            </a:endParaRPr>
          </a:p>
        </p:txBody>
      </p:sp>
      <p:pic>
        <p:nvPicPr>
          <p:cNvPr id="398" name="Google Shape;398;p64"/>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399" name="Google Shape;399;p64"/>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000"/>
              <a:buNone/>
              <a:defRPr sz="4000">
                <a:solidFill>
                  <a:srgbClr val="FFFFFF"/>
                </a:solidFill>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400" name="Google Shape;400;p64"/>
          <p:cNvSpPr txBox="1"/>
          <p:nvPr>
            <p:ph idx="1" type="subTitle"/>
          </p:nvPr>
        </p:nvSpPr>
        <p:spPr>
          <a:xfrm>
            <a:off x="457200" y="1828800"/>
            <a:ext cx="5029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800"/>
              <a:buFont typeface="Helvetica Neue Light"/>
              <a:buNone/>
              <a:defRPr>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cxnSp>
        <p:nvCxnSpPr>
          <p:cNvPr id="401" name="Google Shape;401;p64"/>
          <p:cNvCxnSpPr/>
          <p:nvPr/>
        </p:nvCxnSpPr>
        <p:spPr>
          <a:xfrm>
            <a:off x="457200" y="1368550"/>
            <a:ext cx="9429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02" name="Shape 402"/>
        <p:cNvGrpSpPr/>
        <p:nvPr/>
      </p:nvGrpSpPr>
      <p:grpSpPr>
        <a:xfrm>
          <a:off x="0" y="0"/>
          <a:ext cx="0" cy="0"/>
          <a:chOff x="0" y="0"/>
          <a:chExt cx="0" cy="0"/>
        </a:xfrm>
      </p:grpSpPr>
      <p:sp>
        <p:nvSpPr>
          <p:cNvPr id="403" name="Google Shape;403;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4" name="Google Shape;404;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28600" lvl="0" marL="457200" rtl="0">
              <a:spcBef>
                <a:spcPts val="0"/>
              </a:spcBef>
              <a:spcAft>
                <a:spcPts val="0"/>
              </a:spcAft>
              <a:buSzPts val="1800"/>
              <a:buNone/>
              <a:defRPr/>
            </a:lvl1pPr>
            <a:lvl2pPr indent="-228600" lvl="1" marL="914400" rtl="0">
              <a:spcBef>
                <a:spcPts val="1600"/>
              </a:spcBef>
              <a:spcAft>
                <a:spcPts val="0"/>
              </a:spcAft>
              <a:buSzPts val="1400"/>
              <a:buNone/>
              <a:defRPr/>
            </a:lvl2pPr>
            <a:lvl3pPr indent="-228600" lvl="2" marL="1371600" rtl="0">
              <a:spcBef>
                <a:spcPts val="1600"/>
              </a:spcBef>
              <a:spcAft>
                <a:spcPts val="0"/>
              </a:spcAft>
              <a:buSzPts val="1400"/>
              <a:buNone/>
              <a:defRPr/>
            </a:lvl3pPr>
            <a:lvl4pPr indent="-228600" lvl="3" marL="1828800" rtl="0">
              <a:spcBef>
                <a:spcPts val="1600"/>
              </a:spcBef>
              <a:spcAft>
                <a:spcPts val="0"/>
              </a:spcAft>
              <a:buSzPts val="1400"/>
              <a:buNone/>
              <a:defRPr/>
            </a:lvl4pPr>
            <a:lvl5pPr indent="-228600" lvl="4" marL="2286000" rtl="0">
              <a:spcBef>
                <a:spcPts val="1600"/>
              </a:spcBef>
              <a:spcAft>
                <a:spcPts val="0"/>
              </a:spcAft>
              <a:buSzPts val="1400"/>
              <a:buNone/>
              <a:defRPr/>
            </a:lvl5pPr>
            <a:lvl6pPr indent="-228600" lvl="5" marL="2743200" rtl="0">
              <a:spcBef>
                <a:spcPts val="1600"/>
              </a:spcBef>
              <a:spcAft>
                <a:spcPts val="0"/>
              </a:spcAft>
              <a:buSzPts val="1400"/>
              <a:buNone/>
              <a:defRPr/>
            </a:lvl6pPr>
            <a:lvl7pPr indent="-228600" lvl="6" marL="3200400" rtl="0">
              <a:spcBef>
                <a:spcPts val="1600"/>
              </a:spcBef>
              <a:spcAft>
                <a:spcPts val="0"/>
              </a:spcAft>
              <a:buSzPts val="1400"/>
              <a:buNone/>
              <a:defRPr/>
            </a:lvl7pPr>
            <a:lvl8pPr indent="-228600" lvl="7" marL="3657600" rtl="0">
              <a:spcBef>
                <a:spcPts val="1600"/>
              </a:spcBef>
              <a:spcAft>
                <a:spcPts val="0"/>
              </a:spcAft>
              <a:buSzPts val="1400"/>
              <a:buNone/>
              <a:defRPr/>
            </a:lvl8pPr>
            <a:lvl9pPr indent="-228600" lvl="8" marL="4114800" rtl="0">
              <a:spcBef>
                <a:spcPts val="1600"/>
              </a:spcBef>
              <a:spcAft>
                <a:spcPts val="1600"/>
              </a:spcAft>
              <a:buSzPts val="1400"/>
              <a:buNone/>
              <a:defRPr/>
            </a:lvl9pPr>
          </a:lstStyle>
          <a:p/>
        </p:txBody>
      </p:sp>
      <p:sp>
        <p:nvSpPr>
          <p:cNvPr id="405" name="Google Shape;405;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itle Slide - 2 Speakers 2">
  <p:cSld name="BLANK_3_3_3">
    <p:bg>
      <p:bgPr>
        <a:solidFill>
          <a:srgbClr val="5051DB"/>
        </a:solidFill>
      </p:bgPr>
    </p:bg>
    <p:spTree>
      <p:nvGrpSpPr>
        <p:cNvPr id="406" name="Shape 406"/>
        <p:cNvGrpSpPr/>
        <p:nvPr/>
      </p:nvGrpSpPr>
      <p:grpSpPr>
        <a:xfrm>
          <a:off x="0" y="0"/>
          <a:ext cx="0" cy="0"/>
          <a:chOff x="0" y="0"/>
          <a:chExt cx="0" cy="0"/>
        </a:xfrm>
      </p:grpSpPr>
      <p:sp>
        <p:nvSpPr>
          <p:cNvPr id="407" name="Google Shape;407;p66"/>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i="0" lang="en" sz="800" u="none" cap="none" strike="noStrike">
                <a:solidFill>
                  <a:schemeClr val="lt1"/>
                </a:solidFill>
                <a:latin typeface="Helvetica Neue"/>
                <a:ea typeface="Helvetica Neue"/>
                <a:cs typeface="Helvetica Neue"/>
                <a:sym typeface="Helvetica Neue"/>
              </a:rPr>
              <a:t>© Flatiron Health</a:t>
            </a:r>
            <a:endParaRPr>
              <a:latin typeface="Helvetica Neue"/>
              <a:ea typeface="Helvetica Neue"/>
              <a:cs typeface="Helvetica Neue"/>
              <a:sym typeface="Helvetica Neue"/>
            </a:endParaRPr>
          </a:p>
        </p:txBody>
      </p:sp>
      <p:pic>
        <p:nvPicPr>
          <p:cNvPr id="408" name="Google Shape;408;p66"/>
          <p:cNvPicPr preferRelativeResize="0"/>
          <p:nvPr/>
        </p:nvPicPr>
        <p:blipFill rotWithShape="1">
          <a:blip r:embed="rId2">
            <a:alphaModFix/>
          </a:blip>
          <a:srcRect b="0" l="0" r="0" t="0"/>
          <a:stretch/>
        </p:blipFill>
        <p:spPr>
          <a:xfrm>
            <a:off x="296923" y="4655223"/>
            <a:ext cx="819599" cy="251599"/>
          </a:xfrm>
          <a:prstGeom prst="rect">
            <a:avLst/>
          </a:prstGeom>
          <a:noFill/>
          <a:ln>
            <a:noFill/>
          </a:ln>
        </p:spPr>
      </p:pic>
      <p:sp>
        <p:nvSpPr>
          <p:cNvPr id="409" name="Google Shape;409;p66"/>
          <p:cNvSpPr txBox="1"/>
          <p:nvPr>
            <p:ph type="title"/>
          </p:nvPr>
        </p:nvSpPr>
        <p:spPr>
          <a:xfrm>
            <a:off x="457200" y="457200"/>
            <a:ext cx="82296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000"/>
              <a:buNone/>
              <a:defRPr sz="4000">
                <a:solidFill>
                  <a:srgbClr val="FFFFFF"/>
                </a:solidFill>
              </a:defRPr>
            </a:lvl1pPr>
            <a:lvl2pPr lvl="1"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2pPr>
            <a:lvl3pPr lvl="2"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3pPr>
            <a:lvl4pPr lvl="3"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4pPr>
            <a:lvl5pPr lvl="4"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5pPr>
            <a:lvl6pPr lvl="5"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6pPr>
            <a:lvl7pPr lvl="6"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7pPr>
            <a:lvl8pPr lvl="7"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8pPr>
            <a:lvl9pPr lvl="8" rtl="0">
              <a:spcBef>
                <a:spcPts val="0"/>
              </a:spcBef>
              <a:spcAft>
                <a:spcPts val="0"/>
              </a:spcAft>
              <a:buClr>
                <a:srgbClr val="FFFFFF"/>
              </a:buClr>
              <a:buSzPts val="4000"/>
              <a:buFont typeface="Helvetica Neue Light"/>
              <a:buNone/>
              <a:defRPr sz="4000">
                <a:solidFill>
                  <a:srgbClr val="FFFFFF"/>
                </a:solidFill>
                <a:latin typeface="Helvetica Neue Light"/>
                <a:ea typeface="Helvetica Neue Light"/>
                <a:cs typeface="Helvetica Neue Light"/>
                <a:sym typeface="Helvetica Neue Light"/>
              </a:defRPr>
            </a:lvl9pPr>
          </a:lstStyle>
          <a:p/>
        </p:txBody>
      </p:sp>
      <p:sp>
        <p:nvSpPr>
          <p:cNvPr id="410" name="Google Shape;410;p66"/>
          <p:cNvSpPr txBox="1"/>
          <p:nvPr>
            <p:ph idx="1" type="subTitle"/>
          </p:nvPr>
        </p:nvSpPr>
        <p:spPr>
          <a:xfrm>
            <a:off x="457200" y="1828800"/>
            <a:ext cx="5029200" cy="9144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800"/>
              <a:buFont typeface="Helvetica Neue Light"/>
              <a:buNone/>
              <a:defRPr>
                <a:solidFill>
                  <a:srgbClr val="FFFFFF"/>
                </a:solidFill>
                <a:latin typeface="Helvetica Neue Light"/>
                <a:ea typeface="Helvetica Neue Light"/>
                <a:cs typeface="Helvetica Neue Light"/>
                <a:sym typeface="Helvetica Neue Light"/>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cxnSp>
        <p:nvCxnSpPr>
          <p:cNvPr id="411" name="Google Shape;411;p66"/>
          <p:cNvCxnSpPr/>
          <p:nvPr/>
        </p:nvCxnSpPr>
        <p:spPr>
          <a:xfrm>
            <a:off x="457200" y="1368550"/>
            <a:ext cx="9429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576">
          <p15:clr>
            <a:srgbClr val="FA7B17"/>
          </p15:clr>
        </p15:guide>
        <p15:guide id="2" pos="288">
          <p15:clr>
            <a:srgbClr val="FA7B17"/>
          </p15:clr>
        </p15:guide>
        <p15:guide id="3" orient="horz" pos="1152">
          <p15:clr>
            <a:srgbClr val="FA7B17"/>
          </p15:clr>
        </p15:guide>
        <p15:guide id="4" orient="horz" pos="1728">
          <p15:clr>
            <a:srgbClr val="FA7B17"/>
          </p15:clr>
        </p15:guide>
        <p15:guide id="5" orient="horz" pos="2304">
          <p15:clr>
            <a:srgbClr val="FA7B17"/>
          </p15:clr>
        </p15:guide>
        <p15:guide id="6" orient="horz" pos="2880">
          <p15:clr>
            <a:srgbClr val="FA7B17"/>
          </p15:clr>
        </p15:guide>
        <p15:guide id="7" orient="horz" pos="288">
          <p15:clr>
            <a:srgbClr val="FA7B17"/>
          </p15:clr>
        </p15:guide>
        <p15:guide id="8" orient="horz" pos="864">
          <p15:clr>
            <a:srgbClr val="FA7B17"/>
          </p15:clr>
        </p15:guide>
        <p15:guide id="9" orient="horz" pos="1440">
          <p15:clr>
            <a:srgbClr val="FA7B17"/>
          </p15:clr>
        </p15:guide>
        <p15:guide id="10" orient="horz" pos="2016">
          <p15:clr>
            <a:srgbClr val="FA7B17"/>
          </p15:clr>
        </p15:guide>
        <p15:guide id="11" orient="horz" pos="2592">
          <p15:clr>
            <a:srgbClr val="FA7B17"/>
          </p15:clr>
        </p15:guide>
        <p15:guide id="12" orient="horz" pos="3168">
          <p15:clr>
            <a:srgbClr val="FA7B17"/>
          </p15:clr>
        </p15:guide>
        <p15:guide id="13" pos="576">
          <p15:clr>
            <a:srgbClr val="FA7B17"/>
          </p15:clr>
        </p15:guide>
        <p15:guide id="14" pos="864">
          <p15:clr>
            <a:srgbClr val="FA7B17"/>
          </p15:clr>
        </p15:guide>
        <p15:guide id="15" pos="1152">
          <p15:clr>
            <a:srgbClr val="FA7B17"/>
          </p15:clr>
        </p15:guide>
        <p15:guide id="16" pos="1440">
          <p15:clr>
            <a:srgbClr val="FA7B17"/>
          </p15:clr>
        </p15:guide>
        <p15:guide id="17" pos="1728">
          <p15:clr>
            <a:srgbClr val="FA7B17"/>
          </p15:clr>
        </p15:guide>
        <p15:guide id="18" pos="2016">
          <p15:clr>
            <a:srgbClr val="FA7B17"/>
          </p15:clr>
        </p15:guide>
        <p15:guide id="19" pos="2304">
          <p15:clr>
            <a:srgbClr val="FA7B17"/>
          </p15:clr>
        </p15:guide>
        <p15:guide id="20" pos="2592">
          <p15:clr>
            <a:srgbClr val="FA7B17"/>
          </p15:clr>
        </p15:guide>
        <p15:guide id="21" pos="2880">
          <p15:clr>
            <a:srgbClr val="FA7B17"/>
          </p15:clr>
        </p15:guide>
        <p15:guide id="22" pos="3168">
          <p15:clr>
            <a:srgbClr val="FA7B17"/>
          </p15:clr>
        </p15:guide>
        <p15:guide id="23" pos="3456">
          <p15:clr>
            <a:srgbClr val="FA7B17"/>
          </p15:clr>
        </p15:guide>
        <p15:guide id="24" pos="3744">
          <p15:clr>
            <a:srgbClr val="FA7B17"/>
          </p15:clr>
        </p15:guide>
        <p15:guide id="25" pos="4032">
          <p15:clr>
            <a:srgbClr val="FA7B17"/>
          </p15:clr>
        </p15:guide>
        <p15:guide id="26" pos="4320">
          <p15:clr>
            <a:srgbClr val="FA7B17"/>
          </p15:clr>
        </p15:guide>
        <p15:guide id="27" pos="4608">
          <p15:clr>
            <a:srgbClr val="FA7B17"/>
          </p15:clr>
        </p15:guide>
        <p15:guide id="28" pos="4896">
          <p15:clr>
            <a:srgbClr val="FA7B17"/>
          </p15:clr>
        </p15:guide>
        <p15:guide id="29" pos="5184">
          <p15:clr>
            <a:srgbClr val="FA7B17"/>
          </p15:clr>
        </p15:guide>
        <p15:guide id="30" pos="5472">
          <p15:clr>
            <a:srgbClr val="FA7B17"/>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urple 1">
  <p:cSld name="BLANK_4_1">
    <p:bg>
      <p:bgPr>
        <a:solidFill>
          <a:srgbClr val="4C53E1"/>
        </a:solidFill>
      </p:bgPr>
    </p:bg>
    <p:spTree>
      <p:nvGrpSpPr>
        <p:cNvPr id="412" name="Shape 412"/>
        <p:cNvGrpSpPr/>
        <p:nvPr/>
      </p:nvGrpSpPr>
      <p:grpSpPr>
        <a:xfrm>
          <a:off x="0" y="0"/>
          <a:ext cx="0" cy="0"/>
          <a:chOff x="0" y="0"/>
          <a:chExt cx="0" cy="0"/>
        </a:xfrm>
      </p:grpSpPr>
      <p:sp>
        <p:nvSpPr>
          <p:cNvPr id="413" name="Google Shape;413;p67"/>
          <p:cNvSpPr txBox="1"/>
          <p:nvPr/>
        </p:nvSpPr>
        <p:spPr>
          <a:xfrm>
            <a:off x="7946200" y="4660000"/>
            <a:ext cx="14295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800"/>
              <a:buFont typeface="Arial"/>
              <a:buNone/>
            </a:pPr>
            <a:r>
              <a:rPr b="0" i="0" lang="en" sz="800" u="none" cap="none" strike="noStrike">
                <a:solidFill>
                  <a:schemeClr val="lt1"/>
                </a:solidFill>
                <a:latin typeface="Helvetica Neue"/>
                <a:ea typeface="Helvetica Neue"/>
                <a:cs typeface="Helvetica Neue"/>
                <a:sym typeface="Helvetica Neue"/>
              </a:rPr>
              <a:t>© Flatiron Health</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4" name="Shape 414"/>
        <p:cNvGrpSpPr/>
        <p:nvPr/>
      </p:nvGrpSpPr>
      <p:grpSpPr>
        <a:xfrm>
          <a:off x="0" y="0"/>
          <a:ext cx="0" cy="0"/>
          <a:chOff x="0" y="0"/>
          <a:chExt cx="0" cy="0"/>
        </a:xfrm>
      </p:grpSpPr>
      <p:sp>
        <p:nvSpPr>
          <p:cNvPr id="415" name="Google Shape;415;p6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16" name="Google Shape;416;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18" name="Shape 418"/>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0" name="Shape 4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theme" Target="../theme/theme2.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6923" y="464754"/>
            <a:ext cx="8112300" cy="736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500"/>
              <a:buFont typeface="Helvetica Neue"/>
              <a:buNone/>
              <a:defRPr b="1" i="0" sz="2500" u="none" cap="none" strike="noStrike">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2pPr>
            <a:lvl3pPr lvl="2"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3pPr>
            <a:lvl4pPr lvl="3"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4pPr>
            <a:lvl5pPr lvl="4"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5pPr>
            <a:lvl6pPr lvl="5"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6pPr>
            <a:lvl7pPr lvl="6"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7pPr>
            <a:lvl8pPr lvl="7"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8pPr>
            <a:lvl9pPr lvl="8" rtl="0">
              <a:spcBef>
                <a:spcPts val="0"/>
              </a:spcBef>
              <a:spcAft>
                <a:spcPts val="0"/>
              </a:spcAft>
              <a:buClr>
                <a:schemeClr val="dk1"/>
              </a:buClr>
              <a:buSzPts val="2800"/>
              <a:buFont typeface="Helvetica Neue"/>
              <a:buNone/>
              <a:defRPr sz="2800">
                <a:solidFill>
                  <a:schemeClr val="dk1"/>
                </a:solidFill>
                <a:latin typeface="Helvetica Neue"/>
                <a:ea typeface="Helvetica Neue"/>
                <a:cs typeface="Helvetica Neue"/>
                <a:sym typeface="Helvetica Neue"/>
              </a:defRPr>
            </a:lvl9pPr>
          </a:lstStyle>
          <a:p/>
        </p:txBody>
      </p:sp>
      <p:sp>
        <p:nvSpPr>
          <p:cNvPr id="7" name="Google Shape;7;p1"/>
          <p:cNvSpPr txBox="1"/>
          <p:nvPr>
            <p:ph idx="1" type="body"/>
          </p:nvPr>
        </p:nvSpPr>
        <p:spPr>
          <a:xfrm>
            <a:off x="506923" y="1317223"/>
            <a:ext cx="8112300" cy="32895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1pPr>
            <a:lvl2pPr indent="-228600" lvl="1" marL="914400" marR="0" rtl="0" algn="l">
              <a:lnSpc>
                <a:spcPct val="115000"/>
              </a:lnSpc>
              <a:spcBef>
                <a:spcPts val="160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2pPr>
            <a:lvl3pPr indent="-228600" lvl="2" marL="1371600" marR="0" rtl="0" algn="l">
              <a:lnSpc>
                <a:spcPct val="115000"/>
              </a:lnSpc>
              <a:spcBef>
                <a:spcPts val="1600"/>
              </a:spcBef>
              <a:spcAft>
                <a:spcPts val="0"/>
              </a:spcAft>
              <a:buClr>
                <a:srgbClr val="000000"/>
              </a:buClr>
              <a:buSzPts val="1400"/>
              <a:buFont typeface="Helvetica Neue"/>
              <a:buNone/>
              <a:defRPr i="0" sz="1400" u="none" cap="none" strike="noStrike">
                <a:solidFill>
                  <a:srgbClr val="000000"/>
                </a:solidFill>
                <a:latin typeface="Helvetica Neue"/>
                <a:ea typeface="Helvetica Neue"/>
                <a:cs typeface="Helvetica Neue"/>
                <a:sym typeface="Helvetica Neue"/>
              </a:defRPr>
            </a:lvl3pPr>
            <a:lvl4pPr indent="-228600" lvl="3" marL="1828800" marR="0" rtl="0" algn="l">
              <a:lnSpc>
                <a:spcPct val="115000"/>
              </a:lnSpc>
              <a:spcBef>
                <a:spcPts val="160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4pPr>
            <a:lvl5pPr indent="-228600" lvl="4" marL="2286000" marR="0" rtl="0" algn="l">
              <a:lnSpc>
                <a:spcPct val="115000"/>
              </a:lnSpc>
              <a:spcBef>
                <a:spcPts val="160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5pPr>
            <a:lvl6pPr indent="-228600" lvl="5" marL="2743200" marR="0" rtl="0" algn="l">
              <a:lnSpc>
                <a:spcPct val="115000"/>
              </a:lnSpc>
              <a:spcBef>
                <a:spcPts val="160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6pPr>
            <a:lvl7pPr indent="-228600" lvl="6" marL="3200400" marR="0" rtl="0" algn="l">
              <a:lnSpc>
                <a:spcPct val="115000"/>
              </a:lnSpc>
              <a:spcBef>
                <a:spcPts val="160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7pPr>
            <a:lvl8pPr indent="-228600" lvl="7" marL="3657600" marR="0" rtl="0" algn="l">
              <a:lnSpc>
                <a:spcPct val="115000"/>
              </a:lnSpc>
              <a:spcBef>
                <a:spcPts val="160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8pPr>
            <a:lvl9pPr indent="-228600" lvl="8" marL="4114800" marR="0" rtl="0" algn="l">
              <a:lnSpc>
                <a:spcPct val="115000"/>
              </a:lnSpc>
              <a:spcBef>
                <a:spcPts val="1600"/>
              </a:spcBef>
              <a:spcAft>
                <a:spcPts val="160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1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9" name="Shape 41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1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6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6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 Id="rId3" Type="http://schemas.openxmlformats.org/officeDocument/2006/relationships/hyperlink" Target="https://docs.google.com/spreadsheets/d/1689YNXh7G4s4IrBzuJXmxa6CdsIys-J2aY-Jp6V2b9s/edit?gid=555500766#gid=555500766" TargetMode="External"/><Relationship Id="rId4" Type="http://schemas.openxmlformats.org/officeDocument/2006/relationships/hyperlink" Target="https://floodlight.prod.flatiron.io/sp_nsclc_g12d_2026_q1/hybrid-cohort-selection/cohort-selection" TargetMode="External"/><Relationship Id="rId5"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 Id="rId3" Type="http://schemas.openxmlformats.org/officeDocument/2006/relationships/hyperlink" Target="https://docs.google.com/spreadsheets/d/1689YNXh7G4s4IrBzuJXmxa6CdsIys-J2aY-Jp6V2b9s/edit?gid=555500766#gid=555500766"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3.xml"/><Relationship Id="rId3" Type="http://schemas.openxmlformats.org/officeDocument/2006/relationships/image" Target="../media/image61.png"/><Relationship Id="rId4" Type="http://schemas.openxmlformats.org/officeDocument/2006/relationships/image" Target="../media/image65.png"/><Relationship Id="rId5" Type="http://schemas.openxmlformats.org/officeDocument/2006/relationships/hyperlink" Target="https://drive.google.com/drive/folders/1QViWC3xbNv6ZYD2ussa2usQNeyvNpbA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4.xml"/><Relationship Id="rId3" Type="http://schemas.openxmlformats.org/officeDocument/2006/relationships/image" Target="../media/image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5.xml"/><Relationship Id="rId3" Type="http://schemas.openxmlformats.org/officeDocument/2006/relationships/hyperlink" Target="https://docs.google.com/document/d/1C5JjoMDxBJPj0coTXbviTAilnpiCrmMhjEMLOPLXQ8g/edit?tab=t.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4.xml"/><Relationship Id="rId3" Type="http://schemas.openxmlformats.org/officeDocument/2006/relationships/image" Target="../media/image6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9.xml"/><Relationship Id="rId3"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0.xml"/><Relationship Id="rId3" Type="http://schemas.openxmlformats.org/officeDocument/2006/relationships/comments" Target="../comments/commen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1.xml"/><Relationship Id="rId3" Type="http://schemas.openxmlformats.org/officeDocument/2006/relationships/comments" Target="../comments/comment3.xml"/><Relationship Id="rId4"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38.xml"/><Relationship Id="rId3" Type="http://schemas.openxmlformats.org/officeDocument/2006/relationships/hyperlink" Target="https://docs.google.com/document/d/1219sDBSc0Ju-GHqDxukV-rP8SLNObJT09OqqdiKgeHM/edit?pli=1&amp;tab=t.burv18pidles#bookmark=id.j0t4gsyisjut" TargetMode="External"/><Relationship Id="rId4" Type="http://schemas.openxmlformats.org/officeDocument/2006/relationships/hyperlink" Target="https://docs.google.com/document/d/1219sDBSc0Ju-GHqDxukV-rP8SLNObJT09OqqdiKgeHM/edit?pli=1&amp;tab=t.burv18pidles#bookmark=id.j0t4gsyisjut" TargetMode="External"/><Relationship Id="rId5" Type="http://schemas.openxmlformats.org/officeDocument/2006/relationships/hyperlink" Target="https://docs.google.com/document/d/1219sDBSc0Ju-GHqDxukV-rP8SLNObJT09OqqdiKgeHM/edit?pli=1&amp;tab=t.burv18pidles#bookmark=id.j0t4gsyisjut" TargetMode="External"/><Relationship Id="rId6"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39.xml"/><Relationship Id="rId3" Type="http://schemas.openxmlformats.org/officeDocument/2006/relationships/hyperlink" Target="https://docs.google.com/document/d/1219sDBSc0Ju-GHqDxukV-rP8SLNObJT09OqqdiKgeHM/edit?pli=1&amp;tab=t.burv18pidles#bookmark=id.5vae8r20n4p5" TargetMode="External"/><Relationship Id="rId4" Type="http://schemas.openxmlformats.org/officeDocument/2006/relationships/hyperlink" Target="https://docs.google.com/spreadsheets/d/1zHvLmljCUyQ7uKo-b14tXnrVOmrQsmlcdyQ-mKe8Yq0/edit?pli=1&amp;gid=920185778#gid=920185778"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3"/>
          <p:cNvSpPr txBox="1"/>
          <p:nvPr>
            <p:ph type="title"/>
          </p:nvPr>
        </p:nvSpPr>
        <p:spPr>
          <a:xfrm>
            <a:off x="571726" y="1936950"/>
            <a:ext cx="63819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Monthly SP Sync</a:t>
            </a:r>
            <a:endParaRPr/>
          </a:p>
        </p:txBody>
      </p:sp>
      <p:sp>
        <p:nvSpPr>
          <p:cNvPr id="426" name="Google Shape;426;p73"/>
          <p:cNvSpPr txBox="1"/>
          <p:nvPr>
            <p:ph idx="1" type="subTitle"/>
          </p:nvPr>
        </p:nvSpPr>
        <p:spPr>
          <a:xfrm>
            <a:off x="606970" y="1491609"/>
            <a:ext cx="5029200" cy="358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August 12,</a:t>
            </a:r>
            <a:r>
              <a:rPr lang="en"/>
              <a:t> 2026</a:t>
            </a:r>
            <a:endParaRPr/>
          </a:p>
          <a:p>
            <a:pPr indent="0" lvl="0" marL="0" rtl="0" algn="l">
              <a:spcBef>
                <a:spcPts val="1600"/>
              </a:spcBef>
              <a:spcAft>
                <a:spcPts val="1600"/>
              </a:spcAft>
              <a:buNone/>
            </a:pPr>
            <a:r>
              <a:rPr lang="en"/>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4"/>
          <p:cNvSpPr txBox="1"/>
          <p:nvPr>
            <p:ph type="title"/>
          </p:nvPr>
        </p:nvSpPr>
        <p:spPr>
          <a:xfrm>
            <a:off x="539750" y="457200"/>
            <a:ext cx="1920900" cy="1828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rgbClr val="FFFFFF"/>
              </a:buClr>
              <a:buSzPts val="4400"/>
              <a:buFont typeface="Helvetica Neue Light"/>
              <a:buNone/>
            </a:pPr>
            <a:r>
              <a:rPr lang="en"/>
              <a:t>Agenda</a:t>
            </a:r>
            <a:endParaRPr/>
          </a:p>
        </p:txBody>
      </p:sp>
      <p:sp>
        <p:nvSpPr>
          <p:cNvPr id="432" name="Google Shape;432;p74"/>
          <p:cNvSpPr txBox="1"/>
          <p:nvPr>
            <p:ph idx="2" type="body"/>
          </p:nvPr>
        </p:nvSpPr>
        <p:spPr>
          <a:xfrm>
            <a:off x="3835500" y="750675"/>
            <a:ext cx="4851300" cy="3206700"/>
          </a:xfrm>
          <a:prstGeom prst="rect">
            <a:avLst/>
          </a:prstGeom>
        </p:spPr>
        <p:txBody>
          <a:bodyPr anchorCtr="0" anchor="ctr" bIns="0" lIns="0" spcFirstLastPara="1" rIns="0" wrap="square" tIns="0">
            <a:noAutofit/>
          </a:bodyPr>
          <a:lstStyle/>
          <a:p>
            <a:pPr indent="-330200" lvl="0" marL="457200" rtl="0" algn="l">
              <a:spcBef>
                <a:spcPts val="0"/>
              </a:spcBef>
              <a:spcAft>
                <a:spcPts val="0"/>
              </a:spcAft>
              <a:buClr>
                <a:schemeClr val="dk1"/>
              </a:buClr>
              <a:buSzPts val="1600"/>
              <a:buChar char="▪"/>
            </a:pPr>
            <a:r>
              <a:rPr b="1" lang="en" sz="1600">
                <a:solidFill>
                  <a:schemeClr val="dk1"/>
                </a:solidFill>
              </a:rPr>
              <a:t>General &amp; Team Updates</a:t>
            </a:r>
            <a:endParaRPr b="1"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browser() introduction</a:t>
            </a:r>
            <a:endParaRPr b="1"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MLRAD/Custom Data Refresher</a:t>
            </a:r>
            <a:endParaRPr b="1"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G-Computation Knowledge Share</a:t>
            </a:r>
            <a:endParaRPr b="1" sz="1600">
              <a:solidFill>
                <a:schemeClr val="dk1"/>
              </a:solidFill>
            </a:endParaRPr>
          </a:p>
          <a:p>
            <a:pPr indent="0" lvl="0" marL="457200" rtl="0" algn="l">
              <a:spcBef>
                <a:spcPts val="0"/>
              </a:spcBef>
              <a:spcAft>
                <a:spcPts val="0"/>
              </a:spcAft>
              <a:buNone/>
            </a:pPr>
            <a:r>
              <a:t/>
            </a:r>
            <a:endParaRPr sz="1600">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5"/>
          <p:cNvSpPr txBox="1"/>
          <p:nvPr>
            <p:ph type="title"/>
          </p:nvPr>
        </p:nvSpPr>
        <p:spPr>
          <a:xfrm>
            <a:off x="571725" y="1828800"/>
            <a:ext cx="70422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browser() overview</a:t>
            </a:r>
            <a:endParaRPr/>
          </a:p>
        </p:txBody>
      </p:sp>
      <p:sp>
        <p:nvSpPr>
          <p:cNvPr id="438" name="Google Shape;438;p75"/>
          <p:cNvSpPr txBox="1"/>
          <p:nvPr>
            <p:ph idx="1" type="subTitle"/>
          </p:nvPr>
        </p:nvSpPr>
        <p:spPr>
          <a:xfrm>
            <a:off x="571725" y="2900400"/>
            <a:ext cx="4863600" cy="413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Benji Wagner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6"/>
          <p:cNvSpPr txBox="1"/>
          <p:nvPr>
            <p:ph type="title"/>
          </p:nvPr>
        </p:nvSpPr>
        <p:spPr>
          <a:xfrm>
            <a:off x="457200" y="464750"/>
            <a:ext cx="8229600" cy="44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Debugging functions with the interactive debugger</a:t>
            </a:r>
            <a:endParaRPr/>
          </a:p>
        </p:txBody>
      </p:sp>
      <p:sp>
        <p:nvSpPr>
          <p:cNvPr id="444" name="Google Shape;444;p76"/>
          <p:cNvSpPr txBox="1"/>
          <p:nvPr>
            <p:ph idx="1" type="body"/>
          </p:nvPr>
        </p:nvSpPr>
        <p:spPr>
          <a:xfrm>
            <a:off x="457200" y="1371600"/>
            <a:ext cx="8229600" cy="32004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a:t>Why use browser()?</a:t>
            </a:r>
            <a:endParaRPr/>
          </a:p>
          <a:p>
            <a:pPr indent="-323850" lvl="1" marL="914400" rtl="0" algn="l">
              <a:spcBef>
                <a:spcPts val="0"/>
              </a:spcBef>
              <a:spcAft>
                <a:spcPts val="0"/>
              </a:spcAft>
              <a:buSzPts val="1500"/>
              <a:buChar char="-"/>
            </a:pPr>
            <a:r>
              <a:rPr lang="en"/>
              <a:t>Step inside a function mid-execution</a:t>
            </a:r>
            <a:endParaRPr/>
          </a:p>
          <a:p>
            <a:pPr indent="-323850" lvl="0" marL="457200" rtl="0" algn="l">
              <a:spcBef>
                <a:spcPts val="0"/>
              </a:spcBef>
              <a:spcAft>
                <a:spcPts val="0"/>
              </a:spcAft>
              <a:buSzPts val="1500"/>
              <a:buChar char="-"/>
            </a:pPr>
            <a:r>
              <a:rPr lang="en"/>
              <a:t>Provides insight into the function environment</a:t>
            </a:r>
            <a:endParaRPr/>
          </a:p>
          <a:p>
            <a:pPr indent="-323850" lvl="0" marL="457200" rtl="0" algn="l">
              <a:spcBef>
                <a:spcPts val="0"/>
              </a:spcBef>
              <a:spcAft>
                <a:spcPts val="0"/>
              </a:spcAft>
              <a:buSzPts val="1500"/>
              <a:buChar char="-"/>
            </a:pPr>
            <a:r>
              <a:rPr lang="en"/>
              <a:t>Useful for:</a:t>
            </a:r>
            <a:endParaRPr/>
          </a:p>
          <a:p>
            <a:pPr indent="-323850" lvl="1" marL="914400" rtl="0" algn="l">
              <a:spcBef>
                <a:spcPts val="0"/>
              </a:spcBef>
              <a:spcAft>
                <a:spcPts val="0"/>
              </a:spcAft>
              <a:buSzPts val="1500"/>
              <a:buChar char="-"/>
            </a:pPr>
            <a:r>
              <a:rPr lang="en"/>
              <a:t>Understanding large, complex functions </a:t>
            </a:r>
            <a:endParaRPr/>
          </a:p>
          <a:p>
            <a:pPr indent="-323850" lvl="1" marL="914400" rtl="0" algn="l">
              <a:spcBef>
                <a:spcPts val="0"/>
              </a:spcBef>
              <a:spcAft>
                <a:spcPts val="0"/>
              </a:spcAft>
              <a:buSzPts val="1500"/>
              <a:buChar char="-"/>
            </a:pPr>
            <a:r>
              <a:rPr lang="en"/>
              <a:t>Debugging errors inside a function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7"/>
          <p:cNvSpPr txBox="1"/>
          <p:nvPr>
            <p:ph type="title"/>
          </p:nvPr>
        </p:nvSpPr>
        <p:spPr>
          <a:xfrm>
            <a:off x="457200" y="464750"/>
            <a:ext cx="8229600" cy="44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to use browser()</a:t>
            </a:r>
            <a:endParaRPr/>
          </a:p>
        </p:txBody>
      </p:sp>
      <p:sp>
        <p:nvSpPr>
          <p:cNvPr id="450" name="Google Shape;450;p77"/>
          <p:cNvSpPr txBox="1"/>
          <p:nvPr>
            <p:ph idx="1" type="body"/>
          </p:nvPr>
        </p:nvSpPr>
        <p:spPr>
          <a:xfrm>
            <a:off x="457200" y="1371600"/>
            <a:ext cx="8229600" cy="32004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AutoNum type="arabicPeriod"/>
            </a:pPr>
            <a:r>
              <a:rPr lang="en"/>
              <a:t>Simply type ‘browser()’ as a standalone function call inside your function</a:t>
            </a:r>
            <a:endParaRPr/>
          </a:p>
          <a:p>
            <a:pPr indent="-323850" lvl="0" marL="457200" rtl="0" algn="l">
              <a:spcBef>
                <a:spcPts val="0"/>
              </a:spcBef>
              <a:spcAft>
                <a:spcPts val="0"/>
              </a:spcAft>
              <a:buSzPts val="1500"/>
              <a:buAutoNum type="arabicPeriod"/>
            </a:pPr>
            <a:r>
              <a:rPr lang="en"/>
              <a:t>Re-run your entire function with the new browser() statement</a:t>
            </a:r>
            <a:endParaRPr/>
          </a:p>
          <a:p>
            <a:pPr indent="-323850" lvl="0" marL="457200" rtl="0" algn="l">
              <a:spcBef>
                <a:spcPts val="0"/>
              </a:spcBef>
              <a:spcAft>
                <a:spcPts val="0"/>
              </a:spcAft>
              <a:buSzPts val="1500"/>
              <a:buAutoNum type="arabicPeriod"/>
            </a:pPr>
            <a:r>
              <a:rPr lang="en"/>
              <a:t>Call your function, either from the console or from a script</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8"/>
          <p:cNvSpPr txBox="1"/>
          <p:nvPr>
            <p:ph type="title"/>
          </p:nvPr>
        </p:nvSpPr>
        <p:spPr>
          <a:xfrm>
            <a:off x="457200" y="464750"/>
            <a:ext cx="8229600" cy="44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456" name="Google Shape;456;p78"/>
          <p:cNvSpPr txBox="1"/>
          <p:nvPr>
            <p:ph idx="1" type="body"/>
          </p:nvPr>
        </p:nvSpPr>
        <p:spPr>
          <a:xfrm>
            <a:off x="457200" y="1371600"/>
            <a:ext cx="8229600" cy="320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pic>
        <p:nvPicPr>
          <p:cNvPr id="457" name="Google Shape;457;p78"/>
          <p:cNvPicPr preferRelativeResize="0"/>
          <p:nvPr/>
        </p:nvPicPr>
        <p:blipFill>
          <a:blip r:embed="rId3">
            <a:alphaModFix/>
          </a:blip>
          <a:stretch>
            <a:fillRect/>
          </a:stretch>
        </p:blipFill>
        <p:spPr>
          <a:xfrm>
            <a:off x="457200" y="1549675"/>
            <a:ext cx="7494375" cy="2844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9"/>
          <p:cNvSpPr txBox="1"/>
          <p:nvPr>
            <p:ph type="title"/>
          </p:nvPr>
        </p:nvSpPr>
        <p:spPr>
          <a:xfrm>
            <a:off x="457200" y="464750"/>
            <a:ext cx="8229600" cy="44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463" name="Google Shape;463;p79"/>
          <p:cNvSpPr txBox="1"/>
          <p:nvPr>
            <p:ph idx="1" type="body"/>
          </p:nvPr>
        </p:nvSpPr>
        <p:spPr>
          <a:xfrm>
            <a:off x="457200" y="1371600"/>
            <a:ext cx="8229600" cy="320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pic>
        <p:nvPicPr>
          <p:cNvPr id="464" name="Google Shape;464;p79"/>
          <p:cNvPicPr preferRelativeResize="0"/>
          <p:nvPr/>
        </p:nvPicPr>
        <p:blipFill>
          <a:blip r:embed="rId3">
            <a:alphaModFix/>
          </a:blip>
          <a:stretch>
            <a:fillRect/>
          </a:stretch>
        </p:blipFill>
        <p:spPr>
          <a:xfrm>
            <a:off x="457200" y="883598"/>
            <a:ext cx="8229601" cy="41764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80"/>
          <p:cNvSpPr txBox="1"/>
          <p:nvPr>
            <p:ph type="title"/>
          </p:nvPr>
        </p:nvSpPr>
        <p:spPr>
          <a:xfrm>
            <a:off x="457200" y="464750"/>
            <a:ext cx="8229600" cy="44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Debugger Commands</a:t>
            </a:r>
            <a:endParaRPr/>
          </a:p>
        </p:txBody>
      </p:sp>
      <p:sp>
        <p:nvSpPr>
          <p:cNvPr id="470" name="Google Shape;470;p80"/>
          <p:cNvSpPr txBox="1"/>
          <p:nvPr>
            <p:ph idx="1" type="body"/>
          </p:nvPr>
        </p:nvSpPr>
        <p:spPr>
          <a:xfrm>
            <a:off x="457200" y="1371600"/>
            <a:ext cx="8229600" cy="32004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a:t>n</a:t>
            </a:r>
            <a:endParaRPr/>
          </a:p>
          <a:p>
            <a:pPr indent="-323850" lvl="1" marL="914400" rtl="0" algn="l">
              <a:spcBef>
                <a:spcPts val="0"/>
              </a:spcBef>
              <a:spcAft>
                <a:spcPts val="0"/>
              </a:spcAft>
              <a:buSzPts val="1500"/>
              <a:buChar char="-"/>
            </a:pPr>
            <a:r>
              <a:rPr lang="en"/>
              <a:t>Next statement</a:t>
            </a:r>
            <a:endParaRPr/>
          </a:p>
          <a:p>
            <a:pPr indent="-323850" lvl="0" marL="457200" rtl="0" algn="l">
              <a:spcBef>
                <a:spcPts val="0"/>
              </a:spcBef>
              <a:spcAft>
                <a:spcPts val="0"/>
              </a:spcAft>
              <a:buSzPts val="1500"/>
              <a:buChar char="-"/>
            </a:pPr>
            <a:r>
              <a:rPr lang="en"/>
              <a:t>c</a:t>
            </a:r>
            <a:endParaRPr/>
          </a:p>
          <a:p>
            <a:pPr indent="-323850" lvl="1" marL="914400" rtl="0" algn="l">
              <a:spcBef>
                <a:spcPts val="0"/>
              </a:spcBef>
              <a:spcAft>
                <a:spcPts val="0"/>
              </a:spcAft>
              <a:buSzPts val="1500"/>
              <a:buChar char="-"/>
            </a:pPr>
            <a:r>
              <a:rPr lang="en"/>
              <a:t>Continue (proceeds to next browser() statement or end of function)</a:t>
            </a:r>
            <a:endParaRPr/>
          </a:p>
          <a:p>
            <a:pPr indent="-323850" lvl="0" marL="457200" rtl="0" algn="l">
              <a:spcBef>
                <a:spcPts val="0"/>
              </a:spcBef>
              <a:spcAft>
                <a:spcPts val="0"/>
              </a:spcAft>
              <a:buSzPts val="1500"/>
              <a:buChar char="-"/>
            </a:pPr>
            <a:r>
              <a:rPr lang="en"/>
              <a:t>s</a:t>
            </a:r>
            <a:endParaRPr/>
          </a:p>
          <a:p>
            <a:pPr indent="-323850" lvl="1" marL="914400" rtl="0" algn="l">
              <a:spcBef>
                <a:spcPts val="0"/>
              </a:spcBef>
              <a:spcAft>
                <a:spcPts val="0"/>
              </a:spcAft>
              <a:buSzPts val="1500"/>
              <a:buChar char="-"/>
            </a:pPr>
            <a:r>
              <a:rPr lang="en"/>
              <a:t>Step into loop/function call</a:t>
            </a:r>
            <a:endParaRPr/>
          </a:p>
          <a:p>
            <a:pPr indent="-323850" lvl="0" marL="457200" rtl="0" algn="l">
              <a:spcBef>
                <a:spcPts val="0"/>
              </a:spcBef>
              <a:spcAft>
                <a:spcPts val="0"/>
              </a:spcAft>
              <a:buSzPts val="1500"/>
              <a:buChar char="-"/>
            </a:pPr>
            <a:r>
              <a:rPr lang="en"/>
              <a:t>f</a:t>
            </a:r>
            <a:endParaRPr/>
          </a:p>
          <a:p>
            <a:pPr indent="-323850" lvl="1" marL="914400" rtl="0" algn="l">
              <a:spcBef>
                <a:spcPts val="0"/>
              </a:spcBef>
              <a:spcAft>
                <a:spcPts val="0"/>
              </a:spcAft>
              <a:buSzPts val="1500"/>
              <a:buChar char="-"/>
            </a:pPr>
            <a:r>
              <a:rPr lang="en"/>
              <a:t>Finish loop/function</a:t>
            </a:r>
            <a:endParaRPr/>
          </a:p>
          <a:p>
            <a:pPr indent="-323850" lvl="0" marL="457200" rtl="0" algn="l">
              <a:spcBef>
                <a:spcPts val="0"/>
              </a:spcBef>
              <a:spcAft>
                <a:spcPts val="0"/>
              </a:spcAft>
              <a:buSzPts val="1500"/>
              <a:buChar char="-"/>
            </a:pPr>
            <a:r>
              <a:rPr lang="en"/>
              <a:t>Q</a:t>
            </a:r>
            <a:endParaRPr/>
          </a:p>
          <a:p>
            <a:pPr indent="-323850" lvl="1" marL="914400" rtl="0" algn="l">
              <a:spcBef>
                <a:spcPts val="0"/>
              </a:spcBef>
              <a:spcAft>
                <a:spcPts val="0"/>
              </a:spcAft>
              <a:buSzPts val="1500"/>
              <a:buChar char="-"/>
            </a:pPr>
            <a:r>
              <a:rPr lang="en"/>
              <a:t>Quit debugger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81"/>
          <p:cNvSpPr txBox="1"/>
          <p:nvPr>
            <p:ph type="title"/>
          </p:nvPr>
        </p:nvSpPr>
        <p:spPr>
          <a:xfrm>
            <a:off x="571725" y="1828800"/>
            <a:ext cx="56808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Custom Data and MLRAD Refresher</a:t>
            </a:r>
            <a:endParaRPr/>
          </a:p>
          <a:p>
            <a:pPr indent="0" lvl="0" marL="0" rtl="0" algn="l">
              <a:spcBef>
                <a:spcPts val="0"/>
              </a:spcBef>
              <a:spcAft>
                <a:spcPts val="0"/>
              </a:spcAft>
              <a:buNone/>
            </a:pPr>
            <a:r>
              <a:t/>
            </a:r>
            <a:endParaRPr/>
          </a:p>
        </p:txBody>
      </p:sp>
      <p:sp>
        <p:nvSpPr>
          <p:cNvPr id="476" name="Google Shape;476;p81"/>
          <p:cNvSpPr txBox="1"/>
          <p:nvPr>
            <p:ph idx="1" type="subTitle"/>
          </p:nvPr>
        </p:nvSpPr>
        <p:spPr>
          <a:xfrm>
            <a:off x="571725" y="2993700"/>
            <a:ext cx="4863600" cy="413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Yichen Lu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2"/>
          <p:cNvSpPr txBox="1"/>
          <p:nvPr>
            <p:ph type="title"/>
          </p:nvPr>
        </p:nvSpPr>
        <p:spPr>
          <a:xfrm>
            <a:off x="457200" y="457200"/>
            <a:ext cx="8229600" cy="914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Not the most common, but we have projects with </a:t>
            </a:r>
            <a:r>
              <a:rPr lang="en" u="sng"/>
              <a:t>custom data</a:t>
            </a:r>
            <a:endParaRPr u="sng"/>
          </a:p>
          <a:p>
            <a:pPr indent="0" lvl="0" marL="0" rtl="0" algn="l">
              <a:spcBef>
                <a:spcPts val="0"/>
              </a:spcBef>
              <a:spcAft>
                <a:spcPts val="0"/>
              </a:spcAft>
              <a:buNone/>
            </a:pPr>
            <a:r>
              <a:t/>
            </a:r>
            <a:endParaRPr/>
          </a:p>
        </p:txBody>
      </p:sp>
      <p:sp>
        <p:nvSpPr>
          <p:cNvPr id="482" name="Google Shape;482;p82"/>
          <p:cNvSpPr txBox="1"/>
          <p:nvPr>
            <p:ph idx="1" type="body"/>
          </p:nvPr>
        </p:nvSpPr>
        <p:spPr>
          <a:xfrm>
            <a:off x="457200" y="1447800"/>
            <a:ext cx="7772400" cy="6507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a:t>Before services, there is a data curation phase </a:t>
            </a:r>
            <a:endParaRPr/>
          </a:p>
          <a:p>
            <a:pPr indent="-323850" lvl="1" marL="914400" rtl="0" algn="l">
              <a:spcBef>
                <a:spcPts val="0"/>
              </a:spcBef>
              <a:spcAft>
                <a:spcPts val="0"/>
              </a:spcAft>
              <a:buSzPts val="1500"/>
              <a:buChar char="-"/>
            </a:pPr>
            <a:r>
              <a:rPr lang="en"/>
              <a:t>SP is not directly involved</a:t>
            </a:r>
            <a:endParaRPr/>
          </a:p>
          <a:p>
            <a:pPr indent="-323850" lvl="1" marL="914400" rtl="0" algn="l">
              <a:spcBef>
                <a:spcPts val="0"/>
              </a:spcBef>
              <a:spcAft>
                <a:spcPts val="0"/>
              </a:spcAft>
              <a:buSzPts val="1500"/>
              <a:buChar char="-"/>
            </a:pPr>
            <a:r>
              <a:rPr lang="en"/>
              <a:t>To abstract additional information for the population of interest</a:t>
            </a:r>
            <a:endParaRPr/>
          </a:p>
          <a:p>
            <a:pPr indent="0" lvl="0" marL="0" rtl="0" algn="l">
              <a:spcBef>
                <a:spcPts val="1600"/>
              </a:spcBef>
              <a:spcAft>
                <a:spcPts val="1600"/>
              </a:spcAft>
              <a:buNone/>
            </a:pPr>
            <a:r>
              <a:t/>
            </a:r>
            <a:endParaRPr/>
          </a:p>
        </p:txBody>
      </p:sp>
      <p:sp>
        <p:nvSpPr>
          <p:cNvPr id="483" name="Google Shape;483;p82"/>
          <p:cNvSpPr/>
          <p:nvPr/>
        </p:nvSpPr>
        <p:spPr>
          <a:xfrm>
            <a:off x="412028" y="2527625"/>
            <a:ext cx="1055100" cy="1430700"/>
          </a:xfrm>
          <a:prstGeom prst="rect">
            <a:avLst/>
          </a:prstGeom>
          <a:solidFill>
            <a:srgbClr val="CDE0F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dk1"/>
                </a:solidFill>
                <a:latin typeface="Helvetica Neue"/>
                <a:ea typeface="Helvetica Neue"/>
                <a:cs typeface="Helvetica Neue"/>
                <a:sym typeface="Helvetica Neue"/>
              </a:rPr>
              <a:t>Start with an existing database (EDM, MLRAD, Panoramic)</a:t>
            </a:r>
            <a:endParaRPr sz="1200">
              <a:latin typeface="Helvetica Neue"/>
              <a:ea typeface="Helvetica Neue"/>
              <a:cs typeface="Helvetica Neue"/>
              <a:sym typeface="Helvetica Neue"/>
            </a:endParaRPr>
          </a:p>
        </p:txBody>
      </p:sp>
      <p:sp>
        <p:nvSpPr>
          <p:cNvPr id="484" name="Google Shape;484;p82"/>
          <p:cNvSpPr/>
          <p:nvPr/>
        </p:nvSpPr>
        <p:spPr>
          <a:xfrm>
            <a:off x="1704284" y="2345675"/>
            <a:ext cx="1352400" cy="1794600"/>
          </a:xfrm>
          <a:prstGeom prst="rect">
            <a:avLst/>
          </a:prstGeom>
          <a:solidFill>
            <a:srgbClr val="CDE0F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dk1"/>
                </a:solidFill>
                <a:latin typeface="Helvetica Neue"/>
                <a:ea typeface="Helvetica Neue"/>
                <a:cs typeface="Helvetica Neue"/>
                <a:sym typeface="Helvetica Neue"/>
              </a:rPr>
              <a:t>Add cohort selection criteria using an existing database -  usually referred to as Hybrid Cohort Selection [HCS]</a:t>
            </a:r>
            <a:endParaRPr sz="1200">
              <a:latin typeface="Helvetica Neue"/>
              <a:ea typeface="Helvetica Neue"/>
              <a:cs typeface="Helvetica Neue"/>
              <a:sym typeface="Helvetica Neue"/>
            </a:endParaRPr>
          </a:p>
        </p:txBody>
      </p:sp>
      <p:sp>
        <p:nvSpPr>
          <p:cNvPr id="485" name="Google Shape;485;p82"/>
          <p:cNvSpPr/>
          <p:nvPr/>
        </p:nvSpPr>
        <p:spPr>
          <a:xfrm>
            <a:off x="3293840" y="2749475"/>
            <a:ext cx="1738800" cy="987000"/>
          </a:xfrm>
          <a:prstGeom prst="rect">
            <a:avLst/>
          </a:prstGeom>
          <a:solidFill>
            <a:srgbClr val="3887F6"/>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lt1"/>
                </a:solidFill>
                <a:latin typeface="Helvetica Neue"/>
                <a:ea typeface="Helvetica Neue"/>
                <a:cs typeface="Helvetica Neue"/>
                <a:sym typeface="Helvetica Neue"/>
              </a:rPr>
              <a:t>Abstract additional information for patients who meet the HCS criteria</a:t>
            </a:r>
            <a:endParaRPr sz="1200">
              <a:solidFill>
                <a:schemeClr val="lt1"/>
              </a:solidFill>
              <a:latin typeface="Helvetica Neue"/>
              <a:ea typeface="Helvetica Neue"/>
              <a:cs typeface="Helvetica Neue"/>
              <a:sym typeface="Helvetica Neue"/>
            </a:endParaRPr>
          </a:p>
        </p:txBody>
      </p:sp>
      <p:sp>
        <p:nvSpPr>
          <p:cNvPr id="486" name="Google Shape;486;p82"/>
          <p:cNvSpPr/>
          <p:nvPr/>
        </p:nvSpPr>
        <p:spPr>
          <a:xfrm>
            <a:off x="5269796" y="2458175"/>
            <a:ext cx="1794600" cy="1569600"/>
          </a:xfrm>
          <a:prstGeom prst="rect">
            <a:avLst/>
          </a:prstGeom>
          <a:solidFill>
            <a:srgbClr val="D3D4F6"/>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dk1"/>
                </a:solidFill>
                <a:latin typeface="Helvetica Neue"/>
                <a:ea typeface="Helvetica Neue"/>
                <a:cs typeface="Helvetica Neue"/>
                <a:sym typeface="Helvetica Neue"/>
              </a:rPr>
              <a:t>Output: spotlight tables that include all variables (from the existing database or from abstraction) for patients satisfying all HCS criteria</a:t>
            </a:r>
            <a:endParaRPr sz="1200">
              <a:latin typeface="Helvetica Neue"/>
              <a:ea typeface="Helvetica Neue"/>
              <a:cs typeface="Helvetica Neue"/>
              <a:sym typeface="Helvetica Neue"/>
            </a:endParaRPr>
          </a:p>
        </p:txBody>
      </p:sp>
      <p:cxnSp>
        <p:nvCxnSpPr>
          <p:cNvPr id="487" name="Google Shape;487;p82"/>
          <p:cNvCxnSpPr>
            <a:endCxn id="484" idx="1"/>
          </p:cNvCxnSpPr>
          <p:nvPr/>
        </p:nvCxnSpPr>
        <p:spPr>
          <a:xfrm flipH="1" rot="10800000">
            <a:off x="1466984" y="3242975"/>
            <a:ext cx="237300" cy="2100"/>
          </a:xfrm>
          <a:prstGeom prst="straightConnector1">
            <a:avLst/>
          </a:prstGeom>
          <a:noFill/>
          <a:ln cap="flat" cmpd="sng" w="9525">
            <a:solidFill>
              <a:schemeClr val="dk2"/>
            </a:solidFill>
            <a:prstDash val="solid"/>
            <a:round/>
            <a:headEnd len="med" w="med" type="none"/>
            <a:tailEnd len="med" w="med" type="triangle"/>
          </a:ln>
        </p:spPr>
      </p:cxnSp>
      <p:sp>
        <p:nvSpPr>
          <p:cNvPr id="488" name="Google Shape;488;p82"/>
          <p:cNvSpPr/>
          <p:nvPr/>
        </p:nvSpPr>
        <p:spPr>
          <a:xfrm>
            <a:off x="7301553" y="2458175"/>
            <a:ext cx="1299000" cy="1569600"/>
          </a:xfrm>
          <a:prstGeom prst="rect">
            <a:avLst/>
          </a:prstGeom>
          <a:solidFill>
            <a:srgbClr val="EAD1D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dk1"/>
                </a:solidFill>
                <a:latin typeface="Helvetica Neue"/>
                <a:ea typeface="Helvetica Neue"/>
                <a:cs typeface="Helvetica Neue"/>
                <a:sym typeface="Helvetica Neue"/>
              </a:rPr>
              <a:t>Service phase: Abstracted variables can be used as I/E criteria (w/ the HCS) or in the analyses</a:t>
            </a:r>
            <a:endParaRPr sz="1200">
              <a:solidFill>
                <a:schemeClr val="dk1"/>
              </a:solidFill>
              <a:latin typeface="Helvetica Neue"/>
              <a:ea typeface="Helvetica Neue"/>
              <a:cs typeface="Helvetica Neue"/>
              <a:sym typeface="Helvetica Neue"/>
            </a:endParaRPr>
          </a:p>
        </p:txBody>
      </p:sp>
      <p:cxnSp>
        <p:nvCxnSpPr>
          <p:cNvPr id="489" name="Google Shape;489;p82"/>
          <p:cNvCxnSpPr/>
          <p:nvPr/>
        </p:nvCxnSpPr>
        <p:spPr>
          <a:xfrm flipH="1" rot="10800000">
            <a:off x="3056684" y="3242975"/>
            <a:ext cx="237300" cy="2100"/>
          </a:xfrm>
          <a:prstGeom prst="straightConnector1">
            <a:avLst/>
          </a:prstGeom>
          <a:noFill/>
          <a:ln cap="flat" cmpd="sng" w="9525">
            <a:solidFill>
              <a:schemeClr val="dk2"/>
            </a:solidFill>
            <a:prstDash val="solid"/>
            <a:round/>
            <a:headEnd len="med" w="med" type="none"/>
            <a:tailEnd len="med" w="med" type="triangle"/>
          </a:ln>
        </p:spPr>
      </p:cxnSp>
      <p:cxnSp>
        <p:nvCxnSpPr>
          <p:cNvPr id="490" name="Google Shape;490;p82"/>
          <p:cNvCxnSpPr/>
          <p:nvPr/>
        </p:nvCxnSpPr>
        <p:spPr>
          <a:xfrm flipH="1" rot="10800000">
            <a:off x="5047034" y="3242975"/>
            <a:ext cx="237300" cy="2100"/>
          </a:xfrm>
          <a:prstGeom prst="straightConnector1">
            <a:avLst/>
          </a:prstGeom>
          <a:noFill/>
          <a:ln cap="flat" cmpd="sng" w="9525">
            <a:solidFill>
              <a:schemeClr val="dk2"/>
            </a:solidFill>
            <a:prstDash val="solid"/>
            <a:round/>
            <a:headEnd len="med" w="med" type="none"/>
            <a:tailEnd len="med" w="med" type="triangle"/>
          </a:ln>
        </p:spPr>
      </p:cxnSp>
      <p:cxnSp>
        <p:nvCxnSpPr>
          <p:cNvPr id="491" name="Google Shape;491;p82"/>
          <p:cNvCxnSpPr/>
          <p:nvPr/>
        </p:nvCxnSpPr>
        <p:spPr>
          <a:xfrm flipH="1" rot="10800000">
            <a:off x="7064409" y="3242975"/>
            <a:ext cx="237300" cy="2100"/>
          </a:xfrm>
          <a:prstGeom prst="straightConnector1">
            <a:avLst/>
          </a:prstGeom>
          <a:noFill/>
          <a:ln cap="flat" cmpd="sng" w="9525">
            <a:solidFill>
              <a:schemeClr val="dk2"/>
            </a:solidFill>
            <a:prstDash val="solid"/>
            <a:round/>
            <a:headEnd len="med" w="med" type="none"/>
            <a:tailEnd len="med" w="med" type="triangle"/>
          </a:ln>
        </p:spPr>
      </p:cxnSp>
      <p:sp>
        <p:nvSpPr>
          <p:cNvPr id="492" name="Google Shape;492;p82"/>
          <p:cNvSpPr/>
          <p:nvPr/>
        </p:nvSpPr>
        <p:spPr>
          <a:xfrm>
            <a:off x="877028" y="3958325"/>
            <a:ext cx="590100" cy="23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Helvetica Neue"/>
                <a:ea typeface="Helvetica Neue"/>
                <a:cs typeface="Helvetica Neue"/>
                <a:sym typeface="Helvetica Neue"/>
              </a:rPr>
              <a:t>👤 DA</a:t>
            </a:r>
            <a:endParaRPr sz="1000">
              <a:latin typeface="Helvetica Neue"/>
              <a:ea typeface="Helvetica Neue"/>
              <a:cs typeface="Helvetica Neue"/>
              <a:sym typeface="Helvetica Neue"/>
            </a:endParaRPr>
          </a:p>
        </p:txBody>
      </p:sp>
      <p:sp>
        <p:nvSpPr>
          <p:cNvPr id="493" name="Google Shape;493;p82"/>
          <p:cNvSpPr/>
          <p:nvPr/>
        </p:nvSpPr>
        <p:spPr>
          <a:xfrm>
            <a:off x="2466578" y="4140275"/>
            <a:ext cx="590100" cy="23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Helvetica Neue"/>
                <a:ea typeface="Helvetica Neue"/>
                <a:cs typeface="Helvetica Neue"/>
                <a:sym typeface="Helvetica Neue"/>
              </a:rPr>
              <a:t>👤 DA</a:t>
            </a:r>
            <a:endParaRPr sz="1000">
              <a:latin typeface="Helvetica Neue"/>
              <a:ea typeface="Helvetica Neue"/>
              <a:cs typeface="Helvetica Neue"/>
              <a:sym typeface="Helvetica Neue"/>
            </a:endParaRPr>
          </a:p>
        </p:txBody>
      </p:sp>
      <p:sp>
        <p:nvSpPr>
          <p:cNvPr id="494" name="Google Shape;494;p82"/>
          <p:cNvSpPr/>
          <p:nvPr/>
        </p:nvSpPr>
        <p:spPr>
          <a:xfrm>
            <a:off x="4442553" y="3736475"/>
            <a:ext cx="590100" cy="23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Helvetica Neue"/>
                <a:ea typeface="Helvetica Neue"/>
                <a:cs typeface="Helvetica Neue"/>
                <a:sym typeface="Helvetica Neue"/>
              </a:rPr>
              <a:t>👤 CD</a:t>
            </a:r>
            <a:endParaRPr sz="1000">
              <a:latin typeface="Helvetica Neue"/>
              <a:ea typeface="Helvetica Neue"/>
              <a:cs typeface="Helvetica Neue"/>
              <a:sym typeface="Helvetica Neue"/>
            </a:endParaRPr>
          </a:p>
        </p:txBody>
      </p:sp>
      <p:sp>
        <p:nvSpPr>
          <p:cNvPr id="495" name="Google Shape;495;p82"/>
          <p:cNvSpPr/>
          <p:nvPr/>
        </p:nvSpPr>
        <p:spPr>
          <a:xfrm>
            <a:off x="6397378" y="4027775"/>
            <a:ext cx="666900" cy="23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Helvetica Neue"/>
                <a:ea typeface="Helvetica Neue"/>
                <a:cs typeface="Helvetica Neue"/>
                <a:sym typeface="Helvetica Neue"/>
              </a:rPr>
              <a:t>👤 SWE</a:t>
            </a:r>
            <a:endParaRPr sz="1000">
              <a:latin typeface="Helvetica Neue"/>
              <a:ea typeface="Helvetica Neue"/>
              <a:cs typeface="Helvetica Neue"/>
              <a:sym typeface="Helvetica Neue"/>
            </a:endParaRPr>
          </a:p>
        </p:txBody>
      </p:sp>
      <p:sp>
        <p:nvSpPr>
          <p:cNvPr id="496" name="Google Shape;496;p82"/>
          <p:cNvSpPr/>
          <p:nvPr/>
        </p:nvSpPr>
        <p:spPr>
          <a:xfrm>
            <a:off x="8010453" y="4027775"/>
            <a:ext cx="590100" cy="23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Helvetica Neue"/>
                <a:ea typeface="Helvetica Neue"/>
                <a:cs typeface="Helvetica Neue"/>
                <a:sym typeface="Helvetica Neue"/>
              </a:rPr>
              <a:t>👤 SP</a:t>
            </a:r>
            <a:endParaRPr sz="1000">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3"/>
          <p:cNvSpPr txBox="1"/>
          <p:nvPr>
            <p:ph type="title"/>
          </p:nvPr>
        </p:nvSpPr>
        <p:spPr>
          <a:xfrm>
            <a:off x="457200" y="457200"/>
            <a:ext cx="8229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Combine the </a:t>
            </a:r>
            <a:r>
              <a:rPr i="1" lang="en"/>
              <a:t>patient_selection</a:t>
            </a:r>
            <a:r>
              <a:rPr lang="en"/>
              <a:t> spotlight table and abstracted data to generate the attrition diagram</a:t>
            </a:r>
            <a:endParaRPr/>
          </a:p>
          <a:p>
            <a:pPr indent="0" lvl="0" marL="0" rtl="0" algn="l">
              <a:spcBef>
                <a:spcPts val="0"/>
              </a:spcBef>
              <a:spcAft>
                <a:spcPts val="0"/>
              </a:spcAft>
              <a:buNone/>
            </a:pPr>
            <a:r>
              <a:t/>
            </a:r>
            <a:endParaRPr/>
          </a:p>
        </p:txBody>
      </p:sp>
      <p:grpSp>
        <p:nvGrpSpPr>
          <p:cNvPr id="502" name="Google Shape;502;p83"/>
          <p:cNvGrpSpPr/>
          <p:nvPr/>
        </p:nvGrpSpPr>
        <p:grpSpPr>
          <a:xfrm>
            <a:off x="4571999" y="2736662"/>
            <a:ext cx="3878944" cy="2250602"/>
            <a:chOff x="-8200" y="399524"/>
            <a:chExt cx="4342750" cy="2519707"/>
          </a:xfrm>
        </p:grpSpPr>
        <p:sp>
          <p:nvSpPr>
            <p:cNvPr id="503" name="Google Shape;503;p83"/>
            <p:cNvSpPr/>
            <p:nvPr/>
          </p:nvSpPr>
          <p:spPr>
            <a:xfrm>
              <a:off x="856877" y="1087419"/>
              <a:ext cx="2605079" cy="687895"/>
            </a:xfrm>
            <a:prstGeom prst="flowChartManualOperation">
              <a:avLst/>
            </a:prstGeom>
            <a:solidFill>
              <a:srgbClr val="FFF2CC"/>
            </a:solidFill>
            <a:ln cap="flat" cmpd="sng" w="5400">
              <a:solidFill>
                <a:srgbClr val="000000"/>
              </a:solidFill>
              <a:prstDash val="solid"/>
              <a:round/>
              <a:headEnd len="sm" w="sm" type="none"/>
              <a:tailEnd len="sm" w="sm" type="none"/>
            </a:ln>
          </p:spPr>
          <p:txBody>
            <a:bodyPr anchorCtr="0" anchor="ctr" bIns="51850" lIns="51850" spcFirstLastPara="1" rIns="51850" wrap="square" tIns="51850">
              <a:noAutofit/>
            </a:bodyPr>
            <a:lstStyle/>
            <a:p>
              <a:pPr indent="0" lvl="0" marL="0" rtl="0" algn="ctr">
                <a:spcBef>
                  <a:spcPts val="0"/>
                </a:spcBef>
                <a:spcAft>
                  <a:spcPts val="0"/>
                </a:spcAft>
                <a:buNone/>
              </a:pPr>
              <a:r>
                <a:rPr lang="en" sz="793"/>
                <a:t>HCS criteria</a:t>
              </a:r>
              <a:endParaRPr sz="793"/>
            </a:p>
          </p:txBody>
        </p:sp>
        <p:sp>
          <p:nvSpPr>
            <p:cNvPr id="504" name="Google Shape;504;p83"/>
            <p:cNvSpPr/>
            <p:nvPr/>
          </p:nvSpPr>
          <p:spPr>
            <a:xfrm>
              <a:off x="1378150" y="2081129"/>
              <a:ext cx="1570047" cy="687895"/>
            </a:xfrm>
            <a:prstGeom prst="flowChartManualOperation">
              <a:avLst/>
            </a:prstGeom>
            <a:solidFill>
              <a:srgbClr val="D9EAD3"/>
            </a:solidFill>
            <a:ln cap="flat" cmpd="sng" w="5400">
              <a:solidFill>
                <a:srgbClr val="000000"/>
              </a:solidFill>
              <a:prstDash val="solid"/>
              <a:round/>
              <a:headEnd len="sm" w="sm" type="none"/>
              <a:tailEnd len="sm" w="sm" type="none"/>
            </a:ln>
          </p:spPr>
          <p:txBody>
            <a:bodyPr anchorCtr="0" anchor="ctr" bIns="51850" lIns="51850" spcFirstLastPara="1" rIns="51850" wrap="square" tIns="51850">
              <a:noAutofit/>
            </a:bodyPr>
            <a:lstStyle/>
            <a:p>
              <a:pPr indent="0" lvl="0" marL="0" rtl="0" algn="ctr">
                <a:spcBef>
                  <a:spcPts val="0"/>
                </a:spcBef>
                <a:spcAft>
                  <a:spcPts val="0"/>
                </a:spcAft>
                <a:buNone/>
              </a:pPr>
              <a:r>
                <a:rPr lang="en" sz="793"/>
                <a:t>Additional I/E using Spotlight tables</a:t>
              </a:r>
              <a:endParaRPr sz="793"/>
            </a:p>
          </p:txBody>
        </p:sp>
        <p:sp>
          <p:nvSpPr>
            <p:cNvPr id="505" name="Google Shape;505;p83"/>
            <p:cNvSpPr/>
            <p:nvPr/>
          </p:nvSpPr>
          <p:spPr>
            <a:xfrm>
              <a:off x="-8200" y="399524"/>
              <a:ext cx="4342750" cy="687895"/>
            </a:xfrm>
            <a:prstGeom prst="flowChartManualOperation">
              <a:avLst/>
            </a:prstGeom>
            <a:solidFill>
              <a:srgbClr val="CFE2F3"/>
            </a:solidFill>
            <a:ln cap="flat" cmpd="sng" w="5400">
              <a:solidFill>
                <a:srgbClr val="000000"/>
              </a:solidFill>
              <a:prstDash val="solid"/>
              <a:round/>
              <a:headEnd len="sm" w="sm" type="none"/>
              <a:tailEnd len="sm" w="sm" type="none"/>
            </a:ln>
          </p:spPr>
          <p:txBody>
            <a:bodyPr anchorCtr="0" anchor="ctr" bIns="51850" lIns="51850" spcFirstLastPara="1" rIns="51850" wrap="square" tIns="51850">
              <a:noAutofit/>
            </a:bodyPr>
            <a:lstStyle/>
            <a:p>
              <a:pPr indent="0" lvl="0" marL="0" rtl="0" algn="ctr">
                <a:spcBef>
                  <a:spcPts val="0"/>
                </a:spcBef>
                <a:spcAft>
                  <a:spcPts val="0"/>
                </a:spcAft>
                <a:buNone/>
              </a:pPr>
              <a:r>
                <a:rPr lang="en" sz="793" u="sng"/>
                <a:t>ToF</a:t>
              </a:r>
              <a:endParaRPr sz="793" u="sng"/>
            </a:p>
            <a:p>
              <a:pPr indent="0" lvl="0" marL="0" rtl="0" algn="ctr">
                <a:spcBef>
                  <a:spcPts val="0"/>
                </a:spcBef>
                <a:spcAft>
                  <a:spcPts val="0"/>
                </a:spcAft>
                <a:buNone/>
              </a:pPr>
              <a:r>
                <a:rPr lang="en" sz="793"/>
                <a:t>EDM/RAD/MLRAD/Panoramic</a:t>
              </a:r>
              <a:endParaRPr sz="793"/>
            </a:p>
          </p:txBody>
        </p:sp>
        <p:sp>
          <p:nvSpPr>
            <p:cNvPr id="506" name="Google Shape;506;p83"/>
            <p:cNvSpPr/>
            <p:nvPr/>
          </p:nvSpPr>
          <p:spPr>
            <a:xfrm>
              <a:off x="1374429" y="1775314"/>
              <a:ext cx="1569900" cy="305700"/>
            </a:xfrm>
            <a:prstGeom prst="rect">
              <a:avLst/>
            </a:prstGeom>
            <a:solidFill>
              <a:srgbClr val="F4CCCC"/>
            </a:solidFill>
            <a:ln cap="flat" cmpd="sng" w="5400">
              <a:solidFill>
                <a:srgbClr val="000000"/>
              </a:solidFill>
              <a:prstDash val="solid"/>
              <a:round/>
              <a:headEnd len="sm" w="sm" type="none"/>
              <a:tailEnd len="sm" w="sm" type="none"/>
            </a:ln>
          </p:spPr>
          <p:txBody>
            <a:bodyPr anchorCtr="0" anchor="ctr" bIns="51850" lIns="51850" spcFirstLastPara="1" rIns="51850" wrap="square" tIns="51850">
              <a:noAutofit/>
            </a:bodyPr>
            <a:lstStyle/>
            <a:p>
              <a:pPr indent="0" lvl="0" marL="0" rtl="0" algn="ctr">
                <a:spcBef>
                  <a:spcPts val="0"/>
                </a:spcBef>
                <a:spcAft>
                  <a:spcPts val="0"/>
                </a:spcAft>
                <a:buNone/>
              </a:pPr>
              <a:r>
                <a:rPr lang="en" sz="793"/>
                <a:t>Custom abstraction</a:t>
              </a:r>
              <a:endParaRPr sz="793"/>
            </a:p>
          </p:txBody>
        </p:sp>
        <p:cxnSp>
          <p:nvCxnSpPr>
            <p:cNvPr id="507" name="Google Shape;507;p83"/>
            <p:cNvCxnSpPr/>
            <p:nvPr/>
          </p:nvCxnSpPr>
          <p:spPr>
            <a:xfrm>
              <a:off x="2914187" y="2081129"/>
              <a:ext cx="356700" cy="0"/>
            </a:xfrm>
            <a:prstGeom prst="straightConnector1">
              <a:avLst/>
            </a:prstGeom>
            <a:noFill/>
            <a:ln cap="flat" cmpd="sng" w="5400">
              <a:solidFill>
                <a:srgbClr val="000000"/>
              </a:solidFill>
              <a:prstDash val="solid"/>
              <a:round/>
              <a:headEnd len="med" w="med" type="none"/>
              <a:tailEnd len="med" w="med" type="triangle"/>
            </a:ln>
          </p:spPr>
        </p:cxnSp>
        <p:sp>
          <p:nvSpPr>
            <p:cNvPr id="508" name="Google Shape;508;p83"/>
            <p:cNvSpPr/>
            <p:nvPr/>
          </p:nvSpPr>
          <p:spPr>
            <a:xfrm>
              <a:off x="3270811" y="1928221"/>
              <a:ext cx="968100" cy="305700"/>
            </a:xfrm>
            <a:prstGeom prst="roundRect">
              <a:avLst>
                <a:gd fmla="val 16667" name="adj"/>
              </a:avLst>
            </a:prstGeom>
            <a:solidFill>
              <a:srgbClr val="F3F3F3"/>
            </a:solidFill>
            <a:ln cap="flat" cmpd="sng" w="5400">
              <a:solidFill>
                <a:srgbClr val="000000"/>
              </a:solidFill>
              <a:prstDash val="solid"/>
              <a:round/>
              <a:headEnd len="sm" w="sm" type="none"/>
              <a:tailEnd len="sm" w="sm" type="none"/>
            </a:ln>
          </p:spPr>
          <p:txBody>
            <a:bodyPr anchorCtr="0" anchor="ctr" bIns="51850" lIns="51850" spcFirstLastPara="1" rIns="51850" wrap="square" tIns="51850">
              <a:noAutofit/>
            </a:bodyPr>
            <a:lstStyle/>
            <a:p>
              <a:pPr indent="0" lvl="0" marL="0" rtl="0" algn="ctr">
                <a:spcBef>
                  <a:spcPts val="0"/>
                </a:spcBef>
                <a:spcAft>
                  <a:spcPts val="0"/>
                </a:spcAft>
                <a:buNone/>
              </a:pPr>
              <a:r>
                <a:rPr lang="en" sz="793"/>
                <a:t>Spotlight tables</a:t>
              </a:r>
              <a:endParaRPr sz="793"/>
            </a:p>
          </p:txBody>
        </p:sp>
        <p:sp>
          <p:nvSpPr>
            <p:cNvPr id="509" name="Google Shape;509;p83"/>
            <p:cNvSpPr/>
            <p:nvPr/>
          </p:nvSpPr>
          <p:spPr>
            <a:xfrm>
              <a:off x="3270811" y="2613531"/>
              <a:ext cx="968100" cy="305700"/>
            </a:xfrm>
            <a:prstGeom prst="roundRect">
              <a:avLst>
                <a:gd fmla="val 16667" name="adj"/>
              </a:avLst>
            </a:prstGeom>
            <a:solidFill>
              <a:srgbClr val="F3F3F3"/>
            </a:solidFill>
            <a:ln cap="flat" cmpd="sng" w="5400">
              <a:solidFill>
                <a:srgbClr val="000000"/>
              </a:solidFill>
              <a:prstDash val="solid"/>
              <a:round/>
              <a:headEnd len="sm" w="sm" type="none"/>
              <a:tailEnd len="sm" w="sm" type="none"/>
            </a:ln>
          </p:spPr>
          <p:txBody>
            <a:bodyPr anchorCtr="0" anchor="ctr" bIns="51850" lIns="51850" spcFirstLastPara="1" rIns="51850" wrap="square" tIns="51850">
              <a:noAutofit/>
            </a:bodyPr>
            <a:lstStyle/>
            <a:p>
              <a:pPr indent="0" lvl="0" marL="0" rtl="0" algn="ctr">
                <a:spcBef>
                  <a:spcPts val="0"/>
                </a:spcBef>
                <a:spcAft>
                  <a:spcPts val="0"/>
                </a:spcAft>
                <a:buNone/>
              </a:pPr>
              <a:r>
                <a:rPr lang="en" sz="793"/>
                <a:t>Analytic tables (ship)</a:t>
              </a:r>
              <a:endParaRPr sz="793"/>
            </a:p>
          </p:txBody>
        </p:sp>
        <p:cxnSp>
          <p:nvCxnSpPr>
            <p:cNvPr id="510" name="Google Shape;510;p83"/>
            <p:cNvCxnSpPr>
              <a:endCxn id="509" idx="1"/>
            </p:cNvCxnSpPr>
            <p:nvPr/>
          </p:nvCxnSpPr>
          <p:spPr>
            <a:xfrm flipH="1" rot="10800000">
              <a:off x="2557711" y="2766381"/>
              <a:ext cx="713100" cy="5400"/>
            </a:xfrm>
            <a:prstGeom prst="straightConnector1">
              <a:avLst/>
            </a:prstGeom>
            <a:noFill/>
            <a:ln cap="flat" cmpd="sng" w="5400">
              <a:solidFill>
                <a:srgbClr val="000000"/>
              </a:solidFill>
              <a:prstDash val="solid"/>
              <a:round/>
              <a:headEnd len="med" w="med" type="none"/>
              <a:tailEnd len="med" w="med" type="triangle"/>
            </a:ln>
          </p:spPr>
        </p:cxnSp>
      </p:grpSp>
      <p:sp>
        <p:nvSpPr>
          <p:cNvPr id="511" name="Google Shape;511;p83"/>
          <p:cNvSpPr txBox="1"/>
          <p:nvPr>
            <p:ph idx="1" type="body"/>
          </p:nvPr>
        </p:nvSpPr>
        <p:spPr>
          <a:xfrm>
            <a:off x="457200" y="1447800"/>
            <a:ext cx="8152500" cy="6507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a:t>Use the the patient_selection spotlight table to recreate the HCS cohort</a:t>
            </a:r>
            <a:endParaRPr/>
          </a:p>
          <a:p>
            <a:pPr indent="0" lvl="0" marL="0" rtl="0" algn="l">
              <a:spcBef>
                <a:spcPts val="1600"/>
              </a:spcBef>
              <a:spcAft>
                <a:spcPts val="1600"/>
              </a:spcAft>
              <a:buNone/>
            </a:pPr>
            <a:r>
              <a:t/>
            </a:r>
            <a:endParaRPr/>
          </a:p>
        </p:txBody>
      </p:sp>
      <p:sp>
        <p:nvSpPr>
          <p:cNvPr id="512" name="Google Shape;512;p83"/>
          <p:cNvSpPr/>
          <p:nvPr/>
        </p:nvSpPr>
        <p:spPr>
          <a:xfrm>
            <a:off x="1967700" y="3538800"/>
            <a:ext cx="2604300" cy="973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dk1"/>
                </a:solidFill>
                <a:latin typeface="Helvetica Neue"/>
                <a:ea typeface="Helvetica Neue"/>
                <a:cs typeface="Helvetica Neue"/>
                <a:sym typeface="Helvetica Neue"/>
              </a:rPr>
              <a:t>💡 Leverage the </a:t>
            </a:r>
            <a:r>
              <a:rPr lang="en" sz="1200" u="sng">
                <a:solidFill>
                  <a:schemeClr val="accent2"/>
                </a:solidFill>
                <a:latin typeface="Helvetica Neue"/>
                <a:ea typeface="Helvetica Neue"/>
                <a:cs typeface="Helvetica Neue"/>
                <a:sym typeface="Helvetica Neue"/>
                <a:hlinkClick r:id="rId3">
                  <a:extLst>
                    <a:ext uri="{A12FA001-AC4F-418D-AE19-62706E023703}">
                      <ahyp:hlinkClr val="tx"/>
                    </a:ext>
                  </a:extLst>
                </a:hlinkClick>
              </a:rPr>
              <a:t>data dictionary</a:t>
            </a:r>
            <a:r>
              <a:rPr lang="en" sz="1200">
                <a:solidFill>
                  <a:schemeClr val="dk1"/>
                </a:solidFill>
                <a:latin typeface="Helvetica Neue"/>
                <a:ea typeface="Helvetica Neue"/>
                <a:cs typeface="Helvetica Neue"/>
                <a:sym typeface="Helvetica Neue"/>
              </a:rPr>
              <a:t> and the </a:t>
            </a:r>
            <a:r>
              <a:rPr lang="en" sz="1200" u="sng">
                <a:solidFill>
                  <a:schemeClr val="accent2"/>
                </a:solidFill>
                <a:latin typeface="Helvetica Neue"/>
                <a:ea typeface="Helvetica Neue"/>
                <a:cs typeface="Helvetica Neue"/>
                <a:sym typeface="Helvetica Neue"/>
                <a:hlinkClick r:id="rId4">
                  <a:extLst>
                    <a:ext uri="{A12FA001-AC4F-418D-AE19-62706E023703}">
                      <ahyp:hlinkClr val="tx"/>
                    </a:ext>
                  </a:extLst>
                </a:hlinkClick>
              </a:rPr>
              <a:t>Floodlight</a:t>
            </a:r>
            <a:r>
              <a:rPr lang="en" sz="1200">
                <a:solidFill>
                  <a:schemeClr val="dk1"/>
                </a:solidFill>
                <a:latin typeface="Helvetica Neue"/>
                <a:ea typeface="Helvetica Neue"/>
                <a:cs typeface="Helvetica Neue"/>
                <a:sym typeface="Helvetica Neue"/>
              </a:rPr>
              <a:t> page to understand the HCS cohort size and the abstracted variables</a:t>
            </a:r>
            <a:endParaRPr sz="1200">
              <a:latin typeface="Helvetica Neue"/>
              <a:ea typeface="Helvetica Neue"/>
              <a:cs typeface="Helvetica Neue"/>
              <a:sym typeface="Helvetica Neue"/>
            </a:endParaRPr>
          </a:p>
        </p:txBody>
      </p:sp>
      <p:pic>
        <p:nvPicPr>
          <p:cNvPr id="513" name="Google Shape;513;p83"/>
          <p:cNvPicPr preferRelativeResize="0"/>
          <p:nvPr/>
        </p:nvPicPr>
        <p:blipFill>
          <a:blip r:embed="rId5">
            <a:alphaModFix/>
          </a:blip>
          <a:stretch>
            <a:fillRect/>
          </a:stretch>
        </p:blipFill>
        <p:spPr>
          <a:xfrm>
            <a:off x="610757" y="1712476"/>
            <a:ext cx="6491242" cy="914400"/>
          </a:xfrm>
          <a:prstGeom prst="rect">
            <a:avLst/>
          </a:prstGeom>
          <a:noFill/>
          <a:ln>
            <a:noFill/>
          </a:ln>
        </p:spPr>
      </p:pic>
      <p:sp>
        <p:nvSpPr>
          <p:cNvPr id="514" name="Google Shape;514;p83"/>
          <p:cNvSpPr txBox="1"/>
          <p:nvPr>
            <p:ph idx="1" type="body"/>
          </p:nvPr>
        </p:nvSpPr>
        <p:spPr>
          <a:xfrm>
            <a:off x="457200" y="2716475"/>
            <a:ext cx="4017600" cy="6507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a:t>Apply additional I/E criteria analytically, after HCS criteria, to get the final cohort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84"/>
          <p:cNvSpPr txBox="1"/>
          <p:nvPr>
            <p:ph type="title"/>
          </p:nvPr>
        </p:nvSpPr>
        <p:spPr>
          <a:xfrm>
            <a:off x="457200" y="457200"/>
            <a:ext cx="8229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Sometimes you hit the Jackpot: </a:t>
            </a:r>
            <a:r>
              <a:rPr lang="en"/>
              <a:t>additional I/E fall between HCS criteria</a:t>
            </a:r>
            <a:endParaRPr/>
          </a:p>
          <a:p>
            <a:pPr indent="0" lvl="0" marL="0" rtl="0" algn="l">
              <a:spcBef>
                <a:spcPts val="0"/>
              </a:spcBef>
              <a:spcAft>
                <a:spcPts val="0"/>
              </a:spcAft>
              <a:buNone/>
            </a:pPr>
            <a:r>
              <a:t/>
            </a:r>
            <a:endParaRPr/>
          </a:p>
        </p:txBody>
      </p:sp>
      <p:sp>
        <p:nvSpPr>
          <p:cNvPr id="520" name="Google Shape;520;p84"/>
          <p:cNvSpPr txBox="1"/>
          <p:nvPr>
            <p:ph idx="1" type="body"/>
          </p:nvPr>
        </p:nvSpPr>
        <p:spPr>
          <a:xfrm>
            <a:off x="457200" y="1447800"/>
            <a:ext cx="7916400" cy="11868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a:t>Use ToF tables (instead of spotlight tables) to derive additional I/E</a:t>
            </a:r>
            <a:endParaRPr/>
          </a:p>
          <a:p>
            <a:pPr indent="-323850" lvl="0" marL="457200" rtl="0" algn="l">
              <a:spcBef>
                <a:spcPts val="0"/>
              </a:spcBef>
              <a:spcAft>
                <a:spcPts val="0"/>
              </a:spcAft>
              <a:buSzPts val="1500"/>
              <a:buChar char="-"/>
            </a:pPr>
            <a:r>
              <a:rPr lang="en"/>
              <a:t>Merge with HCS steps via fpids to find overlapping patients for the analytic cohort</a:t>
            </a:r>
            <a:endParaRPr/>
          </a:p>
          <a:p>
            <a:pPr indent="-323850" lvl="0" marL="457200" rtl="0" algn="l">
              <a:spcBef>
                <a:spcPts val="0"/>
              </a:spcBef>
              <a:spcAft>
                <a:spcPts val="0"/>
              </a:spcAft>
              <a:buSzPts val="1500"/>
              <a:buChar char="-"/>
            </a:pPr>
            <a:r>
              <a:rPr lang="en"/>
              <a:t>Using</a:t>
            </a:r>
            <a:r>
              <a:rPr lang="en"/>
              <a:t> the Spotlight tables directly still gets the final cohort right, but the attrition is not accurate</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521" name="Google Shape;521;p84"/>
          <p:cNvSpPr/>
          <p:nvPr/>
        </p:nvSpPr>
        <p:spPr>
          <a:xfrm>
            <a:off x="733200" y="2801525"/>
            <a:ext cx="3105600" cy="1394100"/>
          </a:xfrm>
          <a:prstGeom prst="rect">
            <a:avLst/>
          </a:prstGeom>
          <a:solidFill>
            <a:srgbClr val="E2E8F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dk1"/>
                </a:solidFill>
                <a:latin typeface="Helvetica Neue"/>
                <a:ea typeface="Helvetica Neue"/>
                <a:cs typeface="Helvetica Neue"/>
                <a:sym typeface="Helvetica Neue"/>
              </a:rPr>
              <a:t>❗</a:t>
            </a:r>
            <a:r>
              <a:rPr lang="en" sz="1200">
                <a:solidFill>
                  <a:schemeClr val="dk1"/>
                </a:solidFill>
                <a:latin typeface="Helvetica Neue"/>
                <a:ea typeface="Helvetica Neue"/>
                <a:cs typeface="Helvetica Neue"/>
                <a:sym typeface="Helvetica Neue"/>
              </a:rPr>
              <a:t> Only u</a:t>
            </a:r>
            <a:r>
              <a:rPr lang="en" sz="1200">
                <a:solidFill>
                  <a:schemeClr val="dk1"/>
                </a:solidFill>
                <a:latin typeface="Helvetica Neue"/>
                <a:ea typeface="Helvetica Neue"/>
                <a:cs typeface="Helvetica Neue"/>
                <a:sym typeface="Helvetica Neue"/>
              </a:rPr>
              <a:t>se spotlight tables (i.e., tables in the </a:t>
            </a:r>
            <a:r>
              <a:rPr lang="en" sz="1200" u="sng">
                <a:solidFill>
                  <a:schemeClr val="accent2"/>
                </a:solidFill>
                <a:latin typeface="Helvetica Neue"/>
                <a:ea typeface="Helvetica Neue"/>
                <a:cs typeface="Helvetica Neue"/>
                <a:sym typeface="Helvetica Neue"/>
                <a:hlinkClick r:id="rId3">
                  <a:extLst>
                    <a:ext uri="{A12FA001-AC4F-418D-AE19-62706E023703}">
                      <ahyp:hlinkClr val="tx"/>
                    </a:ext>
                  </a:extLst>
                </a:hlinkClick>
              </a:rPr>
              <a:t>data dictionary</a:t>
            </a:r>
            <a:r>
              <a:rPr lang="en" sz="1200">
                <a:solidFill>
                  <a:schemeClr val="dk1"/>
                </a:solidFill>
                <a:latin typeface="Helvetica Neue"/>
                <a:ea typeface="Helvetica Neue"/>
                <a:cs typeface="Helvetica Neue"/>
                <a:sym typeface="Helvetica Neue"/>
              </a:rPr>
              <a:t>) for subsequent analyses. Check the mapping table in the flatironship to confirm the right tables are being pulled in (e.g., _lineoftherapy vs _extractedlot)</a:t>
            </a:r>
            <a:endParaRPr sz="1200">
              <a:latin typeface="Helvetica Neue"/>
              <a:ea typeface="Helvetica Neue"/>
              <a:cs typeface="Helvetica Neue"/>
              <a:sym typeface="Helvetica Neue"/>
            </a:endParaRPr>
          </a:p>
        </p:txBody>
      </p:sp>
      <p:sp>
        <p:nvSpPr>
          <p:cNvPr id="522" name="Google Shape;522;p84"/>
          <p:cNvSpPr/>
          <p:nvPr/>
        </p:nvSpPr>
        <p:spPr>
          <a:xfrm>
            <a:off x="5049572" y="3284676"/>
            <a:ext cx="2349820" cy="1090623"/>
          </a:xfrm>
          <a:prstGeom prst="flowChartManualOperation">
            <a:avLst/>
          </a:prstGeom>
          <a:solidFill>
            <a:srgbClr val="FFF2CC"/>
          </a:solidFill>
          <a:ln cap="flat" cmpd="sng" w="5450">
            <a:solidFill>
              <a:srgbClr val="000000"/>
            </a:solidFill>
            <a:prstDash val="solid"/>
            <a:round/>
            <a:headEnd len="sm" w="sm" type="none"/>
            <a:tailEnd len="sm" w="sm" type="none"/>
          </a:ln>
        </p:spPr>
        <p:txBody>
          <a:bodyPr anchorCtr="0" anchor="ctr" bIns="52325" lIns="52325" spcFirstLastPara="1" rIns="52325" wrap="square" tIns="52325">
            <a:noAutofit/>
          </a:bodyPr>
          <a:lstStyle/>
          <a:p>
            <a:pPr indent="0" lvl="0" marL="0" rtl="0" algn="ctr">
              <a:spcBef>
                <a:spcPts val="0"/>
              </a:spcBef>
              <a:spcAft>
                <a:spcPts val="0"/>
              </a:spcAft>
              <a:buNone/>
            </a:pPr>
            <a:r>
              <a:rPr lang="en" sz="801"/>
              <a:t>HCS criteria</a:t>
            </a:r>
            <a:endParaRPr sz="801"/>
          </a:p>
          <a:p>
            <a:pPr indent="0" lvl="0" marL="0" rtl="0" algn="ctr">
              <a:spcBef>
                <a:spcPts val="0"/>
              </a:spcBef>
              <a:spcAft>
                <a:spcPts val="0"/>
              </a:spcAft>
              <a:buNone/>
            </a:pPr>
            <a:r>
              <a:t/>
            </a:r>
            <a:endParaRPr sz="801"/>
          </a:p>
          <a:p>
            <a:pPr indent="0" lvl="0" marL="0" rtl="0" algn="ctr">
              <a:spcBef>
                <a:spcPts val="0"/>
              </a:spcBef>
              <a:spcAft>
                <a:spcPts val="0"/>
              </a:spcAft>
              <a:buNone/>
            </a:pPr>
            <a:r>
              <a:t/>
            </a:r>
            <a:endParaRPr sz="801"/>
          </a:p>
          <a:p>
            <a:pPr indent="0" lvl="0" marL="0" rtl="0" algn="ctr">
              <a:spcBef>
                <a:spcPts val="0"/>
              </a:spcBef>
              <a:spcAft>
                <a:spcPts val="0"/>
              </a:spcAft>
              <a:buNone/>
            </a:pPr>
            <a:r>
              <a:t/>
            </a:r>
            <a:endParaRPr sz="801"/>
          </a:p>
          <a:p>
            <a:pPr indent="0" lvl="0" marL="0" rtl="0" algn="ctr">
              <a:spcBef>
                <a:spcPts val="0"/>
              </a:spcBef>
              <a:spcAft>
                <a:spcPts val="0"/>
              </a:spcAft>
              <a:buNone/>
            </a:pPr>
            <a:r>
              <a:t/>
            </a:r>
            <a:endParaRPr sz="801"/>
          </a:p>
          <a:p>
            <a:pPr indent="0" lvl="0" marL="0" rtl="0" algn="ctr">
              <a:spcBef>
                <a:spcPts val="0"/>
              </a:spcBef>
              <a:spcAft>
                <a:spcPts val="0"/>
              </a:spcAft>
              <a:buNone/>
            </a:pPr>
            <a:r>
              <a:t/>
            </a:r>
            <a:endParaRPr sz="801"/>
          </a:p>
        </p:txBody>
      </p:sp>
      <p:sp>
        <p:nvSpPr>
          <p:cNvPr id="523" name="Google Shape;523;p84"/>
          <p:cNvSpPr/>
          <p:nvPr/>
        </p:nvSpPr>
        <p:spPr>
          <a:xfrm>
            <a:off x="5250651" y="3754800"/>
            <a:ext cx="1947648" cy="620497"/>
          </a:xfrm>
          <a:prstGeom prst="flowChartManualOperation">
            <a:avLst/>
          </a:prstGeom>
          <a:solidFill>
            <a:srgbClr val="D9EAD3"/>
          </a:solidFill>
          <a:ln cap="flat" cmpd="sng" w="5450">
            <a:solidFill>
              <a:srgbClr val="000000"/>
            </a:solidFill>
            <a:prstDash val="solid"/>
            <a:round/>
            <a:headEnd len="sm" w="sm" type="none"/>
            <a:tailEnd len="sm" w="sm" type="none"/>
          </a:ln>
        </p:spPr>
        <p:txBody>
          <a:bodyPr anchorCtr="0" anchor="ctr" bIns="52325" lIns="52325" spcFirstLastPara="1" rIns="52325" wrap="square" tIns="52325">
            <a:noAutofit/>
          </a:bodyPr>
          <a:lstStyle/>
          <a:p>
            <a:pPr indent="0" lvl="0" marL="0" rtl="0" algn="ctr">
              <a:spcBef>
                <a:spcPts val="0"/>
              </a:spcBef>
              <a:spcAft>
                <a:spcPts val="0"/>
              </a:spcAft>
              <a:buNone/>
            </a:pPr>
            <a:r>
              <a:rPr lang="en" sz="801"/>
              <a:t>Additional I/E</a:t>
            </a:r>
            <a:endParaRPr sz="801"/>
          </a:p>
        </p:txBody>
      </p:sp>
      <p:sp>
        <p:nvSpPr>
          <p:cNvPr id="524" name="Google Shape;524;p84"/>
          <p:cNvSpPr/>
          <p:nvPr/>
        </p:nvSpPr>
        <p:spPr>
          <a:xfrm>
            <a:off x="4269253" y="2664198"/>
            <a:ext cx="3917225" cy="620497"/>
          </a:xfrm>
          <a:prstGeom prst="flowChartManualOperation">
            <a:avLst/>
          </a:prstGeom>
          <a:solidFill>
            <a:srgbClr val="CFE2F3"/>
          </a:solidFill>
          <a:ln cap="flat" cmpd="sng" w="5450">
            <a:solidFill>
              <a:srgbClr val="000000"/>
            </a:solidFill>
            <a:prstDash val="solid"/>
            <a:round/>
            <a:headEnd len="sm" w="sm" type="none"/>
            <a:tailEnd len="sm" w="sm" type="none"/>
          </a:ln>
        </p:spPr>
        <p:txBody>
          <a:bodyPr anchorCtr="0" anchor="ctr" bIns="52325" lIns="52325" spcFirstLastPara="1" rIns="52325" wrap="square" tIns="52325">
            <a:noAutofit/>
          </a:bodyPr>
          <a:lstStyle/>
          <a:p>
            <a:pPr indent="0" lvl="0" marL="0" rtl="0" algn="ctr">
              <a:spcBef>
                <a:spcPts val="0"/>
              </a:spcBef>
              <a:spcAft>
                <a:spcPts val="0"/>
              </a:spcAft>
              <a:buNone/>
            </a:pPr>
            <a:r>
              <a:rPr lang="en" sz="801" u="sng"/>
              <a:t>ToF</a:t>
            </a:r>
            <a:endParaRPr sz="801" u="sng"/>
          </a:p>
          <a:p>
            <a:pPr indent="0" lvl="0" marL="0" rtl="0" algn="ctr">
              <a:spcBef>
                <a:spcPts val="0"/>
              </a:spcBef>
              <a:spcAft>
                <a:spcPts val="0"/>
              </a:spcAft>
              <a:buNone/>
            </a:pPr>
            <a:r>
              <a:rPr lang="en" sz="801"/>
              <a:t>EDM/RAD/MLRAD/Panoramic</a:t>
            </a:r>
            <a:endParaRPr sz="801"/>
          </a:p>
        </p:txBody>
      </p:sp>
      <p:sp>
        <p:nvSpPr>
          <p:cNvPr id="525" name="Google Shape;525;p84"/>
          <p:cNvSpPr/>
          <p:nvPr/>
        </p:nvSpPr>
        <p:spPr>
          <a:xfrm>
            <a:off x="5516406" y="4375304"/>
            <a:ext cx="1416300" cy="275700"/>
          </a:xfrm>
          <a:prstGeom prst="rect">
            <a:avLst/>
          </a:prstGeom>
          <a:solidFill>
            <a:srgbClr val="F4CCCC"/>
          </a:solidFill>
          <a:ln cap="flat" cmpd="sng" w="5450">
            <a:solidFill>
              <a:srgbClr val="000000"/>
            </a:solidFill>
            <a:prstDash val="solid"/>
            <a:round/>
            <a:headEnd len="sm" w="sm" type="none"/>
            <a:tailEnd len="sm" w="sm" type="none"/>
          </a:ln>
        </p:spPr>
        <p:txBody>
          <a:bodyPr anchorCtr="0" anchor="ctr" bIns="52325" lIns="52325" spcFirstLastPara="1" rIns="52325" wrap="square" tIns="52325">
            <a:noAutofit/>
          </a:bodyPr>
          <a:lstStyle/>
          <a:p>
            <a:pPr indent="0" lvl="0" marL="0" rtl="0" algn="ctr">
              <a:spcBef>
                <a:spcPts val="0"/>
              </a:spcBef>
              <a:spcAft>
                <a:spcPts val="0"/>
              </a:spcAft>
              <a:buNone/>
            </a:pPr>
            <a:r>
              <a:rPr lang="en" sz="801"/>
              <a:t>Custom abstraction</a:t>
            </a:r>
            <a:endParaRPr sz="801"/>
          </a:p>
        </p:txBody>
      </p:sp>
      <p:sp>
        <p:nvSpPr>
          <p:cNvPr id="526" name="Google Shape;526;p84"/>
          <p:cNvSpPr/>
          <p:nvPr/>
        </p:nvSpPr>
        <p:spPr>
          <a:xfrm>
            <a:off x="5644755" y="4378130"/>
            <a:ext cx="1166400" cy="270300"/>
          </a:xfrm>
          <a:prstGeom prst="rect">
            <a:avLst/>
          </a:prstGeom>
          <a:noFill/>
          <a:ln cap="flat" cmpd="sng" w="21800">
            <a:solidFill>
              <a:srgbClr val="FF0000"/>
            </a:solidFill>
            <a:prstDash val="solid"/>
            <a:round/>
            <a:headEnd len="sm" w="sm" type="none"/>
            <a:tailEnd len="sm" w="sm" type="none"/>
          </a:ln>
        </p:spPr>
        <p:txBody>
          <a:bodyPr anchorCtr="0" anchor="ctr" bIns="52325" lIns="52325" spcFirstLastPara="1" rIns="52325" wrap="square" tIns="52325">
            <a:noAutofit/>
          </a:bodyPr>
          <a:lstStyle/>
          <a:p>
            <a:pPr indent="0" lvl="0" marL="0" rtl="0" algn="ctr">
              <a:spcBef>
                <a:spcPts val="0"/>
              </a:spcBef>
              <a:spcAft>
                <a:spcPts val="0"/>
              </a:spcAft>
              <a:buNone/>
            </a:pPr>
            <a:r>
              <a:t/>
            </a:r>
            <a:endParaRPr sz="80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85"/>
          <p:cNvSpPr txBox="1"/>
          <p:nvPr>
            <p:ph type="title"/>
          </p:nvPr>
        </p:nvSpPr>
        <p:spPr>
          <a:xfrm>
            <a:off x="457200" y="457200"/>
            <a:ext cx="8229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Not the most common, but we also have projects that start with MLRAD</a:t>
            </a:r>
            <a:endParaRPr/>
          </a:p>
        </p:txBody>
      </p:sp>
      <p:sp>
        <p:nvSpPr>
          <p:cNvPr id="532" name="Google Shape;532;p85"/>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sz="1400"/>
              <a:t>Flatironship currently does not build MLRAD ship directly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Loading MLRAD tables can look like this</a:t>
            </a:r>
            <a:endParaRPr sz="850">
              <a:solidFill>
                <a:srgbClr val="333333"/>
              </a:solidFill>
              <a:latin typeface="Consolas"/>
              <a:ea typeface="Consolas"/>
              <a:cs typeface="Consolas"/>
              <a:sym typeface="Consolas"/>
            </a:endParaRPr>
          </a:p>
          <a:p>
            <a:pPr indent="0" lvl="0" marL="914400" rtl="0" algn="l">
              <a:spcBef>
                <a:spcPts val="0"/>
              </a:spcBef>
              <a:spcAft>
                <a:spcPts val="0"/>
              </a:spcAft>
              <a:buNone/>
            </a:pPr>
            <a:r>
              <a:rPr lang="en" sz="850">
                <a:solidFill>
                  <a:srgbClr val="333333"/>
                </a:solidFill>
                <a:latin typeface="Consolas"/>
                <a:ea typeface="Consolas"/>
                <a:cs typeface="Consolas"/>
                <a:sym typeface="Consolas"/>
              </a:rPr>
              <a:t>mlrad_tables</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&lt;-</a:t>
            </a: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flatironconnect</a:t>
            </a:r>
            <a:r>
              <a:rPr lang="en" sz="850">
                <a:solidFill>
                  <a:srgbClr val="28272D"/>
                </a:solidFill>
                <a:latin typeface="Consolas"/>
                <a:ea typeface="Consolas"/>
                <a:cs typeface="Consolas"/>
                <a:sym typeface="Consolas"/>
              </a:rPr>
              <a:t>::</a:t>
            </a:r>
            <a:r>
              <a:rPr lang="en" sz="850">
                <a:solidFill>
                  <a:srgbClr val="333333"/>
                </a:solidFill>
                <a:latin typeface="Consolas"/>
                <a:ea typeface="Consolas"/>
                <a:cs typeface="Consolas"/>
                <a:sym typeface="Consolas"/>
              </a:rPr>
              <a:t>gather_tables_database</a:t>
            </a:r>
            <a:r>
              <a:rPr lang="en" sz="850">
                <a:solidFill>
                  <a:srgbClr val="28272D"/>
                </a:solidFill>
                <a:latin typeface="Consolas"/>
                <a:ea typeface="Consolas"/>
                <a:cs typeface="Consolas"/>
                <a:sym typeface="Consolas"/>
              </a:rPr>
              <a:t>(</a:t>
            </a:r>
            <a:endParaRPr sz="850">
              <a:solidFill>
                <a:srgbClr val="28272D"/>
              </a:solidFill>
              <a:latin typeface="Consolas"/>
              <a:ea typeface="Consolas"/>
              <a:cs typeface="Consolas"/>
              <a:sym typeface="Consolas"/>
            </a:endParaRPr>
          </a:p>
          <a:p>
            <a:pPr indent="0" lvl="0" marL="914400" rtl="0" algn="l">
              <a:spcBef>
                <a:spcPts val="0"/>
              </a:spcBef>
              <a:spcAft>
                <a:spcPts val="0"/>
              </a:spcAft>
              <a:buNone/>
            </a:pP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database</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a:t>
            </a:r>
            <a:r>
              <a:rPr lang="en" sz="850">
                <a:solidFill>
                  <a:srgbClr val="BBBBBB"/>
                </a:solidFill>
                <a:latin typeface="Consolas"/>
                <a:ea typeface="Consolas"/>
                <a:cs typeface="Consolas"/>
                <a:sym typeface="Consolas"/>
              </a:rPr>
              <a:t> </a:t>
            </a:r>
            <a:r>
              <a:rPr lang="en" sz="850">
                <a:solidFill>
                  <a:srgbClr val="DD1144"/>
                </a:solidFill>
                <a:latin typeface="Consolas"/>
                <a:ea typeface="Consolas"/>
                <a:cs typeface="Consolas"/>
                <a:sym typeface="Consolas"/>
              </a:rPr>
              <a:t>"MLRAD"</a:t>
            </a:r>
            <a:r>
              <a:rPr lang="en" sz="850">
                <a:solidFill>
                  <a:srgbClr val="28272D"/>
                </a:solidFill>
                <a:latin typeface="Consolas"/>
                <a:ea typeface="Consolas"/>
                <a:cs typeface="Consolas"/>
                <a:sym typeface="Consolas"/>
              </a:rPr>
              <a:t>,</a:t>
            </a:r>
            <a:endParaRPr sz="850">
              <a:solidFill>
                <a:srgbClr val="28272D"/>
              </a:solidFill>
              <a:latin typeface="Consolas"/>
              <a:ea typeface="Consolas"/>
              <a:cs typeface="Consolas"/>
              <a:sym typeface="Consolas"/>
            </a:endParaRPr>
          </a:p>
          <a:p>
            <a:pPr indent="0" lvl="0" marL="914400" rtl="0" algn="l">
              <a:spcBef>
                <a:spcPts val="0"/>
              </a:spcBef>
              <a:spcAft>
                <a:spcPts val="0"/>
              </a:spcAft>
              <a:buNone/>
            </a:pP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schema</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a:t>
            </a:r>
            <a:r>
              <a:rPr lang="en" sz="850">
                <a:solidFill>
                  <a:srgbClr val="BBBBBB"/>
                </a:solidFill>
                <a:latin typeface="Consolas"/>
                <a:ea typeface="Consolas"/>
                <a:cs typeface="Consolas"/>
                <a:sym typeface="Consolas"/>
              </a:rPr>
              <a:t> </a:t>
            </a:r>
            <a:r>
              <a:rPr lang="en" sz="850">
                <a:solidFill>
                  <a:srgbClr val="DD1144"/>
                </a:solidFill>
                <a:latin typeface="Consolas"/>
                <a:ea typeface="Consolas"/>
                <a:cs typeface="Consolas"/>
                <a:sym typeface="Consolas"/>
              </a:rPr>
              <a:t>"CRAD_DEID_202605"</a:t>
            </a:r>
            <a:endParaRPr sz="850">
              <a:solidFill>
                <a:srgbClr val="28272D"/>
              </a:solidFill>
              <a:latin typeface="Consolas"/>
              <a:ea typeface="Consolas"/>
              <a:cs typeface="Consolas"/>
              <a:sym typeface="Consolas"/>
            </a:endParaRPr>
          </a:p>
          <a:p>
            <a:pPr indent="0" lvl="0" marL="914400" rtl="0" algn="l">
              <a:lnSpc>
                <a:spcPct val="160000"/>
              </a:lnSpc>
              <a:spcBef>
                <a:spcPts val="0"/>
              </a:spcBef>
              <a:spcAft>
                <a:spcPts val="0"/>
              </a:spcAft>
              <a:buNone/>
            </a:pPr>
            <a:r>
              <a:rPr lang="en" sz="850">
                <a:solidFill>
                  <a:srgbClr val="28272D"/>
                </a:solidFill>
                <a:latin typeface="Consolas"/>
                <a:ea typeface="Consolas"/>
                <a:cs typeface="Consolas"/>
                <a:sym typeface="Consolas"/>
              </a:rPr>
              <a:t>)</a:t>
            </a:r>
            <a:endParaRPr sz="850">
              <a:solidFill>
                <a:srgbClr val="28272D"/>
              </a:solidFill>
              <a:latin typeface="Consolas"/>
              <a:ea typeface="Consolas"/>
              <a:cs typeface="Consolas"/>
              <a:sym typeface="Consolas"/>
            </a:endParaRPr>
          </a:p>
          <a:p>
            <a:pPr indent="-317500" lvl="0" marL="457200" rtl="0" algn="l">
              <a:spcBef>
                <a:spcPts val="0"/>
              </a:spcBef>
              <a:spcAft>
                <a:spcPts val="0"/>
              </a:spcAft>
              <a:buSzPts val="1400"/>
              <a:buChar char="-"/>
            </a:pPr>
            <a:r>
              <a:rPr lang="en" sz="1400"/>
              <a:t>But MLRAD does not include structured tables. To locate these, build a ship with RAD tables with the matching MLRAD schema and merge them with the MLRAD tables using fpids.</a:t>
            </a:r>
            <a:endParaRPr sz="1400"/>
          </a:p>
          <a:p>
            <a:pPr indent="457200" lvl="0" marL="457200" rtl="0" algn="l">
              <a:spcBef>
                <a:spcPts val="0"/>
              </a:spcBef>
              <a:spcAft>
                <a:spcPts val="0"/>
              </a:spcAft>
              <a:buNone/>
            </a:pPr>
            <a:r>
              <a:rPr lang="en" sz="850">
                <a:solidFill>
                  <a:srgbClr val="333333"/>
                </a:solidFill>
                <a:latin typeface="Consolas"/>
                <a:ea typeface="Consolas"/>
                <a:cs typeface="Consolas"/>
                <a:sym typeface="Consolas"/>
              </a:rPr>
              <a:t>ship</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&lt;-</a:t>
            </a: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flatironship</a:t>
            </a:r>
            <a:r>
              <a:rPr lang="en" sz="850">
                <a:solidFill>
                  <a:srgbClr val="28272D"/>
                </a:solidFill>
                <a:latin typeface="Consolas"/>
                <a:ea typeface="Consolas"/>
                <a:cs typeface="Consolas"/>
                <a:sym typeface="Consolas"/>
              </a:rPr>
              <a:t>::</a:t>
            </a:r>
            <a:r>
              <a:rPr lang="en" sz="850">
                <a:solidFill>
                  <a:srgbClr val="333333"/>
                </a:solidFill>
                <a:latin typeface="Consolas"/>
                <a:ea typeface="Consolas"/>
                <a:cs typeface="Consolas"/>
                <a:sym typeface="Consolas"/>
              </a:rPr>
              <a:t>build_ship</a:t>
            </a:r>
            <a:r>
              <a:rPr lang="en" sz="850">
                <a:solidFill>
                  <a:srgbClr val="28272D"/>
                </a:solidFill>
                <a:latin typeface="Consolas"/>
                <a:ea typeface="Consolas"/>
                <a:cs typeface="Consolas"/>
                <a:sym typeface="Consolas"/>
              </a:rPr>
              <a:t>(</a:t>
            </a:r>
            <a:endParaRPr sz="850">
              <a:solidFill>
                <a:srgbClr val="28272D"/>
              </a:solidFill>
              <a:latin typeface="Consolas"/>
              <a:ea typeface="Consolas"/>
              <a:cs typeface="Consolas"/>
              <a:sym typeface="Consolas"/>
            </a:endParaRPr>
          </a:p>
          <a:p>
            <a:pPr indent="0" lvl="0" marL="914400" rtl="0" algn="l">
              <a:spcBef>
                <a:spcPts val="0"/>
              </a:spcBef>
              <a:spcAft>
                <a:spcPts val="0"/>
              </a:spcAft>
              <a:buNone/>
            </a:pP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schema</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a:t>
            </a:r>
            <a:r>
              <a:rPr lang="en" sz="850">
                <a:solidFill>
                  <a:srgbClr val="BBBBBB"/>
                </a:solidFill>
                <a:latin typeface="Consolas"/>
                <a:ea typeface="Consolas"/>
                <a:cs typeface="Consolas"/>
                <a:sym typeface="Consolas"/>
              </a:rPr>
              <a:t> </a:t>
            </a:r>
            <a:r>
              <a:rPr lang="en" sz="850">
                <a:solidFill>
                  <a:srgbClr val="DD1144"/>
                </a:solidFill>
                <a:latin typeface="Consolas"/>
                <a:ea typeface="Consolas"/>
                <a:cs typeface="Consolas"/>
                <a:sym typeface="Consolas"/>
              </a:rPr>
              <a:t>"CRAD_DEID_202605",</a:t>
            </a:r>
            <a:endParaRPr sz="850">
              <a:solidFill>
                <a:srgbClr val="28272D"/>
              </a:solidFill>
              <a:latin typeface="Consolas"/>
              <a:ea typeface="Consolas"/>
              <a:cs typeface="Consolas"/>
              <a:sym typeface="Consolas"/>
            </a:endParaRPr>
          </a:p>
          <a:p>
            <a:pPr indent="0" lvl="0" marL="914400" rtl="0" algn="l">
              <a:spcBef>
                <a:spcPts val="0"/>
              </a:spcBef>
              <a:spcAft>
                <a:spcPts val="0"/>
              </a:spcAft>
              <a:buNone/>
            </a:pP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database</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a:t>
            </a:r>
            <a:r>
              <a:rPr lang="en" sz="850">
                <a:solidFill>
                  <a:srgbClr val="BBBBBB"/>
                </a:solidFill>
                <a:latin typeface="Consolas"/>
                <a:ea typeface="Consolas"/>
                <a:cs typeface="Consolas"/>
                <a:sym typeface="Consolas"/>
              </a:rPr>
              <a:t> </a:t>
            </a:r>
            <a:r>
              <a:rPr lang="en" sz="850">
                <a:solidFill>
                  <a:srgbClr val="DD1144"/>
                </a:solidFill>
                <a:latin typeface="Consolas"/>
                <a:ea typeface="Consolas"/>
                <a:cs typeface="Consolas"/>
                <a:sym typeface="Consolas"/>
              </a:rPr>
              <a:t>"rad"</a:t>
            </a:r>
            <a:r>
              <a:rPr lang="en" sz="850">
                <a:solidFill>
                  <a:srgbClr val="28272D"/>
                </a:solidFill>
                <a:latin typeface="Consolas"/>
                <a:ea typeface="Consolas"/>
                <a:cs typeface="Consolas"/>
                <a:sym typeface="Consolas"/>
              </a:rPr>
              <a:t>,</a:t>
            </a:r>
            <a:endParaRPr sz="850">
              <a:solidFill>
                <a:srgbClr val="28272D"/>
              </a:solidFill>
              <a:latin typeface="Consolas"/>
              <a:ea typeface="Consolas"/>
              <a:cs typeface="Consolas"/>
              <a:sym typeface="Consolas"/>
            </a:endParaRPr>
          </a:p>
          <a:p>
            <a:pPr indent="0" lvl="0" marL="914400" rtl="0" algn="l">
              <a:spcBef>
                <a:spcPts val="0"/>
              </a:spcBef>
              <a:spcAft>
                <a:spcPts val="0"/>
              </a:spcAft>
              <a:buNone/>
            </a:pP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location</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a:t>
            </a:r>
            <a:r>
              <a:rPr lang="en" sz="850">
                <a:solidFill>
                  <a:srgbClr val="BBBBBB"/>
                </a:solidFill>
                <a:latin typeface="Consolas"/>
                <a:ea typeface="Consolas"/>
                <a:cs typeface="Consolas"/>
                <a:sym typeface="Consolas"/>
              </a:rPr>
              <a:t> </a:t>
            </a:r>
            <a:r>
              <a:rPr lang="en" sz="850">
                <a:solidFill>
                  <a:srgbClr val="DD1144"/>
                </a:solidFill>
                <a:latin typeface="Consolas"/>
                <a:ea typeface="Consolas"/>
                <a:cs typeface="Consolas"/>
                <a:sym typeface="Consolas"/>
              </a:rPr>
              <a:t>"snowflake"</a:t>
            </a:r>
            <a:r>
              <a:rPr lang="en" sz="850">
                <a:solidFill>
                  <a:srgbClr val="28272D"/>
                </a:solidFill>
                <a:latin typeface="Consolas"/>
                <a:ea typeface="Consolas"/>
                <a:cs typeface="Consolas"/>
                <a:sym typeface="Consolas"/>
              </a:rPr>
              <a:t>,</a:t>
            </a:r>
            <a:endParaRPr sz="850">
              <a:solidFill>
                <a:srgbClr val="28272D"/>
              </a:solidFill>
              <a:latin typeface="Consolas"/>
              <a:ea typeface="Consolas"/>
              <a:cs typeface="Consolas"/>
              <a:sym typeface="Consolas"/>
            </a:endParaRPr>
          </a:p>
          <a:p>
            <a:pPr indent="0" lvl="0" marL="914400" rtl="0" algn="l">
              <a:spcBef>
                <a:spcPts val="0"/>
              </a:spcBef>
              <a:spcAft>
                <a:spcPts val="0"/>
              </a:spcAft>
              <a:buNone/>
            </a:pPr>
            <a:r>
              <a:rPr lang="en" sz="850">
                <a:solidFill>
                  <a:srgbClr val="BBBBBB"/>
                </a:solidFill>
                <a:latin typeface="Consolas"/>
                <a:ea typeface="Consolas"/>
                <a:cs typeface="Consolas"/>
                <a:sym typeface="Consolas"/>
              </a:rPr>
              <a:t> </a:t>
            </a:r>
            <a:r>
              <a:rPr lang="en" sz="850">
                <a:solidFill>
                  <a:srgbClr val="333333"/>
                </a:solidFill>
                <a:latin typeface="Consolas"/>
                <a:ea typeface="Consolas"/>
                <a:cs typeface="Consolas"/>
                <a:sym typeface="Consolas"/>
              </a:rPr>
              <a:t>which_tables</a:t>
            </a:r>
            <a:r>
              <a:rPr lang="en" sz="850">
                <a:solidFill>
                  <a:srgbClr val="BBBBBB"/>
                </a:solidFill>
                <a:latin typeface="Consolas"/>
                <a:ea typeface="Consolas"/>
                <a:cs typeface="Consolas"/>
                <a:sym typeface="Consolas"/>
              </a:rPr>
              <a:t> </a:t>
            </a:r>
            <a:r>
              <a:rPr lang="en" sz="850">
                <a:solidFill>
                  <a:srgbClr val="28272D"/>
                </a:solidFill>
                <a:latin typeface="Consolas"/>
                <a:ea typeface="Consolas"/>
                <a:cs typeface="Consolas"/>
                <a:sym typeface="Consolas"/>
              </a:rPr>
              <a:t>=</a:t>
            </a:r>
            <a:r>
              <a:rPr lang="en" sz="850">
                <a:solidFill>
                  <a:srgbClr val="BBBBBB"/>
                </a:solidFill>
                <a:latin typeface="Consolas"/>
                <a:ea typeface="Consolas"/>
                <a:cs typeface="Consolas"/>
                <a:sym typeface="Consolas"/>
              </a:rPr>
              <a:t> </a:t>
            </a:r>
            <a:r>
              <a:rPr lang="en" sz="850">
                <a:solidFill>
                  <a:srgbClr val="DD1144"/>
                </a:solidFill>
                <a:latin typeface="Consolas"/>
                <a:ea typeface="Consolas"/>
                <a:cs typeface="Consolas"/>
                <a:sym typeface="Consolas"/>
              </a:rPr>
              <a:t>"all"</a:t>
            </a:r>
            <a:endParaRPr sz="850">
              <a:solidFill>
                <a:srgbClr val="28272D"/>
              </a:solidFill>
              <a:latin typeface="Consolas"/>
              <a:ea typeface="Consolas"/>
              <a:cs typeface="Consolas"/>
              <a:sym typeface="Consolas"/>
            </a:endParaRPr>
          </a:p>
          <a:p>
            <a:pPr indent="0" lvl="0" marL="914400" rtl="0" algn="l">
              <a:spcBef>
                <a:spcPts val="0"/>
              </a:spcBef>
              <a:spcAft>
                <a:spcPts val="0"/>
              </a:spcAft>
              <a:buNone/>
            </a:pPr>
            <a:r>
              <a:rPr lang="en" sz="850">
                <a:solidFill>
                  <a:srgbClr val="28272D"/>
                </a:solidFill>
                <a:latin typeface="Consolas"/>
                <a:ea typeface="Consolas"/>
                <a:cs typeface="Consolas"/>
                <a:sym typeface="Consolas"/>
              </a:rPr>
              <a:t>)</a:t>
            </a:r>
            <a:endParaRPr sz="1400"/>
          </a:p>
        </p:txBody>
      </p:sp>
      <p:pic>
        <p:nvPicPr>
          <p:cNvPr id="533" name="Google Shape;533;p85"/>
          <p:cNvPicPr preferRelativeResize="0"/>
          <p:nvPr/>
        </p:nvPicPr>
        <p:blipFill rotWithShape="1">
          <a:blip r:embed="rId3">
            <a:alphaModFix/>
          </a:blip>
          <a:srcRect b="0" l="5740" r="0" t="25606"/>
          <a:stretch/>
        </p:blipFill>
        <p:spPr>
          <a:xfrm>
            <a:off x="914400" y="1723775"/>
            <a:ext cx="5684099" cy="456975"/>
          </a:xfrm>
          <a:prstGeom prst="rect">
            <a:avLst/>
          </a:prstGeom>
          <a:noFill/>
          <a:ln>
            <a:noFill/>
          </a:ln>
        </p:spPr>
      </p:pic>
      <p:pic>
        <p:nvPicPr>
          <p:cNvPr id="534" name="Google Shape;534;p85"/>
          <p:cNvPicPr preferRelativeResize="0"/>
          <p:nvPr/>
        </p:nvPicPr>
        <p:blipFill>
          <a:blip r:embed="rId4">
            <a:alphaModFix/>
          </a:blip>
          <a:stretch>
            <a:fillRect/>
          </a:stretch>
        </p:blipFill>
        <p:spPr>
          <a:xfrm>
            <a:off x="5286375" y="3733800"/>
            <a:ext cx="914400" cy="914400"/>
          </a:xfrm>
          <a:prstGeom prst="rect">
            <a:avLst/>
          </a:prstGeom>
          <a:noFill/>
          <a:ln>
            <a:noFill/>
          </a:ln>
        </p:spPr>
      </p:pic>
      <p:sp>
        <p:nvSpPr>
          <p:cNvPr id="535" name="Google Shape;535;p85"/>
          <p:cNvSpPr/>
          <p:nvPr/>
        </p:nvSpPr>
        <p:spPr>
          <a:xfrm>
            <a:off x="6348300" y="4003050"/>
            <a:ext cx="2159400" cy="375900"/>
          </a:xfrm>
          <a:prstGeom prst="wedgeRoundRectCallout">
            <a:avLst>
              <a:gd fmla="val -56668" name="adj1"/>
              <a:gd fmla="val -1214"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hlink"/>
                </a:solidFill>
                <a:latin typeface="Helvetica Neue"/>
                <a:ea typeface="Helvetica Neue"/>
                <a:cs typeface="Helvetica Neue"/>
                <a:sym typeface="Helvetica Neue"/>
                <a:hlinkClick r:id="rId5"/>
              </a:rPr>
              <a:t>MLRAD data dictionary</a:t>
            </a:r>
            <a:endParaRPr>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6"/>
          <p:cNvSpPr txBox="1"/>
          <p:nvPr>
            <p:ph type="title"/>
          </p:nvPr>
        </p:nvSpPr>
        <p:spPr>
          <a:xfrm>
            <a:off x="457200" y="457200"/>
            <a:ext cx="8229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last confirmed activity date from the RAD ship cannot be used directly for MLRAD</a:t>
            </a:r>
            <a:endParaRPr/>
          </a:p>
        </p:txBody>
      </p:sp>
      <p:sp>
        <p:nvSpPr>
          <p:cNvPr id="541" name="Google Shape;541;p86"/>
          <p:cNvSpPr txBox="1"/>
          <p:nvPr>
            <p:ph idx="1" type="body"/>
          </p:nvPr>
        </p:nvSpPr>
        <p:spPr>
          <a:xfrm>
            <a:off x="457200" y="2309675"/>
            <a:ext cx="6947700" cy="2286000"/>
          </a:xfrm>
          <a:prstGeom prst="rect">
            <a:avLst/>
          </a:prstGeom>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sz="1400"/>
              <a:t>The variable needs to be updated to also account for </a:t>
            </a:r>
            <a:endParaRPr sz="1400"/>
          </a:p>
          <a:p>
            <a:pPr indent="0" lvl="0" marL="457200" rtl="0" algn="l">
              <a:spcBef>
                <a:spcPts val="0"/>
              </a:spcBef>
              <a:spcAft>
                <a:spcPts val="0"/>
              </a:spcAft>
              <a:buNone/>
            </a:pPr>
            <a:r>
              <a:rPr lang="en" sz="1400"/>
              <a:t>ML-extracted oral spans</a:t>
            </a:r>
            <a:endParaRPr sz="1400"/>
          </a:p>
          <a:p>
            <a:pPr indent="0" lvl="0" marL="914400" rtl="0" algn="l">
              <a:spcBef>
                <a:spcPts val="0"/>
              </a:spcBef>
              <a:spcAft>
                <a:spcPts val="0"/>
              </a:spcAft>
              <a:buClr>
                <a:schemeClr val="dk1"/>
              </a:buClr>
              <a:buSzPts val="1100"/>
              <a:buFont typeface="Arial"/>
              <a:buNone/>
            </a:pPr>
            <a:r>
              <a:rPr i="1" lang="en" sz="950">
                <a:solidFill>
                  <a:srgbClr val="999988"/>
                </a:solidFill>
                <a:latin typeface="Consolas"/>
                <a:ea typeface="Consolas"/>
                <a:cs typeface="Consolas"/>
                <a:sym typeface="Consolas"/>
              </a:rPr>
              <a:t># get last oral date from MLRAD</a:t>
            </a:r>
            <a:endParaRPr sz="950">
              <a:solidFill>
                <a:srgbClr val="28272D"/>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lang="en" sz="950">
                <a:solidFill>
                  <a:srgbClr val="333333"/>
                </a:solidFill>
                <a:latin typeface="Consolas"/>
                <a:ea typeface="Consolas"/>
                <a:cs typeface="Consolas"/>
                <a:sym typeface="Consolas"/>
              </a:rPr>
              <a:t>last_oral_df</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&lt;-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mlrad_tables</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orals</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%&gt;%</a:t>
            </a:r>
            <a:endParaRPr sz="950">
              <a:solidFill>
                <a:srgbClr val="28272D"/>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filter</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fpid</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%in%</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cohort_fpid</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%&gt;%</a:t>
            </a:r>
            <a:endParaRPr sz="950">
              <a:solidFill>
                <a:srgbClr val="28272D"/>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mutate</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oral_date</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coalesce</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end_date</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start_date</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%&gt;%</a:t>
            </a:r>
            <a:endParaRPr sz="950">
              <a:solidFill>
                <a:srgbClr val="28272D"/>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group_by</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fpid</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%&gt;%</a:t>
            </a:r>
            <a:endParaRPr sz="950">
              <a:solidFill>
                <a:srgbClr val="28272D"/>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summarise</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last_oral_date</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990000"/>
                </a:solidFill>
                <a:latin typeface="Consolas"/>
                <a:ea typeface="Consolas"/>
                <a:cs typeface="Consolas"/>
                <a:sym typeface="Consolas"/>
              </a:rPr>
              <a:t>max</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oral_date</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na.rm</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0086B3"/>
                </a:solidFill>
                <a:latin typeface="Consolas"/>
                <a:ea typeface="Consolas"/>
                <a:cs typeface="Consolas"/>
                <a:sym typeface="Consolas"/>
              </a:rPr>
              <a:t>T</a:t>
            </a:r>
            <a:r>
              <a:rPr lang="en" sz="950">
                <a:solidFill>
                  <a:srgbClr val="28272D"/>
                </a:solidFill>
                <a:latin typeface="Consolas"/>
                <a:ea typeface="Consolas"/>
                <a:cs typeface="Consolas"/>
                <a:sym typeface="Consolas"/>
              </a:rPr>
              <a:t>))</a:t>
            </a:r>
            <a:endParaRPr sz="950">
              <a:solidFill>
                <a:srgbClr val="28272D"/>
              </a:solidFill>
              <a:latin typeface="Consolas"/>
              <a:ea typeface="Consolas"/>
              <a:cs typeface="Consolas"/>
              <a:sym typeface="Consolas"/>
            </a:endParaRPr>
          </a:p>
          <a:p>
            <a:pPr indent="0" lvl="0" marL="914400" rtl="0" algn="l">
              <a:spcBef>
                <a:spcPts val="0"/>
              </a:spcBef>
              <a:spcAft>
                <a:spcPts val="0"/>
              </a:spcAft>
              <a:buNone/>
            </a:pPr>
            <a:r>
              <a:t/>
            </a:r>
            <a:endParaRPr i="1" sz="950">
              <a:solidFill>
                <a:srgbClr val="999988"/>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i="1" lang="en" sz="950">
                <a:solidFill>
                  <a:srgbClr val="999988"/>
                </a:solidFill>
                <a:latin typeface="Consolas"/>
                <a:ea typeface="Consolas"/>
                <a:cs typeface="Consolas"/>
                <a:sym typeface="Consolas"/>
              </a:rPr>
              <a:t># update the last confirmed activity from RAD to incorporate oral from MLRAD</a:t>
            </a:r>
            <a:endParaRPr i="1" sz="950">
              <a:solidFill>
                <a:srgbClr val="999988"/>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lang="en" sz="950">
                <a:solidFill>
                  <a:srgbClr val="333333"/>
                </a:solidFill>
                <a:latin typeface="Consolas"/>
                <a:ea typeface="Consolas"/>
                <a:cs typeface="Consolas"/>
                <a:sym typeface="Consolas"/>
              </a:rPr>
              <a:t>orpp_df</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&lt;-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ship</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orpp</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%&gt;%</a:t>
            </a:r>
            <a:r>
              <a:rPr lang="en" sz="950">
                <a:solidFill>
                  <a:srgbClr val="BBBBBB"/>
                </a:solidFill>
                <a:latin typeface="Consolas"/>
                <a:ea typeface="Consolas"/>
                <a:cs typeface="Consolas"/>
                <a:sym typeface="Consolas"/>
              </a:rPr>
              <a:t> </a:t>
            </a:r>
            <a:endParaRPr sz="950">
              <a:solidFill>
                <a:srgbClr val="28272D"/>
              </a:solidFill>
              <a:latin typeface="Consolas"/>
              <a:ea typeface="Consolas"/>
              <a:cs typeface="Consolas"/>
              <a:sym typeface="Consolas"/>
            </a:endParaRPr>
          </a:p>
          <a:p>
            <a:pPr indent="0" lvl="0" marL="914400" rtl="0" algn="l">
              <a:lnSpc>
                <a:spcPct val="160000"/>
              </a:lnSpc>
              <a:spcBef>
                <a:spcPts val="0"/>
              </a:spcBef>
              <a:spcAft>
                <a:spcPts val="0"/>
              </a:spcAft>
              <a:buClr>
                <a:schemeClr val="dk1"/>
              </a:buClr>
              <a:buSzPts val="1100"/>
              <a:buFont typeface="Arial"/>
              <a:buNone/>
            </a:pP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left_join</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last_oral_df</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by</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DD1144"/>
                </a:solidFill>
                <a:latin typeface="Consolas"/>
                <a:ea typeface="Consolas"/>
                <a:cs typeface="Consolas"/>
                <a:sym typeface="Consolas"/>
              </a:rPr>
              <a:t>"fpid"</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%&gt;%</a:t>
            </a:r>
            <a:endParaRPr sz="950">
              <a:solidFill>
                <a:srgbClr val="28272D"/>
              </a:solidFill>
              <a:latin typeface="Consolas"/>
              <a:ea typeface="Consolas"/>
              <a:cs typeface="Consolas"/>
              <a:sym typeface="Consolas"/>
            </a:endParaRPr>
          </a:p>
          <a:p>
            <a:pPr indent="0" lvl="0" marL="914400" rtl="0" algn="l">
              <a:spcBef>
                <a:spcPts val="0"/>
              </a:spcBef>
              <a:spcAft>
                <a:spcPts val="0"/>
              </a:spcAft>
              <a:buClr>
                <a:schemeClr val="dk1"/>
              </a:buClr>
              <a:buSzPts val="1100"/>
              <a:buFont typeface="Arial"/>
              <a:buNone/>
            </a:pP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mutate</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last_confirmed_activity_update</a:t>
            </a:r>
            <a:r>
              <a:rPr lang="en" sz="950">
                <a:solidFill>
                  <a:srgbClr val="BBBBBB"/>
                </a:solidFill>
                <a:latin typeface="Consolas"/>
                <a:ea typeface="Consolas"/>
                <a:cs typeface="Consolas"/>
                <a:sym typeface="Consolas"/>
              </a:rPr>
              <a:t> </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pmax</a:t>
            </a:r>
            <a:r>
              <a:rPr lang="en" sz="950">
                <a:solidFill>
                  <a:srgbClr val="28272D"/>
                </a:solidFill>
                <a:latin typeface="Consolas"/>
                <a:ea typeface="Consolas"/>
                <a:cs typeface="Consolas"/>
                <a:sym typeface="Consolas"/>
              </a:rPr>
              <a:t>(</a:t>
            </a:r>
            <a:r>
              <a:rPr lang="en" sz="950">
                <a:solidFill>
                  <a:srgbClr val="333333"/>
                </a:solidFill>
                <a:latin typeface="Consolas"/>
                <a:ea typeface="Consolas"/>
                <a:cs typeface="Consolas"/>
                <a:sym typeface="Consolas"/>
              </a:rPr>
              <a:t>last_confirmed_activity</a:t>
            </a:r>
            <a:r>
              <a:rPr lang="en" sz="950">
                <a:solidFill>
                  <a:srgbClr val="28272D"/>
                </a:solidFill>
                <a:latin typeface="Consolas"/>
                <a:ea typeface="Consolas"/>
                <a:cs typeface="Consolas"/>
                <a:sym typeface="Consolas"/>
              </a:rPr>
              <a:t>,</a:t>
            </a:r>
            <a:r>
              <a:rPr lang="en" sz="950">
                <a:solidFill>
                  <a:srgbClr val="BBBBBB"/>
                </a:solidFill>
                <a:latin typeface="Consolas"/>
                <a:ea typeface="Consolas"/>
                <a:cs typeface="Consolas"/>
                <a:sym typeface="Consolas"/>
              </a:rPr>
              <a:t> </a:t>
            </a:r>
            <a:r>
              <a:rPr lang="en" sz="950">
                <a:solidFill>
                  <a:srgbClr val="333333"/>
                </a:solidFill>
                <a:latin typeface="Consolas"/>
                <a:ea typeface="Consolas"/>
                <a:cs typeface="Consolas"/>
                <a:sym typeface="Consolas"/>
              </a:rPr>
              <a:t>last_oral_date</a:t>
            </a:r>
            <a:r>
              <a:rPr lang="en" sz="950">
                <a:solidFill>
                  <a:srgbClr val="28272D"/>
                </a:solidFill>
                <a:latin typeface="Consolas"/>
                <a:ea typeface="Consolas"/>
                <a:cs typeface="Consolas"/>
                <a:sym typeface="Consolas"/>
              </a:rPr>
              <a:t>))</a:t>
            </a:r>
            <a:endParaRPr sz="950">
              <a:solidFill>
                <a:srgbClr val="28272D"/>
              </a:solidFill>
              <a:latin typeface="Consolas"/>
              <a:ea typeface="Consolas"/>
              <a:cs typeface="Consolas"/>
              <a:sym typeface="Consolas"/>
            </a:endParaRPr>
          </a:p>
          <a:p>
            <a:pPr indent="0" lvl="0" marL="914400" rtl="0" algn="l">
              <a:spcBef>
                <a:spcPts val="0"/>
              </a:spcBef>
              <a:spcAft>
                <a:spcPts val="0"/>
              </a:spcAft>
              <a:buNone/>
            </a:pPr>
            <a:r>
              <a:t/>
            </a:r>
            <a:endParaRPr sz="1400"/>
          </a:p>
        </p:txBody>
      </p:sp>
      <p:pic>
        <p:nvPicPr>
          <p:cNvPr id="542" name="Google Shape;542;p86"/>
          <p:cNvPicPr preferRelativeResize="0"/>
          <p:nvPr/>
        </p:nvPicPr>
        <p:blipFill rotWithShape="1">
          <a:blip r:embed="rId3">
            <a:alphaModFix/>
          </a:blip>
          <a:srcRect b="0" l="0" r="15002" t="0"/>
          <a:stretch/>
        </p:blipFill>
        <p:spPr>
          <a:xfrm>
            <a:off x="5316475" y="1287322"/>
            <a:ext cx="3422828" cy="1801078"/>
          </a:xfrm>
          <a:prstGeom prst="rect">
            <a:avLst/>
          </a:prstGeom>
          <a:noFill/>
          <a:ln>
            <a:noFill/>
          </a:ln>
        </p:spPr>
      </p:pic>
      <p:sp>
        <p:nvSpPr>
          <p:cNvPr id="543" name="Google Shape;543;p86"/>
          <p:cNvSpPr/>
          <p:nvPr/>
        </p:nvSpPr>
        <p:spPr>
          <a:xfrm>
            <a:off x="5319450" y="2632000"/>
            <a:ext cx="3422700" cy="41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544" name="Google Shape;544;p86"/>
          <p:cNvSpPr/>
          <p:nvPr/>
        </p:nvSpPr>
        <p:spPr>
          <a:xfrm>
            <a:off x="8183250" y="1501350"/>
            <a:ext cx="556200" cy="1547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87"/>
          <p:cNvSpPr txBox="1"/>
          <p:nvPr>
            <p:ph type="title"/>
          </p:nvPr>
        </p:nvSpPr>
        <p:spPr>
          <a:xfrm>
            <a:off x="457200" y="457200"/>
            <a:ext cx="8229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All information presented has been added to the </a:t>
            </a:r>
            <a:endParaRPr/>
          </a:p>
          <a:p>
            <a:pPr indent="0" lvl="0" marL="0" rtl="0" algn="l">
              <a:spcBef>
                <a:spcPts val="0"/>
              </a:spcBef>
              <a:spcAft>
                <a:spcPts val="0"/>
              </a:spcAft>
              <a:buNone/>
            </a:pPr>
            <a:r>
              <a:rPr lang="en" u="sng">
                <a:solidFill>
                  <a:schemeClr val="hlink"/>
                </a:solidFill>
                <a:hlinkClick r:id="rId3"/>
              </a:rPr>
              <a:t>CSS SP Execution Brain Dump </a:t>
            </a:r>
            <a:endParaRPr/>
          </a:p>
        </p:txBody>
      </p:sp>
      <p:sp>
        <p:nvSpPr>
          <p:cNvPr id="550" name="Google Shape;550;p87"/>
          <p:cNvSpPr txBox="1"/>
          <p:nvPr>
            <p:ph idx="1" type="body"/>
          </p:nvPr>
        </p:nvSpPr>
        <p:spPr>
          <a:xfrm>
            <a:off x="457200" y="1447800"/>
            <a:ext cx="7772400" cy="22860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a:t>Use this file for watchouts</a:t>
            </a:r>
            <a:endParaRPr/>
          </a:p>
          <a:p>
            <a:pPr indent="-323850" lvl="0" marL="457200" rtl="0" algn="l">
              <a:spcBef>
                <a:spcPts val="0"/>
              </a:spcBef>
              <a:spcAft>
                <a:spcPts val="0"/>
              </a:spcAft>
              <a:buSzPts val="1500"/>
              <a:buChar char="-"/>
            </a:pPr>
            <a:r>
              <a:rPr lang="en"/>
              <a:t>Add all learnings to this file - big or small, it can literally be anything SP execution-related!</a:t>
            </a:r>
            <a:endParaRPr/>
          </a:p>
          <a:p>
            <a:pPr indent="-323850" lvl="0" marL="457200" rtl="0" algn="l">
              <a:spcBef>
                <a:spcPts val="0"/>
              </a:spcBef>
              <a:spcAft>
                <a:spcPts val="0"/>
              </a:spcAft>
              <a:buSzPts val="1500"/>
              <a:buChar char="-"/>
            </a:pPr>
            <a:r>
              <a:rPr lang="en"/>
              <a:t>Let us know if you would like to do a mini presentation on things you added to the file during the SP monthly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8"/>
          <p:cNvSpPr txBox="1"/>
          <p:nvPr>
            <p:ph type="title"/>
          </p:nvPr>
        </p:nvSpPr>
        <p:spPr>
          <a:xfrm>
            <a:off x="571720" y="1828800"/>
            <a:ext cx="4722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G-Computation</a:t>
            </a:r>
            <a:endParaRPr/>
          </a:p>
        </p:txBody>
      </p:sp>
      <p:sp>
        <p:nvSpPr>
          <p:cNvPr id="556" name="Google Shape;556;p88"/>
          <p:cNvSpPr txBox="1"/>
          <p:nvPr>
            <p:ph idx="1" type="subTitle"/>
          </p:nvPr>
        </p:nvSpPr>
        <p:spPr>
          <a:xfrm>
            <a:off x="571725" y="2900400"/>
            <a:ext cx="4863600" cy="413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Matthew Pesavento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61" name="Shape 561"/>
        <p:cNvGrpSpPr/>
        <p:nvPr/>
      </p:nvGrpSpPr>
      <p:grpSpPr>
        <a:xfrm>
          <a:off x="0" y="0"/>
          <a:ext cx="0" cy="0"/>
          <a:chOff x="0" y="0"/>
          <a:chExt cx="0" cy="0"/>
        </a:xfrm>
      </p:grpSpPr>
      <p:cxnSp>
        <p:nvCxnSpPr>
          <p:cNvPr id="562" name="Google Shape;562;p89"/>
          <p:cNvCxnSpPr/>
          <p:nvPr/>
        </p:nvCxnSpPr>
        <p:spPr>
          <a:xfrm>
            <a:off x="617220" y="1748790"/>
            <a:ext cx="2194560" cy="0"/>
          </a:xfrm>
          <a:prstGeom prst="straightConnector1">
            <a:avLst/>
          </a:prstGeom>
          <a:noFill/>
          <a:ln cap="flat" cmpd="sng" w="12700">
            <a:solidFill>
              <a:srgbClr val="5D6F9E"/>
            </a:solidFill>
            <a:prstDash val="solid"/>
            <a:round/>
            <a:headEnd len="sm" w="sm" type="none"/>
            <a:tailEnd len="sm" w="sm" type="none"/>
          </a:ln>
        </p:spPr>
      </p:cxnSp>
      <p:sp>
        <p:nvSpPr>
          <p:cNvPr id="563" name="Google Shape;563;p89"/>
          <p:cNvSpPr/>
          <p:nvPr/>
        </p:nvSpPr>
        <p:spPr>
          <a:xfrm>
            <a:off x="617220" y="1885950"/>
            <a:ext cx="7886700" cy="7543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3500"/>
              <a:buFont typeface="Times New Roman"/>
              <a:buNone/>
            </a:pPr>
            <a:r>
              <a:rPr b="1" i="0" lang="en" sz="3500" u="none" cap="none" strike="noStrike">
                <a:solidFill>
                  <a:srgbClr val="FFFFFF"/>
                </a:solidFill>
                <a:latin typeface="Times New Roman"/>
                <a:ea typeface="Times New Roman"/>
                <a:cs typeface="Times New Roman"/>
                <a:sym typeface="Times New Roman"/>
              </a:rPr>
              <a:t>G-COMPUTATION</a:t>
            </a:r>
            <a:endParaRPr b="0" i="0" sz="3500" u="none" cap="none" strike="noStrike">
              <a:solidFill>
                <a:schemeClr val="dk1"/>
              </a:solidFill>
              <a:latin typeface="Calibri"/>
              <a:ea typeface="Calibri"/>
              <a:cs typeface="Calibri"/>
              <a:sym typeface="Calibri"/>
            </a:endParaRPr>
          </a:p>
        </p:txBody>
      </p:sp>
      <p:sp>
        <p:nvSpPr>
          <p:cNvPr id="564" name="Google Shape;564;p89"/>
          <p:cNvSpPr/>
          <p:nvPr/>
        </p:nvSpPr>
        <p:spPr>
          <a:xfrm>
            <a:off x="617220" y="257175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AEB9D6"/>
              </a:buClr>
              <a:buSzPts val="1200"/>
              <a:buFont typeface="Times New Roman"/>
              <a:buNone/>
            </a:pPr>
            <a:r>
              <a:rPr b="0" i="1" lang="en" sz="1200" u="none" cap="none" strike="noStrike">
                <a:solidFill>
                  <a:srgbClr val="AEB9D6"/>
                </a:solidFill>
                <a:latin typeface="Times New Roman"/>
                <a:ea typeface="Times New Roman"/>
                <a:cs typeface="Times New Roman"/>
                <a:sym typeface="Times New Roman"/>
              </a:rPr>
              <a:t>Causal Identification from the Conditional Independence Assumption</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AEB9D6"/>
              </a:buClr>
              <a:buSzPts val="1200"/>
              <a:buFont typeface="Times New Roman"/>
              <a:buNone/>
            </a:pPr>
            <a:r>
              <a:rPr b="0" i="1" lang="en" sz="1200" u="none" cap="none" strike="noStrike">
                <a:solidFill>
                  <a:srgbClr val="AEB9D6"/>
                </a:solidFill>
                <a:latin typeface="Times New Roman"/>
                <a:ea typeface="Times New Roman"/>
                <a:cs typeface="Times New Roman"/>
                <a:sym typeface="Times New Roman"/>
              </a:rPr>
              <a:t>to Time-Varying Confounding</a:t>
            </a:r>
            <a:endParaRPr b="0" i="0" sz="1200" u="none" cap="none" strike="noStrike">
              <a:solidFill>
                <a:schemeClr val="dk1"/>
              </a:solidFill>
              <a:latin typeface="Calibri"/>
              <a:ea typeface="Calibri"/>
              <a:cs typeface="Calibri"/>
              <a:sym typeface="Calibri"/>
            </a:endParaRPr>
          </a:p>
        </p:txBody>
      </p:sp>
      <p:cxnSp>
        <p:nvCxnSpPr>
          <p:cNvPr id="565" name="Google Shape;565;p89"/>
          <p:cNvCxnSpPr/>
          <p:nvPr/>
        </p:nvCxnSpPr>
        <p:spPr>
          <a:xfrm>
            <a:off x="617220" y="3326130"/>
            <a:ext cx="2194560" cy="0"/>
          </a:xfrm>
          <a:prstGeom prst="straightConnector1">
            <a:avLst/>
          </a:prstGeom>
          <a:noFill/>
          <a:ln cap="flat" cmpd="sng" w="12700">
            <a:solidFill>
              <a:srgbClr val="5D6F9E"/>
            </a:solidFill>
            <a:prstDash val="solid"/>
            <a:round/>
            <a:headEnd len="sm" w="sm" type="none"/>
            <a:tailEnd len="sm" w="sm" type="none"/>
          </a:ln>
        </p:spPr>
      </p:cxnSp>
      <p:sp>
        <p:nvSpPr>
          <p:cNvPr id="566" name="Google Shape;566;p89"/>
          <p:cNvSpPr/>
          <p:nvPr/>
        </p:nvSpPr>
        <p:spPr>
          <a:xfrm>
            <a:off x="617220" y="3463290"/>
            <a:ext cx="54864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B98BE"/>
              </a:buClr>
              <a:buSzPts val="1000"/>
              <a:buFont typeface="Times New Roman"/>
              <a:buNone/>
            </a:pPr>
            <a:r>
              <a:rPr b="0" i="0" lang="en" sz="1000" u="none" cap="none" strike="noStrike">
                <a:solidFill>
                  <a:srgbClr val="8B98BE"/>
                </a:solidFill>
                <a:latin typeface="Times New Roman"/>
                <a:ea typeface="Times New Roman"/>
                <a:cs typeface="Times New Roman"/>
                <a:sym typeface="Times New Roman"/>
              </a:rPr>
              <a:t>Part I — Foundations of Causal Inference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1" name="Shape 571"/>
        <p:cNvGrpSpPr/>
        <p:nvPr/>
      </p:nvGrpSpPr>
      <p:grpSpPr>
        <a:xfrm>
          <a:off x="0" y="0"/>
          <a:ext cx="0" cy="0"/>
          <a:chOff x="0" y="0"/>
          <a:chExt cx="0" cy="0"/>
        </a:xfrm>
      </p:grpSpPr>
      <p:sp>
        <p:nvSpPr>
          <p:cNvPr id="572" name="Google Shape;572;p90"/>
          <p:cNvSpPr/>
          <p:nvPr/>
        </p:nvSpPr>
        <p:spPr>
          <a:xfrm>
            <a:off x="480060" y="240030"/>
            <a:ext cx="68580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t/>
            </a:r>
            <a:endParaRPr b="0" i="0" sz="800" u="none" cap="none" strike="noStrike">
              <a:solidFill>
                <a:schemeClr val="dk1"/>
              </a:solidFill>
              <a:latin typeface="Calibri"/>
              <a:ea typeface="Calibri"/>
              <a:cs typeface="Calibri"/>
              <a:sym typeface="Calibri"/>
            </a:endParaRPr>
          </a:p>
        </p:txBody>
      </p:sp>
      <p:sp>
        <p:nvSpPr>
          <p:cNvPr id="573" name="Google Shape;573;p90"/>
          <p:cNvSpPr/>
          <p:nvPr/>
        </p:nvSpPr>
        <p:spPr>
          <a:xfrm>
            <a:off x="480060" y="466344"/>
            <a:ext cx="8160900" cy="41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lang="en" sz="1900">
                <a:solidFill>
                  <a:srgbClr val="7A2E2E"/>
                </a:solidFill>
                <a:latin typeface="Times New Roman"/>
                <a:ea typeface="Times New Roman"/>
                <a:cs typeface="Times New Roman"/>
                <a:sym typeface="Times New Roman"/>
              </a:rPr>
              <a:t>Preview of conference today</a:t>
            </a:r>
            <a:endParaRPr b="0" i="0" sz="1900" u="none" cap="none" strike="noStrike">
              <a:solidFill>
                <a:schemeClr val="dk1"/>
              </a:solidFill>
              <a:latin typeface="Calibri"/>
              <a:ea typeface="Calibri"/>
              <a:cs typeface="Calibri"/>
              <a:sym typeface="Calibri"/>
            </a:endParaRPr>
          </a:p>
        </p:txBody>
      </p:sp>
      <p:cxnSp>
        <p:nvCxnSpPr>
          <p:cNvPr id="574" name="Google Shape;574;p90"/>
          <p:cNvCxnSpPr/>
          <p:nvPr/>
        </p:nvCxnSpPr>
        <p:spPr>
          <a:xfrm>
            <a:off x="480060" y="905256"/>
            <a:ext cx="8181600" cy="0"/>
          </a:xfrm>
          <a:prstGeom prst="straightConnector1">
            <a:avLst/>
          </a:prstGeom>
          <a:noFill/>
          <a:ln cap="flat" cmpd="sng" w="15875">
            <a:solidFill>
              <a:srgbClr val="1B2A4A"/>
            </a:solidFill>
            <a:prstDash val="solid"/>
            <a:round/>
            <a:headEnd len="sm" w="sm" type="none"/>
            <a:tailEnd len="sm" w="sm" type="none"/>
          </a:ln>
        </p:spPr>
      </p:cxnSp>
      <p:cxnSp>
        <p:nvCxnSpPr>
          <p:cNvPr id="575" name="Google Shape;575;p90"/>
          <p:cNvCxnSpPr/>
          <p:nvPr/>
        </p:nvCxnSpPr>
        <p:spPr>
          <a:xfrm>
            <a:off x="480060" y="4766310"/>
            <a:ext cx="8181600" cy="0"/>
          </a:xfrm>
          <a:prstGeom prst="straightConnector1">
            <a:avLst/>
          </a:prstGeom>
          <a:noFill/>
          <a:ln cap="flat" cmpd="sng" w="9525">
            <a:solidFill>
              <a:srgbClr val="C7CCDA"/>
            </a:solidFill>
            <a:prstDash val="solid"/>
            <a:round/>
            <a:headEnd len="sm" w="sm" type="none"/>
            <a:tailEnd len="sm" w="sm" type="none"/>
          </a:ln>
        </p:spPr>
      </p:cxnSp>
      <p:sp>
        <p:nvSpPr>
          <p:cNvPr id="576" name="Google Shape;576;p90"/>
          <p:cNvSpPr/>
          <p:nvPr/>
        </p:nvSpPr>
        <p:spPr>
          <a:xfrm>
            <a:off x="480060" y="4828032"/>
            <a:ext cx="274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577" name="Google Shape;577;p90"/>
          <p:cNvSpPr/>
          <p:nvPr/>
        </p:nvSpPr>
        <p:spPr>
          <a:xfrm>
            <a:off x="2880360" y="4828032"/>
            <a:ext cx="3429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t/>
            </a:r>
            <a:endParaRPr b="0" i="0" sz="700" u="none" cap="none" strike="noStrike">
              <a:solidFill>
                <a:schemeClr val="dk1"/>
              </a:solidFill>
              <a:latin typeface="Calibri"/>
              <a:ea typeface="Calibri"/>
              <a:cs typeface="Calibri"/>
              <a:sym typeface="Calibri"/>
            </a:endParaRPr>
          </a:p>
        </p:txBody>
      </p:sp>
      <p:sp>
        <p:nvSpPr>
          <p:cNvPr id="578" name="Google Shape;578;p90"/>
          <p:cNvSpPr/>
          <p:nvPr/>
        </p:nvSpPr>
        <p:spPr>
          <a:xfrm>
            <a:off x="8229600" y="4828032"/>
            <a:ext cx="4320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4</a:t>
            </a:r>
            <a:endParaRPr b="0" i="0" sz="700" u="none" cap="none" strike="noStrike">
              <a:solidFill>
                <a:schemeClr val="dk1"/>
              </a:solidFill>
              <a:latin typeface="Calibri"/>
              <a:ea typeface="Calibri"/>
              <a:cs typeface="Calibri"/>
              <a:sym typeface="Calibri"/>
            </a:endParaRPr>
          </a:p>
        </p:txBody>
      </p:sp>
      <p:sp>
        <p:nvSpPr>
          <p:cNvPr id="579" name="Google Shape;579;p90"/>
          <p:cNvSpPr/>
          <p:nvPr/>
        </p:nvSpPr>
        <p:spPr>
          <a:xfrm>
            <a:off x="480060" y="1131570"/>
            <a:ext cx="8160900" cy="3634800"/>
          </a:xfrm>
          <a:prstGeom prst="rect">
            <a:avLst/>
          </a:prstGeom>
          <a:noFill/>
          <a:ln>
            <a:noFill/>
          </a:ln>
        </p:spPr>
        <p:txBody>
          <a:bodyPr anchorCtr="0" anchor="t" bIns="34275" lIns="68575" spcFirstLastPara="1" rIns="68575" wrap="square" tIns="34275">
            <a:noAutofit/>
          </a:bodyPr>
          <a:lstStyle/>
          <a:p>
            <a:pPr indent="-158750" lvl="0" marL="152400" marR="0" rtl="0" algn="l">
              <a:lnSpc>
                <a:spcPct val="118000"/>
              </a:lnSpc>
              <a:spcBef>
                <a:spcPts val="0"/>
              </a:spcBef>
              <a:spcAft>
                <a:spcPts val="0"/>
              </a:spcAft>
              <a:buClr>
                <a:srgbClr val="1A1A1A"/>
              </a:buClr>
              <a:buSzPts val="1300"/>
              <a:buFont typeface="Times New Roman"/>
              <a:buChar char="▸"/>
            </a:pPr>
            <a:r>
              <a:rPr b="1" lang="en" sz="1300">
                <a:solidFill>
                  <a:srgbClr val="7A2E2E"/>
                </a:solidFill>
                <a:latin typeface="Times New Roman"/>
                <a:ea typeface="Times New Roman"/>
                <a:cs typeface="Times New Roman"/>
                <a:sym typeface="Times New Roman"/>
              </a:rPr>
              <a:t>What I hope you learn today:</a:t>
            </a:r>
            <a:endParaRPr b="1" sz="1300">
              <a:solidFill>
                <a:srgbClr val="7A2E2E"/>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Causal inference estimates the difference in outcomes for the same unit under treatment and under non-treatment. </a:t>
            </a:r>
            <a:r>
              <a:rPr b="1" lang="en" sz="1300">
                <a:solidFill>
                  <a:schemeClr val="dk1"/>
                </a:solidFill>
                <a:latin typeface="Times New Roman"/>
                <a:ea typeface="Times New Roman"/>
                <a:cs typeface="Times New Roman"/>
                <a:sym typeface="Times New Roman"/>
              </a:rPr>
              <a:t>[Impossible for any single person, but conceptual goal]</a:t>
            </a:r>
            <a:endParaRPr b="1" sz="1300">
              <a:solidFill>
                <a:schemeClr val="dk1"/>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Causal inference thinks about the Data Generating Process; predictive modeling thinks about finding the line of best fit within observed data.</a:t>
            </a:r>
            <a:endParaRPr sz="1300">
              <a:solidFill>
                <a:schemeClr val="dk1"/>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G-computation is one computational method for simulating counterfactual outcomes </a:t>
            </a:r>
            <a:r>
              <a:rPr i="1" lang="en" sz="1300">
                <a:solidFill>
                  <a:schemeClr val="dk1"/>
                </a:solidFill>
                <a:latin typeface="Times New Roman"/>
                <a:ea typeface="Times New Roman"/>
                <a:cs typeface="Times New Roman"/>
                <a:sym typeface="Times New Roman"/>
              </a:rPr>
              <a:t>particularly </a:t>
            </a:r>
            <a:r>
              <a:rPr lang="en" sz="1300">
                <a:solidFill>
                  <a:schemeClr val="dk1"/>
                </a:solidFill>
                <a:latin typeface="Times New Roman"/>
                <a:ea typeface="Times New Roman"/>
                <a:cs typeface="Times New Roman"/>
                <a:sym typeface="Times New Roman"/>
              </a:rPr>
              <a:t>when you have a time-varying covariate that is a both a </a:t>
            </a:r>
            <a:r>
              <a:rPr i="1" lang="en" sz="1300">
                <a:solidFill>
                  <a:schemeClr val="dk1"/>
                </a:solidFill>
                <a:latin typeface="Times New Roman"/>
                <a:ea typeface="Times New Roman"/>
                <a:cs typeface="Times New Roman"/>
                <a:sym typeface="Times New Roman"/>
              </a:rPr>
              <a:t>mediator</a:t>
            </a:r>
            <a:r>
              <a:rPr lang="en" sz="1300">
                <a:solidFill>
                  <a:schemeClr val="dk1"/>
                </a:solidFill>
                <a:latin typeface="Times New Roman"/>
                <a:ea typeface="Times New Roman"/>
                <a:cs typeface="Times New Roman"/>
                <a:sym typeface="Times New Roman"/>
              </a:rPr>
              <a:t> of past tx and a </a:t>
            </a:r>
            <a:r>
              <a:rPr i="1" lang="en" sz="1300">
                <a:solidFill>
                  <a:schemeClr val="dk1"/>
                </a:solidFill>
                <a:latin typeface="Times New Roman"/>
                <a:ea typeface="Times New Roman"/>
                <a:cs typeface="Times New Roman"/>
                <a:sym typeface="Times New Roman"/>
              </a:rPr>
              <a:t>confounder </a:t>
            </a:r>
            <a:r>
              <a:rPr lang="en" sz="1300">
                <a:solidFill>
                  <a:schemeClr val="dk1"/>
                </a:solidFill>
                <a:latin typeface="Times New Roman"/>
                <a:ea typeface="Times New Roman"/>
                <a:cs typeface="Times New Roman"/>
                <a:sym typeface="Times New Roman"/>
              </a:rPr>
              <a:t>of future tx</a:t>
            </a:r>
            <a:r>
              <a:rPr i="1" lang="en" sz="1300">
                <a:solidFill>
                  <a:schemeClr val="dk1"/>
                </a:solidFill>
                <a:latin typeface="Times New Roman"/>
                <a:ea typeface="Times New Roman"/>
                <a:cs typeface="Times New Roman"/>
                <a:sym typeface="Times New Roman"/>
              </a:rPr>
              <a:t>.</a:t>
            </a:r>
            <a:endParaRPr i="1" sz="1300">
              <a:solidFill>
                <a:schemeClr val="dk1"/>
              </a:solidFill>
              <a:latin typeface="Times New Roman"/>
              <a:ea typeface="Times New Roman"/>
              <a:cs typeface="Times New Roman"/>
              <a:sym typeface="Times New Roman"/>
            </a:endParaRPr>
          </a:p>
          <a:p>
            <a:pPr indent="-311150" lvl="2" marL="1371600" marR="0" rtl="0" algn="l">
              <a:lnSpc>
                <a:spcPct val="118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Its strengths: (1) Can estimates effects across essentially any* counterfactual reality; (2) Truly solves the problem of </a:t>
            </a:r>
            <a:r>
              <a:rPr b="1" lang="en" sz="1300">
                <a:solidFill>
                  <a:schemeClr val="dk1"/>
                </a:solidFill>
                <a:latin typeface="Times New Roman"/>
                <a:ea typeface="Times New Roman"/>
                <a:cs typeface="Times New Roman"/>
                <a:sym typeface="Times New Roman"/>
              </a:rPr>
              <a:t>bad controls</a:t>
            </a:r>
            <a:endParaRPr b="1" sz="1300">
              <a:solidFill>
                <a:schemeClr val="dk1"/>
              </a:solidFill>
              <a:latin typeface="Times New Roman"/>
              <a:ea typeface="Times New Roman"/>
              <a:cs typeface="Times New Roman"/>
              <a:sym typeface="Times New Roman"/>
            </a:endParaRPr>
          </a:p>
          <a:p>
            <a:pPr indent="-311150" lvl="2" marL="1371600" marR="0" rtl="0" algn="l">
              <a:lnSpc>
                <a:spcPct val="118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Its weakness: By itself it is not a causal inference method. If you mis-</a:t>
            </a:r>
            <a:r>
              <a:rPr lang="en" sz="1300">
                <a:solidFill>
                  <a:schemeClr val="dk1"/>
                </a:solidFill>
                <a:latin typeface="Times New Roman"/>
                <a:ea typeface="Times New Roman"/>
                <a:cs typeface="Times New Roman"/>
                <a:sym typeface="Times New Roman"/>
              </a:rPr>
              <a:t>specify</a:t>
            </a:r>
            <a:r>
              <a:rPr lang="en" sz="1300">
                <a:solidFill>
                  <a:schemeClr val="dk1"/>
                </a:solidFill>
                <a:latin typeface="Times New Roman"/>
                <a:ea typeface="Times New Roman"/>
                <a:cs typeface="Times New Roman"/>
                <a:sym typeface="Times New Roman"/>
              </a:rPr>
              <a:t> the model, it is just a tool that estimates a biased relationship.</a:t>
            </a:r>
            <a:endParaRPr sz="1300">
              <a:solidFill>
                <a:schemeClr val="dk1"/>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How to do g-computation in R</a:t>
            </a:r>
            <a:endParaRPr sz="1300">
              <a:solidFill>
                <a:schemeClr val="dk1"/>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Future natural extension of this is IPCW</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84" name="Shape 584"/>
        <p:cNvGrpSpPr/>
        <p:nvPr/>
      </p:nvGrpSpPr>
      <p:grpSpPr>
        <a:xfrm>
          <a:off x="0" y="0"/>
          <a:ext cx="0" cy="0"/>
          <a:chOff x="0" y="0"/>
          <a:chExt cx="0" cy="0"/>
        </a:xfrm>
      </p:grpSpPr>
      <p:sp>
        <p:nvSpPr>
          <p:cNvPr id="585" name="Google Shape;585;p91"/>
          <p:cNvSpPr/>
          <p:nvPr/>
        </p:nvSpPr>
        <p:spPr>
          <a:xfrm>
            <a:off x="514350" y="377190"/>
            <a:ext cx="2400300" cy="15087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B3B63"/>
              </a:buClr>
              <a:buSzPts val="9800"/>
              <a:buFont typeface="Times New Roman"/>
              <a:buNone/>
            </a:pPr>
            <a:r>
              <a:rPr b="1" i="0" lang="en" sz="9800" u="none" cap="none" strike="noStrike">
                <a:solidFill>
                  <a:srgbClr val="2B3B63"/>
                </a:solidFill>
                <a:latin typeface="Times New Roman"/>
                <a:ea typeface="Times New Roman"/>
                <a:cs typeface="Times New Roman"/>
                <a:sym typeface="Times New Roman"/>
              </a:rPr>
              <a:t>1</a:t>
            </a:r>
            <a:endParaRPr b="0" i="0" sz="9800" u="none" cap="none" strike="noStrike">
              <a:solidFill>
                <a:schemeClr val="dk1"/>
              </a:solidFill>
              <a:latin typeface="Calibri"/>
              <a:ea typeface="Calibri"/>
              <a:cs typeface="Calibri"/>
              <a:sym typeface="Calibri"/>
            </a:endParaRPr>
          </a:p>
        </p:txBody>
      </p:sp>
      <p:sp>
        <p:nvSpPr>
          <p:cNvPr id="586" name="Google Shape;586;p91"/>
          <p:cNvSpPr/>
          <p:nvPr/>
        </p:nvSpPr>
        <p:spPr>
          <a:xfrm>
            <a:off x="617220" y="2160270"/>
            <a:ext cx="7406640" cy="6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600"/>
              <a:buFont typeface="Times New Roman"/>
              <a:buNone/>
            </a:pPr>
            <a:r>
              <a:rPr b="1" i="0" lang="en" sz="2600" u="none" cap="none" strike="noStrike">
                <a:solidFill>
                  <a:srgbClr val="FFFFFF"/>
                </a:solidFill>
                <a:latin typeface="Times New Roman"/>
                <a:ea typeface="Times New Roman"/>
                <a:cs typeface="Times New Roman"/>
                <a:sym typeface="Times New Roman"/>
              </a:rPr>
              <a:t>What Is Causal Inference?</a:t>
            </a:r>
            <a:br>
              <a:rPr b="1" i="0" lang="en" sz="2600" u="none" cap="none" strike="noStrike">
                <a:solidFill>
                  <a:srgbClr val="FFFFFF"/>
                </a:solidFill>
                <a:latin typeface="Times New Roman"/>
                <a:ea typeface="Times New Roman"/>
                <a:cs typeface="Times New Roman"/>
                <a:sym typeface="Times New Roman"/>
              </a:rPr>
            </a:br>
            <a:r>
              <a:rPr b="1" i="0" lang="en" sz="1700" u="none" cap="none" strike="noStrike">
                <a:solidFill>
                  <a:srgbClr val="FFFFFF"/>
                </a:solidFill>
                <a:latin typeface="Times New Roman"/>
                <a:ea typeface="Times New Roman"/>
                <a:cs typeface="Times New Roman"/>
                <a:sym typeface="Times New Roman"/>
              </a:rPr>
              <a:t>“Correlation does not </a:t>
            </a:r>
            <a:r>
              <a:rPr b="1" i="1" lang="en" sz="1700" u="none" cap="none" strike="noStrike">
                <a:solidFill>
                  <a:srgbClr val="FFFFFF"/>
                </a:solidFill>
                <a:latin typeface="Times New Roman"/>
                <a:ea typeface="Times New Roman"/>
                <a:cs typeface="Times New Roman"/>
                <a:sym typeface="Times New Roman"/>
              </a:rPr>
              <a:t>necessarily</a:t>
            </a:r>
            <a:r>
              <a:rPr b="1" i="0" lang="en" sz="1700" u="none" cap="none" strike="noStrike">
                <a:solidFill>
                  <a:srgbClr val="FFFFFF"/>
                </a:solidFill>
                <a:latin typeface="Times New Roman"/>
                <a:ea typeface="Times New Roman"/>
                <a:cs typeface="Times New Roman"/>
                <a:sym typeface="Times New Roman"/>
              </a:rPr>
              <a:t> imply causation”</a:t>
            </a:r>
            <a:endParaRPr b="0" i="0" sz="1700" u="none" cap="none" strike="noStrike">
              <a:solidFill>
                <a:schemeClr val="dk1"/>
              </a:solidFill>
              <a:latin typeface="Calibri"/>
              <a:ea typeface="Calibri"/>
              <a:cs typeface="Calibri"/>
              <a:sym typeface="Calibri"/>
            </a:endParaRPr>
          </a:p>
        </p:txBody>
      </p:sp>
      <p:cxnSp>
        <p:nvCxnSpPr>
          <p:cNvPr id="587" name="Google Shape;587;p91"/>
          <p:cNvCxnSpPr/>
          <p:nvPr/>
        </p:nvCxnSpPr>
        <p:spPr>
          <a:xfrm>
            <a:off x="651510" y="2846070"/>
            <a:ext cx="1645920" cy="0"/>
          </a:xfrm>
          <a:prstGeom prst="straightConnector1">
            <a:avLst/>
          </a:prstGeom>
          <a:noFill/>
          <a:ln cap="flat" cmpd="sng" w="12700">
            <a:solidFill>
              <a:srgbClr val="5D6F9E"/>
            </a:solidFill>
            <a:prstDash val="solid"/>
            <a:round/>
            <a:headEnd len="sm" w="sm" type="none"/>
            <a:tailEnd len="sm" w="sm" type="none"/>
          </a:ln>
        </p:spPr>
      </p:cxnSp>
      <p:sp>
        <p:nvSpPr>
          <p:cNvPr id="588" name="Google Shape;588;p91"/>
          <p:cNvSpPr/>
          <p:nvPr/>
        </p:nvSpPr>
        <p:spPr>
          <a:xfrm>
            <a:off x="651510" y="3017520"/>
            <a:ext cx="5486400" cy="13716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1.1  Potential outcomes and the counterfactual</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1.2  Twins, matching, and synthetic controls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92"/>
          <p:cNvSpPr/>
          <p:nvPr/>
        </p:nvSpPr>
        <p:spPr>
          <a:xfrm>
            <a:off x="480060" y="240030"/>
            <a:ext cx="6858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1. WHAT IS CAUSAL INFERENCE?</a:t>
            </a:r>
            <a:endParaRPr b="0" i="0" sz="800" u="none" cap="none" strike="noStrike">
              <a:solidFill>
                <a:schemeClr val="dk1"/>
              </a:solidFill>
              <a:latin typeface="Calibri"/>
              <a:ea typeface="Calibri"/>
              <a:cs typeface="Calibri"/>
              <a:sym typeface="Calibri"/>
            </a:endParaRPr>
          </a:p>
        </p:txBody>
      </p:sp>
      <p:sp>
        <p:nvSpPr>
          <p:cNvPr id="595" name="Google Shape;595;p92"/>
          <p:cNvSpPr/>
          <p:nvPr/>
        </p:nvSpPr>
        <p:spPr>
          <a:xfrm>
            <a:off x="480060" y="466344"/>
            <a:ext cx="8161020" cy="41148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1.1  </a:t>
            </a:r>
            <a:r>
              <a:rPr b="1" i="0" lang="en" sz="1900" u="none" cap="none" strike="noStrike">
                <a:solidFill>
                  <a:srgbClr val="1B2A4A"/>
                </a:solidFill>
                <a:latin typeface="Times New Roman"/>
                <a:ea typeface="Times New Roman"/>
                <a:cs typeface="Times New Roman"/>
                <a:sym typeface="Times New Roman"/>
              </a:rPr>
              <a:t>Potential Outcomes and the Counterfactual</a:t>
            </a:r>
            <a:endParaRPr b="0" i="0" sz="1900" u="none" cap="none" strike="noStrike">
              <a:solidFill>
                <a:schemeClr val="dk1"/>
              </a:solidFill>
              <a:latin typeface="Calibri"/>
              <a:ea typeface="Calibri"/>
              <a:cs typeface="Calibri"/>
              <a:sym typeface="Calibri"/>
            </a:endParaRPr>
          </a:p>
        </p:txBody>
      </p:sp>
      <p:cxnSp>
        <p:nvCxnSpPr>
          <p:cNvPr id="596" name="Google Shape;596;p92"/>
          <p:cNvCxnSpPr/>
          <p:nvPr/>
        </p:nvCxnSpPr>
        <p:spPr>
          <a:xfrm>
            <a:off x="480060" y="905256"/>
            <a:ext cx="8181594" cy="0"/>
          </a:xfrm>
          <a:prstGeom prst="straightConnector1">
            <a:avLst/>
          </a:prstGeom>
          <a:noFill/>
          <a:ln cap="flat" cmpd="sng" w="15875">
            <a:solidFill>
              <a:srgbClr val="1B2A4A"/>
            </a:solidFill>
            <a:prstDash val="solid"/>
            <a:round/>
            <a:headEnd len="sm" w="sm" type="none"/>
            <a:tailEnd len="sm" w="sm" type="none"/>
          </a:ln>
        </p:spPr>
      </p:cxnSp>
      <p:cxnSp>
        <p:nvCxnSpPr>
          <p:cNvPr id="597" name="Google Shape;597;p92"/>
          <p:cNvCxnSpPr/>
          <p:nvPr/>
        </p:nvCxnSpPr>
        <p:spPr>
          <a:xfrm>
            <a:off x="480060" y="4766310"/>
            <a:ext cx="8181594" cy="0"/>
          </a:xfrm>
          <a:prstGeom prst="straightConnector1">
            <a:avLst/>
          </a:prstGeom>
          <a:noFill/>
          <a:ln cap="flat" cmpd="sng" w="9525">
            <a:solidFill>
              <a:srgbClr val="C7CCDA"/>
            </a:solidFill>
            <a:prstDash val="solid"/>
            <a:round/>
            <a:headEnd len="sm" w="sm" type="none"/>
            <a:tailEnd len="sm" w="sm" type="none"/>
          </a:ln>
        </p:spPr>
      </p:cxnSp>
      <p:sp>
        <p:nvSpPr>
          <p:cNvPr id="598" name="Google Shape;598;p92"/>
          <p:cNvSpPr/>
          <p:nvPr/>
        </p:nvSpPr>
        <p:spPr>
          <a:xfrm>
            <a:off x="480060" y="4828032"/>
            <a:ext cx="27432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599" name="Google Shape;599;p92"/>
          <p:cNvSpPr/>
          <p:nvPr/>
        </p:nvSpPr>
        <p:spPr>
          <a:xfrm>
            <a:off x="2880360" y="4828032"/>
            <a:ext cx="3429000"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1. What Is Causal Inference?</a:t>
            </a:r>
            <a:endParaRPr b="0" i="0" sz="700" u="none" cap="none" strike="noStrike">
              <a:solidFill>
                <a:schemeClr val="dk1"/>
              </a:solidFill>
              <a:latin typeface="Calibri"/>
              <a:ea typeface="Calibri"/>
              <a:cs typeface="Calibri"/>
              <a:sym typeface="Calibri"/>
            </a:endParaRPr>
          </a:p>
        </p:txBody>
      </p:sp>
      <p:sp>
        <p:nvSpPr>
          <p:cNvPr id="600" name="Google Shape;600;p92"/>
          <p:cNvSpPr/>
          <p:nvPr/>
        </p:nvSpPr>
        <p:spPr>
          <a:xfrm>
            <a:off x="8229600" y="4828032"/>
            <a:ext cx="432054"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3</a:t>
            </a:r>
            <a:endParaRPr b="0" i="0" sz="700" u="none" cap="none" strike="noStrike">
              <a:solidFill>
                <a:schemeClr val="dk1"/>
              </a:solidFill>
              <a:latin typeface="Calibri"/>
              <a:ea typeface="Calibri"/>
              <a:cs typeface="Calibri"/>
              <a:sym typeface="Calibri"/>
            </a:endParaRPr>
          </a:p>
        </p:txBody>
      </p:sp>
      <p:sp>
        <p:nvSpPr>
          <p:cNvPr id="601" name="Google Shape;601;p92"/>
          <p:cNvSpPr/>
          <p:nvPr/>
        </p:nvSpPr>
        <p:spPr>
          <a:xfrm>
            <a:off x="480060" y="1131570"/>
            <a:ext cx="8161020" cy="3634740"/>
          </a:xfrm>
          <a:prstGeom prst="rect">
            <a:avLst/>
          </a:prstGeom>
          <a:noFill/>
          <a:ln>
            <a:noFill/>
          </a:ln>
        </p:spPr>
        <p:txBody>
          <a:bodyPr anchorCtr="0" anchor="t" bIns="34275" lIns="68575" spcFirstLastPara="1" rIns="68575" wrap="square" tIns="34275">
            <a:noAutofit/>
          </a:bodyPr>
          <a:lstStyle/>
          <a:p>
            <a:pPr indent="-146050" lvl="0" marL="152400" marR="0" rtl="0" algn="l">
              <a:lnSpc>
                <a:spcPct val="108000"/>
              </a:lnSpc>
              <a:spcBef>
                <a:spcPts val="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The cleanest way to picture a causal effect is to imagine the experiment you wish you could run.</a:t>
            </a:r>
            <a:endParaRPr b="0" i="0" sz="1100" u="none" cap="none" strike="noStrike">
              <a:solidFill>
                <a:schemeClr val="dk1"/>
              </a:solidFill>
              <a:latin typeface="Calibri"/>
              <a:ea typeface="Calibri"/>
              <a:cs typeface="Calibri"/>
              <a:sym typeface="Calibri"/>
            </a:endParaRPr>
          </a:p>
          <a:p>
            <a:pPr indent="-298450" lvl="1" marL="914400" marR="0" rtl="0" algn="l">
              <a:lnSpc>
                <a:spcPct val="108000"/>
              </a:lnSpc>
              <a:spcBef>
                <a:spcPts val="5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Take a person and clone them down to the last detail — same genes, same history, same mood that morning. Give the treatment to the clone; withhold it from the original.</a:t>
            </a:r>
            <a:endParaRPr b="0" i="0" sz="1100" u="none" cap="none" strike="noStrike">
              <a:solidFill>
                <a:schemeClr val="dk1"/>
              </a:solidFill>
              <a:latin typeface="Calibri"/>
              <a:ea typeface="Calibri"/>
              <a:cs typeface="Calibri"/>
              <a:sym typeface="Calibri"/>
            </a:endParaRPr>
          </a:p>
          <a:p>
            <a:pPr indent="-298450" lvl="1" marL="914400" marR="0" rtl="0" algn="l">
              <a:lnSpc>
                <a:spcPct val="108000"/>
              </a:lnSpc>
              <a:spcBef>
                <a:spcPts val="5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Any difference in their outcomes is caused by the treatment, full stop — because nothing else about the two differed. </a:t>
            </a:r>
            <a:r>
              <a:rPr b="1" i="0" lang="en" sz="1100" u="none" cap="none" strike="noStrike">
                <a:solidFill>
                  <a:srgbClr val="1A1A1A"/>
                </a:solidFill>
                <a:latin typeface="Times New Roman"/>
                <a:ea typeface="Times New Roman"/>
                <a:cs typeface="Times New Roman"/>
                <a:sym typeface="Times New Roman"/>
              </a:rPr>
              <a:t>This imagined comparison is the definition of a causal effect. The Y</a:t>
            </a:r>
            <a:r>
              <a:rPr b="0" baseline="-25000" i="1" lang="en" sz="1200" u="none" cap="none" strike="noStrike">
                <a:solidFill>
                  <a:srgbClr val="1B2A4A"/>
                </a:solidFill>
                <a:latin typeface="Times New Roman"/>
                <a:ea typeface="Times New Roman"/>
                <a:cs typeface="Times New Roman"/>
                <a:sym typeface="Times New Roman"/>
              </a:rPr>
              <a:t>i</a:t>
            </a:r>
            <a:r>
              <a:rPr b="1" i="0" lang="en" sz="1100" u="none" cap="none" strike="noStrike">
                <a:solidFill>
                  <a:srgbClr val="1A1A1A"/>
                </a:solidFill>
                <a:latin typeface="Times New Roman"/>
                <a:ea typeface="Times New Roman"/>
                <a:cs typeface="Times New Roman"/>
                <a:sym typeface="Times New Roman"/>
              </a:rPr>
              <a:t>(1), Y</a:t>
            </a:r>
            <a:r>
              <a:rPr b="0" baseline="-25000" i="1" lang="en" sz="1200" u="none" cap="none" strike="noStrike">
                <a:solidFill>
                  <a:srgbClr val="1B2A4A"/>
                </a:solidFill>
                <a:latin typeface="Times New Roman"/>
                <a:ea typeface="Times New Roman"/>
                <a:cs typeface="Times New Roman"/>
                <a:sym typeface="Times New Roman"/>
              </a:rPr>
              <a:t>i</a:t>
            </a:r>
            <a:r>
              <a:rPr b="1" i="0" lang="en" sz="1100" u="none" cap="none" strike="noStrike">
                <a:solidFill>
                  <a:srgbClr val="1A1A1A"/>
                </a:solidFill>
                <a:latin typeface="Times New Roman"/>
                <a:ea typeface="Times New Roman"/>
                <a:cs typeface="Times New Roman"/>
                <a:sym typeface="Times New Roman"/>
              </a:rPr>
              <a:t>(0) notation simply writes it down.</a:t>
            </a:r>
            <a:endParaRPr b="0" i="0" sz="1100" u="none" cap="none" strike="noStrike">
              <a:solidFill>
                <a:schemeClr val="dk1"/>
              </a:solidFill>
              <a:latin typeface="Calibri"/>
              <a:ea typeface="Calibri"/>
              <a:cs typeface="Calibri"/>
              <a:sym typeface="Calibri"/>
            </a:endParaRPr>
          </a:p>
          <a:p>
            <a:pPr indent="-146050" lvl="0" marL="152400" marR="0" rtl="0" algn="l">
              <a:lnSpc>
                <a:spcPct val="108000"/>
              </a:lnSpc>
              <a:spcBef>
                <a:spcPts val="5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For a binary treatment D</a:t>
            </a:r>
            <a:r>
              <a:rPr b="0" baseline="-25000" i="1" lang="en" sz="1200" u="none" cap="none" strike="noStrike">
                <a:solidFill>
                  <a:srgbClr val="1B2A4A"/>
                </a:solidFill>
                <a:latin typeface="Times New Roman"/>
                <a:ea typeface="Times New Roman"/>
                <a:cs typeface="Times New Roman"/>
                <a:sym typeface="Times New Roman"/>
              </a:rPr>
              <a:t>i</a:t>
            </a:r>
            <a:r>
              <a:rPr b="0" i="0" lang="en" sz="1100" u="none" cap="none" strike="noStrike">
                <a:solidFill>
                  <a:srgbClr val="1A1A1A"/>
                </a:solidFill>
                <a:latin typeface="Times New Roman"/>
                <a:ea typeface="Times New Roman"/>
                <a:cs typeface="Times New Roman"/>
                <a:sym typeface="Times New Roman"/>
              </a:rPr>
              <a:t> ∈ {0, 1}, each individual </a:t>
            </a:r>
            <a:r>
              <a:rPr b="0" i="1" lang="en" sz="1100" u="none" cap="none" strike="noStrike">
                <a:solidFill>
                  <a:srgbClr val="1A1A1A"/>
                </a:solidFill>
                <a:latin typeface="Times New Roman"/>
                <a:ea typeface="Times New Roman"/>
                <a:cs typeface="Times New Roman"/>
                <a:sym typeface="Times New Roman"/>
              </a:rPr>
              <a:t>i</a:t>
            </a:r>
            <a:r>
              <a:rPr b="0" i="0" lang="en" sz="1100" u="none" cap="none" strike="noStrike">
                <a:solidFill>
                  <a:srgbClr val="1A1A1A"/>
                </a:solidFill>
                <a:latin typeface="Times New Roman"/>
                <a:ea typeface="Times New Roman"/>
                <a:cs typeface="Times New Roman"/>
                <a:sym typeface="Times New Roman"/>
              </a:rPr>
              <a:t> carries two potential outcomes:</a:t>
            </a:r>
            <a:endParaRPr b="0" i="0" sz="1100" u="none" cap="none" strike="noStrike">
              <a:solidFill>
                <a:schemeClr val="dk1"/>
              </a:solidFill>
              <a:latin typeface="Calibri"/>
              <a:ea typeface="Calibri"/>
              <a:cs typeface="Calibri"/>
              <a:sym typeface="Calibri"/>
            </a:endParaRPr>
          </a:p>
          <a:p>
            <a:pPr indent="457200" lvl="0" marL="0" marR="0" rtl="0" algn="l">
              <a:lnSpc>
                <a:spcPct val="108000"/>
              </a:lnSpc>
              <a:spcBef>
                <a:spcPts val="500"/>
              </a:spcBef>
              <a:spcAft>
                <a:spcPts val="0"/>
              </a:spcAft>
              <a:buClr>
                <a:srgbClr val="1B2A4A"/>
              </a:buClr>
              <a:buSzPts val="1200"/>
              <a:buFont typeface="Times New Roman"/>
              <a:buNone/>
            </a:pPr>
            <a:r>
              <a:rPr b="0" i="1" lang="en" sz="1200" u="none" cap="none" strike="noStrike">
                <a:solidFill>
                  <a:srgbClr val="1B2A4A"/>
                </a:solidFill>
                <a:latin typeface="Times New Roman"/>
                <a:ea typeface="Times New Roman"/>
                <a:cs typeface="Times New Roman"/>
                <a:sym typeface="Times New Roman"/>
              </a:rPr>
              <a:t>Y</a:t>
            </a:r>
            <a:r>
              <a:rPr b="0" baseline="-25000" i="1" lang="en" sz="1200" u="none" cap="none" strike="noStrike">
                <a:solidFill>
                  <a:srgbClr val="1B2A4A"/>
                </a:solidFill>
                <a:latin typeface="Times New Roman"/>
                <a:ea typeface="Times New Roman"/>
                <a:cs typeface="Times New Roman"/>
                <a:sym typeface="Times New Roman"/>
              </a:rPr>
              <a:t>i</a:t>
            </a:r>
            <a:r>
              <a:rPr b="0" i="1" lang="en" sz="1200" u="none" cap="none" strike="noStrike">
                <a:solidFill>
                  <a:srgbClr val="1B2A4A"/>
                </a:solidFill>
                <a:latin typeface="Times New Roman"/>
                <a:ea typeface="Times New Roman"/>
                <a:cs typeface="Times New Roman"/>
                <a:sym typeface="Times New Roman"/>
              </a:rPr>
              <a:t>(1) = outcome if treated,      Y</a:t>
            </a:r>
            <a:r>
              <a:rPr b="0" baseline="-25000" i="1" lang="en" sz="1200" u="none" cap="none" strike="noStrike">
                <a:solidFill>
                  <a:srgbClr val="1B2A4A"/>
                </a:solidFill>
                <a:latin typeface="Times New Roman"/>
                <a:ea typeface="Times New Roman"/>
                <a:cs typeface="Times New Roman"/>
                <a:sym typeface="Times New Roman"/>
              </a:rPr>
              <a:t>i</a:t>
            </a:r>
            <a:r>
              <a:rPr b="0" i="1" lang="en" sz="1200" u="none" cap="none" strike="noStrike">
                <a:solidFill>
                  <a:srgbClr val="1B2A4A"/>
                </a:solidFill>
                <a:latin typeface="Times New Roman"/>
                <a:ea typeface="Times New Roman"/>
                <a:cs typeface="Times New Roman"/>
                <a:sym typeface="Times New Roman"/>
              </a:rPr>
              <a:t>(0) = outcome if untreated</a:t>
            </a:r>
            <a:endParaRPr b="0" i="0" sz="1100" u="none" cap="none" strike="noStrike">
              <a:solidFill>
                <a:schemeClr val="dk1"/>
              </a:solidFill>
              <a:latin typeface="Calibri"/>
              <a:ea typeface="Calibri"/>
              <a:cs typeface="Calibri"/>
              <a:sym typeface="Calibri"/>
            </a:endParaRPr>
          </a:p>
          <a:p>
            <a:pPr indent="-146050" lvl="0" marL="152400" marR="0" rtl="0" algn="l">
              <a:lnSpc>
                <a:spcPct val="108000"/>
              </a:lnSpc>
              <a:spcBef>
                <a:spcPts val="5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The individual causal effect is the comparison between them:</a:t>
            </a:r>
            <a:endParaRPr b="0" i="0" sz="1100" u="none" cap="none" strike="noStrike">
              <a:solidFill>
                <a:schemeClr val="dk1"/>
              </a:solidFill>
              <a:latin typeface="Calibri"/>
              <a:ea typeface="Calibri"/>
              <a:cs typeface="Calibri"/>
              <a:sym typeface="Calibri"/>
            </a:endParaRPr>
          </a:p>
          <a:p>
            <a:pPr indent="457200" lvl="0" marL="0" marR="0" rtl="0" algn="l">
              <a:lnSpc>
                <a:spcPct val="108000"/>
              </a:lnSpc>
              <a:spcBef>
                <a:spcPts val="500"/>
              </a:spcBef>
              <a:spcAft>
                <a:spcPts val="0"/>
              </a:spcAft>
              <a:buClr>
                <a:srgbClr val="1B2A4A"/>
              </a:buClr>
              <a:buSzPts val="1200"/>
              <a:buFont typeface="Times New Roman"/>
              <a:buNone/>
            </a:pPr>
            <a:r>
              <a:rPr b="0" i="1" lang="en" sz="1200" u="none" cap="none" strike="noStrike">
                <a:solidFill>
                  <a:srgbClr val="1B2A4A"/>
                </a:solidFill>
                <a:latin typeface="Times New Roman"/>
                <a:ea typeface="Times New Roman"/>
                <a:cs typeface="Times New Roman"/>
                <a:sym typeface="Times New Roman"/>
              </a:rPr>
              <a:t>τ</a:t>
            </a:r>
            <a:r>
              <a:rPr b="0" baseline="-25000" i="1" lang="en" sz="1200" u="none" cap="none" strike="noStrike">
                <a:solidFill>
                  <a:srgbClr val="1B2A4A"/>
                </a:solidFill>
                <a:latin typeface="Times New Roman"/>
                <a:ea typeface="Times New Roman"/>
                <a:cs typeface="Times New Roman"/>
                <a:sym typeface="Times New Roman"/>
              </a:rPr>
              <a:t>i</a:t>
            </a:r>
            <a:r>
              <a:rPr b="0" i="1" lang="en" sz="1200" u="none" cap="none" strike="noStrike">
                <a:solidFill>
                  <a:srgbClr val="1B2A4A"/>
                </a:solidFill>
                <a:latin typeface="Times New Roman"/>
                <a:ea typeface="Times New Roman"/>
                <a:cs typeface="Times New Roman"/>
                <a:sym typeface="Times New Roman"/>
              </a:rPr>
              <a:t>  =  Y</a:t>
            </a:r>
            <a:r>
              <a:rPr b="0" baseline="-25000" i="1" lang="en" sz="1200" u="none" cap="none" strike="noStrike">
                <a:solidFill>
                  <a:srgbClr val="1B2A4A"/>
                </a:solidFill>
                <a:latin typeface="Times New Roman"/>
                <a:ea typeface="Times New Roman"/>
                <a:cs typeface="Times New Roman"/>
                <a:sym typeface="Times New Roman"/>
              </a:rPr>
              <a:t>i</a:t>
            </a:r>
            <a:r>
              <a:rPr b="0" i="1" lang="en" sz="1200" u="none" cap="none" strike="noStrike">
                <a:solidFill>
                  <a:srgbClr val="1B2A4A"/>
                </a:solidFill>
                <a:latin typeface="Times New Roman"/>
                <a:ea typeface="Times New Roman"/>
                <a:cs typeface="Times New Roman"/>
                <a:sym typeface="Times New Roman"/>
              </a:rPr>
              <a:t>(1) − Y</a:t>
            </a:r>
            <a:r>
              <a:rPr b="0" baseline="-25000" i="1" lang="en" sz="1200" u="none" cap="none" strike="noStrike">
                <a:solidFill>
                  <a:srgbClr val="1B2A4A"/>
                </a:solidFill>
                <a:latin typeface="Times New Roman"/>
                <a:ea typeface="Times New Roman"/>
                <a:cs typeface="Times New Roman"/>
                <a:sym typeface="Times New Roman"/>
              </a:rPr>
              <a:t>i</a:t>
            </a:r>
            <a:r>
              <a:rPr b="0" i="1" lang="en" sz="1200" u="none" cap="none" strike="noStrike">
                <a:solidFill>
                  <a:srgbClr val="1B2A4A"/>
                </a:solidFill>
                <a:latin typeface="Times New Roman"/>
                <a:ea typeface="Times New Roman"/>
                <a:cs typeface="Times New Roman"/>
                <a:sym typeface="Times New Roman"/>
              </a:rPr>
              <a:t>(0) </a:t>
            </a:r>
            <a:endParaRPr b="0" i="0" sz="1100" u="none" cap="none" strike="noStrike">
              <a:solidFill>
                <a:srgbClr val="1A1A1A"/>
              </a:solidFill>
              <a:latin typeface="Times New Roman"/>
              <a:ea typeface="Times New Roman"/>
              <a:cs typeface="Times New Roman"/>
              <a:sym typeface="Times New Roman"/>
            </a:endParaRPr>
          </a:p>
          <a:p>
            <a:pPr indent="-146050" lvl="0" marL="152400" marR="0" rtl="0" algn="l">
              <a:lnSpc>
                <a:spcPct val="108000"/>
              </a:lnSpc>
              <a:spcBef>
                <a:spcPts val="5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The fundamental problem of causal inference: each person lives in exactly one world. We observe at most one of Y</a:t>
            </a:r>
            <a:r>
              <a:rPr b="0" baseline="-25000" i="1" lang="en" sz="1200" u="none" cap="none" strike="noStrike">
                <a:solidFill>
                  <a:srgbClr val="1B2A4A"/>
                </a:solidFill>
                <a:latin typeface="Times New Roman"/>
                <a:ea typeface="Times New Roman"/>
                <a:cs typeface="Times New Roman"/>
                <a:sym typeface="Times New Roman"/>
              </a:rPr>
              <a:t>i</a:t>
            </a:r>
            <a:r>
              <a:rPr b="0" i="0" lang="en" sz="1100" u="none" cap="none" strike="noStrike">
                <a:solidFill>
                  <a:srgbClr val="1A1A1A"/>
                </a:solidFill>
                <a:latin typeface="Times New Roman"/>
                <a:ea typeface="Times New Roman"/>
                <a:cs typeface="Times New Roman"/>
                <a:sym typeface="Times New Roman"/>
              </a:rPr>
              <a:t>(1), Y</a:t>
            </a:r>
            <a:r>
              <a:rPr b="0" baseline="-25000" i="1" lang="en" sz="1200" u="none" cap="none" strike="noStrike">
                <a:solidFill>
                  <a:srgbClr val="1B2A4A"/>
                </a:solidFill>
                <a:latin typeface="Times New Roman"/>
                <a:ea typeface="Times New Roman"/>
                <a:cs typeface="Times New Roman"/>
                <a:sym typeface="Times New Roman"/>
              </a:rPr>
              <a:t>i</a:t>
            </a:r>
            <a:r>
              <a:rPr b="0" i="0" lang="en" sz="1100" u="none" cap="none" strike="noStrike">
                <a:solidFill>
                  <a:srgbClr val="1A1A1A"/>
                </a:solidFill>
                <a:latin typeface="Times New Roman"/>
                <a:ea typeface="Times New Roman"/>
                <a:cs typeface="Times New Roman"/>
                <a:sym typeface="Times New Roman"/>
              </a:rPr>
              <a:t>(0) — the treatment actually received selects which one</a:t>
            </a:r>
            <a:endParaRPr b="0" i="0" sz="1100" u="none" cap="none" strike="noStrike">
              <a:solidFill>
                <a:schemeClr val="dk1"/>
              </a:solidFill>
              <a:latin typeface="Calibri"/>
              <a:ea typeface="Calibri"/>
              <a:cs typeface="Calibri"/>
              <a:sym typeface="Calibri"/>
            </a:endParaRPr>
          </a:p>
          <a:p>
            <a:pPr indent="-146050" lvl="0" marL="152400" marR="0" rtl="0" algn="l">
              <a:lnSpc>
                <a:spcPct val="108000"/>
              </a:lnSpc>
              <a:spcBef>
                <a:spcPts val="500"/>
              </a:spcBef>
              <a:spcAft>
                <a:spcPts val="0"/>
              </a:spcAft>
              <a:buClr>
                <a:srgbClr val="7A2E2E"/>
              </a:buClr>
              <a:buSzPts val="1100"/>
              <a:buFont typeface="Times New Roman"/>
              <a:buChar char="▸"/>
            </a:pPr>
            <a:r>
              <a:rPr b="0" i="0" lang="en" sz="1100" u="none" cap="none" strike="noStrike">
                <a:solidFill>
                  <a:srgbClr val="7A2E2E"/>
                </a:solidFill>
                <a:latin typeface="Times New Roman"/>
                <a:ea typeface="Times New Roman"/>
                <a:cs typeface="Times New Roman"/>
                <a:sym typeface="Times New Roman"/>
              </a:rPr>
              <a:t>The missing potential outcome is not measurement error — it is structurally missing data. Every method in this literature is a strategy for filling in that blank credibly.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93"/>
          <p:cNvSpPr/>
          <p:nvPr/>
        </p:nvSpPr>
        <p:spPr>
          <a:xfrm>
            <a:off x="480060" y="240030"/>
            <a:ext cx="6858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1. WHAT IS CAUSAL INFERENCE?</a:t>
            </a:r>
            <a:endParaRPr b="0" i="0" sz="800" u="none" cap="none" strike="noStrike">
              <a:solidFill>
                <a:schemeClr val="dk1"/>
              </a:solidFill>
              <a:latin typeface="Calibri"/>
              <a:ea typeface="Calibri"/>
              <a:cs typeface="Calibri"/>
              <a:sym typeface="Calibri"/>
            </a:endParaRPr>
          </a:p>
        </p:txBody>
      </p:sp>
      <p:sp>
        <p:nvSpPr>
          <p:cNvPr id="608" name="Google Shape;608;p93"/>
          <p:cNvSpPr/>
          <p:nvPr/>
        </p:nvSpPr>
        <p:spPr>
          <a:xfrm>
            <a:off x="480060" y="466344"/>
            <a:ext cx="8161020" cy="41148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1.2  </a:t>
            </a:r>
            <a:r>
              <a:rPr b="1" i="0" lang="en" sz="1900" u="none" cap="none" strike="noStrike">
                <a:solidFill>
                  <a:srgbClr val="1B2A4A"/>
                </a:solidFill>
                <a:latin typeface="Times New Roman"/>
                <a:ea typeface="Times New Roman"/>
                <a:cs typeface="Times New Roman"/>
                <a:sym typeface="Times New Roman"/>
              </a:rPr>
              <a:t>Twins, Matching, and Synthetic Controls</a:t>
            </a:r>
            <a:endParaRPr b="0" i="0" sz="1900" u="none" cap="none" strike="noStrike">
              <a:solidFill>
                <a:schemeClr val="dk1"/>
              </a:solidFill>
              <a:latin typeface="Calibri"/>
              <a:ea typeface="Calibri"/>
              <a:cs typeface="Calibri"/>
              <a:sym typeface="Calibri"/>
            </a:endParaRPr>
          </a:p>
        </p:txBody>
      </p:sp>
      <p:cxnSp>
        <p:nvCxnSpPr>
          <p:cNvPr id="609" name="Google Shape;609;p93"/>
          <p:cNvCxnSpPr/>
          <p:nvPr/>
        </p:nvCxnSpPr>
        <p:spPr>
          <a:xfrm>
            <a:off x="480060" y="905256"/>
            <a:ext cx="8181594" cy="0"/>
          </a:xfrm>
          <a:prstGeom prst="straightConnector1">
            <a:avLst/>
          </a:prstGeom>
          <a:noFill/>
          <a:ln cap="flat" cmpd="sng" w="15875">
            <a:solidFill>
              <a:srgbClr val="1B2A4A"/>
            </a:solidFill>
            <a:prstDash val="solid"/>
            <a:round/>
            <a:headEnd len="sm" w="sm" type="none"/>
            <a:tailEnd len="sm" w="sm" type="none"/>
          </a:ln>
        </p:spPr>
      </p:cxnSp>
      <p:cxnSp>
        <p:nvCxnSpPr>
          <p:cNvPr id="610" name="Google Shape;610;p93"/>
          <p:cNvCxnSpPr/>
          <p:nvPr/>
        </p:nvCxnSpPr>
        <p:spPr>
          <a:xfrm>
            <a:off x="480060" y="4766310"/>
            <a:ext cx="8181594" cy="0"/>
          </a:xfrm>
          <a:prstGeom prst="straightConnector1">
            <a:avLst/>
          </a:prstGeom>
          <a:noFill/>
          <a:ln cap="flat" cmpd="sng" w="9525">
            <a:solidFill>
              <a:srgbClr val="C7CCDA"/>
            </a:solidFill>
            <a:prstDash val="solid"/>
            <a:round/>
            <a:headEnd len="sm" w="sm" type="none"/>
            <a:tailEnd len="sm" w="sm" type="none"/>
          </a:ln>
        </p:spPr>
      </p:cxnSp>
      <p:sp>
        <p:nvSpPr>
          <p:cNvPr id="611" name="Google Shape;611;p93"/>
          <p:cNvSpPr/>
          <p:nvPr/>
        </p:nvSpPr>
        <p:spPr>
          <a:xfrm>
            <a:off x="480060" y="4828032"/>
            <a:ext cx="27432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612" name="Google Shape;612;p93"/>
          <p:cNvSpPr/>
          <p:nvPr/>
        </p:nvSpPr>
        <p:spPr>
          <a:xfrm>
            <a:off x="2880360" y="4828032"/>
            <a:ext cx="3429000"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1. What Is Causal Inference?</a:t>
            </a:r>
            <a:endParaRPr b="0" i="0" sz="700" u="none" cap="none" strike="noStrike">
              <a:solidFill>
                <a:schemeClr val="dk1"/>
              </a:solidFill>
              <a:latin typeface="Calibri"/>
              <a:ea typeface="Calibri"/>
              <a:cs typeface="Calibri"/>
              <a:sym typeface="Calibri"/>
            </a:endParaRPr>
          </a:p>
        </p:txBody>
      </p:sp>
      <p:sp>
        <p:nvSpPr>
          <p:cNvPr id="613" name="Google Shape;613;p93"/>
          <p:cNvSpPr/>
          <p:nvPr/>
        </p:nvSpPr>
        <p:spPr>
          <a:xfrm>
            <a:off x="8229600" y="4828032"/>
            <a:ext cx="432054"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5</a:t>
            </a:r>
            <a:endParaRPr b="0" i="0" sz="700" u="none" cap="none" strike="noStrike">
              <a:solidFill>
                <a:schemeClr val="dk1"/>
              </a:solidFill>
              <a:latin typeface="Calibri"/>
              <a:ea typeface="Calibri"/>
              <a:cs typeface="Calibri"/>
              <a:sym typeface="Calibri"/>
            </a:endParaRPr>
          </a:p>
        </p:txBody>
      </p:sp>
      <p:sp>
        <p:nvSpPr>
          <p:cNvPr id="614" name="Google Shape;614;p93"/>
          <p:cNvSpPr/>
          <p:nvPr/>
        </p:nvSpPr>
        <p:spPr>
          <a:xfrm>
            <a:off x="480060" y="1088275"/>
            <a:ext cx="8160900" cy="3634800"/>
          </a:xfrm>
          <a:prstGeom prst="rect">
            <a:avLst/>
          </a:prstGeom>
          <a:noFill/>
          <a:ln>
            <a:noFill/>
          </a:ln>
        </p:spPr>
        <p:txBody>
          <a:bodyPr anchorCtr="0" anchor="t" bIns="34275" lIns="68575" spcFirstLastPara="1" rIns="68575" wrap="square" tIns="34275">
            <a:noAutofit/>
          </a:bodyPr>
          <a:lstStyle/>
          <a:p>
            <a:pPr indent="-146050" lvl="0" marL="152400" marR="0" rtl="0" algn="l">
              <a:lnSpc>
                <a:spcPct val="108000"/>
              </a:lnSpc>
              <a:spcBef>
                <a:spcPts val="300"/>
              </a:spcBef>
              <a:spcAft>
                <a:spcPts val="0"/>
              </a:spcAft>
              <a:buClr>
                <a:srgbClr val="7A2E2E"/>
              </a:buClr>
              <a:buSzPts val="1100"/>
              <a:buFont typeface="Times New Roman"/>
              <a:buChar char="▸"/>
            </a:pPr>
            <a:r>
              <a:rPr b="1" i="0" lang="en" sz="1100" u="none" cap="none" strike="noStrike">
                <a:solidFill>
                  <a:srgbClr val="7A2E2E"/>
                </a:solidFill>
                <a:latin typeface="Times New Roman"/>
                <a:ea typeface="Times New Roman"/>
                <a:cs typeface="Times New Roman"/>
                <a:sym typeface="Times New Roman"/>
              </a:rPr>
              <a:t>Nobody has a cloning machine, so applied work turns to designs that approximate the clone — twin studies, matching,</a:t>
            </a:r>
            <a:r>
              <a:rPr b="1" lang="en" sz="1100">
                <a:solidFill>
                  <a:srgbClr val="7A2E2E"/>
                </a:solidFill>
                <a:latin typeface="Times New Roman"/>
                <a:ea typeface="Times New Roman"/>
                <a:cs typeface="Times New Roman"/>
                <a:sym typeface="Times New Roman"/>
              </a:rPr>
              <a:t> individual fixed effects (panel data)</a:t>
            </a:r>
            <a:r>
              <a:rPr b="1" i="0" lang="en" sz="1100" u="none" cap="none" strike="noStrike">
                <a:solidFill>
                  <a:srgbClr val="7A2E2E"/>
                </a:solidFill>
                <a:latin typeface="Times New Roman"/>
                <a:ea typeface="Times New Roman"/>
                <a:cs typeface="Times New Roman"/>
                <a:sym typeface="Times New Roman"/>
              </a:rPr>
              <a:t> and synthetic controls.</a:t>
            </a:r>
            <a:endParaRPr b="1" i="0" sz="1100" u="none" cap="none" strike="noStrike">
              <a:solidFill>
                <a:srgbClr val="7A2E2E"/>
              </a:solidFill>
              <a:latin typeface="Times New Roman"/>
              <a:ea typeface="Times New Roman"/>
              <a:cs typeface="Times New Roman"/>
              <a:sym typeface="Times New Roman"/>
            </a:endParaRPr>
          </a:p>
          <a:p>
            <a:pPr indent="-146050" lvl="0" marL="152400" marR="0" rtl="0" algn="l">
              <a:lnSpc>
                <a:spcPct val="108000"/>
              </a:lnSpc>
              <a:spcBef>
                <a:spcPts val="400"/>
              </a:spcBef>
              <a:spcAft>
                <a:spcPts val="0"/>
              </a:spcAft>
              <a:buClr>
                <a:srgbClr val="1A1A1A"/>
              </a:buClr>
              <a:buSzPts val="1100"/>
              <a:buFont typeface="Times New Roman"/>
              <a:buChar char="▸"/>
            </a:pPr>
            <a:r>
              <a:rPr b="1" i="0" lang="en" sz="1100" u="none" cap="none" strike="noStrike">
                <a:solidFill>
                  <a:srgbClr val="1A1A1A"/>
                </a:solidFill>
                <a:latin typeface="Times New Roman"/>
                <a:ea typeface="Times New Roman"/>
                <a:cs typeface="Times New Roman"/>
                <a:sym typeface="Times New Roman"/>
              </a:rPr>
              <a:t>Natural: identical twins.</a:t>
            </a:r>
            <a:endParaRPr b="0" i="0" sz="1100" u="none" cap="none" strike="noStrike">
              <a:solidFill>
                <a:schemeClr val="dk1"/>
              </a:solidFill>
              <a:latin typeface="Calibri"/>
              <a:ea typeface="Calibri"/>
              <a:cs typeface="Calibri"/>
              <a:sym typeface="Calibri"/>
            </a:endParaRPr>
          </a:p>
          <a:p>
            <a:pPr indent="-247650" lvl="1" marL="495300" marR="0" rtl="0" algn="l">
              <a:lnSpc>
                <a:spcPct val="108000"/>
              </a:lnSpc>
              <a:spcBef>
                <a:spcPts val="4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Nature runs a rough version of the clone experiment for us: monozygotic twins share a genome and most of their early environment — the untreated twin stands in for the missing Y(0) of the treated twin. Not a perfect clone, though: twins still differ in ways that can matter (particularly behaviorally).</a:t>
            </a:r>
            <a:endParaRPr b="0" i="0" sz="1100" u="none" cap="none" strike="noStrike">
              <a:solidFill>
                <a:schemeClr val="dk1"/>
              </a:solidFill>
              <a:latin typeface="Calibri"/>
              <a:ea typeface="Calibri"/>
              <a:cs typeface="Calibri"/>
              <a:sym typeface="Calibri"/>
            </a:endParaRPr>
          </a:p>
          <a:p>
            <a:pPr indent="-247650" lvl="1" marL="495300" marR="0" rtl="0" algn="l">
              <a:lnSpc>
                <a:spcPct val="108000"/>
              </a:lnSpc>
              <a:spcBef>
                <a:spcPts val="400"/>
              </a:spcBef>
              <a:spcAft>
                <a:spcPts val="0"/>
              </a:spcAft>
              <a:buClr>
                <a:srgbClr val="1A1A1A"/>
              </a:buClr>
              <a:buSzPts val="1100"/>
              <a:buFont typeface="Times New Roman"/>
              <a:buChar char="–"/>
            </a:pPr>
            <a:r>
              <a:rPr b="1" i="0" lang="en" sz="1100" u="none" cap="none" strike="noStrike">
                <a:solidFill>
                  <a:srgbClr val="1A1A1A"/>
                </a:solidFill>
                <a:latin typeface="Times New Roman"/>
                <a:ea typeface="Times New Roman"/>
                <a:cs typeface="Times New Roman"/>
                <a:sym typeface="Times New Roman"/>
              </a:rPr>
              <a:t>The Twinsburg, Ohio phenomenon: </a:t>
            </a:r>
            <a:r>
              <a:rPr b="0" i="0" lang="en" sz="1100" u="none" cap="none" strike="noStrike">
                <a:solidFill>
                  <a:srgbClr val="1A1A1A"/>
                </a:solidFill>
                <a:latin typeface="Times New Roman"/>
                <a:ea typeface="Times New Roman"/>
                <a:cs typeface="Times New Roman"/>
                <a:sym typeface="Times New Roman"/>
              </a:rPr>
              <a:t>Every summer the Twins Days Festival in Twinsburg, Ohio draws thousands of twin pairs, and researchers set up booths to recruit pairs who differ on some exposure of interest (one smoked, one didn’t; one finished college, one didn’t).</a:t>
            </a:r>
            <a:endParaRPr b="0" i="0" sz="1100" u="none" cap="none" strike="noStrike">
              <a:solidFill>
                <a:schemeClr val="dk1"/>
              </a:solidFill>
              <a:latin typeface="Calibri"/>
              <a:ea typeface="Calibri"/>
              <a:cs typeface="Calibri"/>
              <a:sym typeface="Calibri"/>
            </a:endParaRPr>
          </a:p>
          <a:p>
            <a:pPr indent="-146050" lvl="0" marL="152400" marR="0" rtl="0" algn="l">
              <a:lnSpc>
                <a:spcPct val="108000"/>
              </a:lnSpc>
              <a:spcBef>
                <a:spcPts val="400"/>
              </a:spcBef>
              <a:spcAft>
                <a:spcPts val="0"/>
              </a:spcAft>
              <a:buClr>
                <a:srgbClr val="1A1A1A"/>
              </a:buClr>
              <a:buSzPts val="1100"/>
              <a:buFont typeface="Times New Roman"/>
              <a:buChar char="▸"/>
            </a:pPr>
            <a:r>
              <a:rPr b="1" i="0" lang="en" sz="1100" u="none" cap="none" strike="noStrike">
                <a:solidFill>
                  <a:srgbClr val="1A1A1A"/>
                </a:solidFill>
                <a:latin typeface="Times New Roman"/>
                <a:ea typeface="Times New Roman"/>
                <a:cs typeface="Times New Roman"/>
                <a:sym typeface="Times New Roman"/>
              </a:rPr>
              <a:t>Constructed: matching and synthetic controls.</a:t>
            </a:r>
            <a:endParaRPr b="0" i="0" sz="1100" u="none" cap="none" strike="noStrike">
              <a:solidFill>
                <a:schemeClr val="dk1"/>
              </a:solidFill>
              <a:latin typeface="Calibri"/>
              <a:ea typeface="Calibri"/>
              <a:cs typeface="Calibri"/>
              <a:sym typeface="Calibri"/>
            </a:endParaRPr>
          </a:p>
          <a:p>
            <a:pPr indent="-247650" lvl="1" marL="495300" marR="0" rtl="0" algn="l">
              <a:lnSpc>
                <a:spcPct val="108000"/>
              </a:lnSpc>
              <a:spcBef>
                <a:spcPts val="4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Matching is the observational version of the same move: find untreated units that look identical on the covariates you measured, and borrow their outcome as the stand-in for Y(0).</a:t>
            </a:r>
            <a:endParaRPr b="0" i="0" sz="1100" u="none" cap="none" strike="noStrike">
              <a:solidFill>
                <a:schemeClr val="dk1"/>
              </a:solidFill>
              <a:latin typeface="Calibri"/>
              <a:ea typeface="Calibri"/>
              <a:cs typeface="Calibri"/>
              <a:sym typeface="Calibri"/>
            </a:endParaRPr>
          </a:p>
          <a:p>
            <a:pPr indent="-247650" lvl="1" marL="495300" marR="0" rtl="0" algn="l">
              <a:lnSpc>
                <a:spcPct val="108000"/>
              </a:lnSpc>
              <a:spcBef>
                <a:spcPts val="4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Synthetic control generalizes this to aggregate units — a weighted composite of donor units whose pre-treatment trajectory reproduces the treated unit’s, a “digital twin” built from a blend.</a:t>
            </a:r>
            <a:endParaRPr b="0" i="0" sz="1100" u="none" cap="none" strike="noStrike">
              <a:solidFill>
                <a:schemeClr val="dk1"/>
              </a:solidFill>
              <a:latin typeface="Calibri"/>
              <a:ea typeface="Calibri"/>
              <a:cs typeface="Calibri"/>
              <a:sym typeface="Calibri"/>
            </a:endParaRPr>
          </a:p>
          <a:p>
            <a:pPr indent="-146050" lvl="0" marL="152400" marR="0" rtl="0" algn="l">
              <a:lnSpc>
                <a:spcPct val="108000"/>
              </a:lnSpc>
              <a:spcBef>
                <a:spcPts val="300"/>
              </a:spcBef>
              <a:spcAft>
                <a:spcPts val="0"/>
              </a:spcAft>
              <a:buClr>
                <a:srgbClr val="7A2E2E"/>
              </a:buClr>
              <a:buSzPts val="1100"/>
              <a:buFont typeface="Times New Roman"/>
              <a:buChar char="▸"/>
            </a:pPr>
            <a:r>
              <a:rPr b="1" i="0" lang="en" sz="1100" u="none" cap="none" strike="noStrike">
                <a:solidFill>
                  <a:srgbClr val="7A2E2E"/>
                </a:solidFill>
                <a:latin typeface="Times New Roman"/>
                <a:ea typeface="Times New Roman"/>
                <a:cs typeface="Times New Roman"/>
                <a:sym typeface="Times New Roman"/>
              </a:rPr>
              <a:t>The crucial catch — and the whole subject ahead:</a:t>
            </a:r>
            <a:endParaRPr b="0" i="0" sz="1100" u="none" cap="none" strike="noStrike">
              <a:solidFill>
                <a:schemeClr val="dk1"/>
              </a:solidFill>
              <a:latin typeface="Calibri"/>
              <a:ea typeface="Calibri"/>
              <a:cs typeface="Calibri"/>
              <a:sym typeface="Calibri"/>
            </a:endParaRPr>
          </a:p>
          <a:p>
            <a:pPr indent="-247650" lvl="1" marL="495300" marR="0" rtl="0" algn="l">
              <a:lnSpc>
                <a:spcPct val="108000"/>
              </a:lnSpc>
              <a:spcBef>
                <a:spcPts val="4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You can only match on what you observe — when a hidden difference also drives the outcome, the stand-in is contaminated (omitted-variable / selection bias). Panel data </a:t>
            </a:r>
            <a:r>
              <a:rPr lang="en" sz="1100">
                <a:solidFill>
                  <a:srgbClr val="1A1A1A"/>
                </a:solidFill>
                <a:latin typeface="Times New Roman"/>
                <a:ea typeface="Times New Roman"/>
                <a:cs typeface="Times New Roman"/>
                <a:sym typeface="Times New Roman"/>
              </a:rPr>
              <a:t>is a huge benefit for this reason, but it still only removes the bias from </a:t>
            </a:r>
            <a:r>
              <a:rPr i="1" lang="en" sz="1100">
                <a:solidFill>
                  <a:srgbClr val="1A1A1A"/>
                </a:solidFill>
                <a:latin typeface="Times New Roman"/>
                <a:ea typeface="Times New Roman"/>
                <a:cs typeface="Times New Roman"/>
                <a:sym typeface="Times New Roman"/>
              </a:rPr>
              <a:t>time-invariant</a:t>
            </a:r>
            <a:r>
              <a:rPr lang="en" sz="1100">
                <a:solidFill>
                  <a:srgbClr val="1A1A1A"/>
                </a:solidFill>
                <a:latin typeface="Times New Roman"/>
                <a:ea typeface="Times New Roman"/>
                <a:cs typeface="Times New Roman"/>
                <a:sym typeface="Times New Roman"/>
              </a:rPr>
              <a:t> unobserved variables.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619" name="Shape 619"/>
        <p:cNvGrpSpPr/>
        <p:nvPr/>
      </p:nvGrpSpPr>
      <p:grpSpPr>
        <a:xfrm>
          <a:off x="0" y="0"/>
          <a:ext cx="0" cy="0"/>
          <a:chOff x="0" y="0"/>
          <a:chExt cx="0" cy="0"/>
        </a:xfrm>
      </p:grpSpPr>
      <p:sp>
        <p:nvSpPr>
          <p:cNvPr id="620" name="Google Shape;620;p94"/>
          <p:cNvSpPr/>
          <p:nvPr/>
        </p:nvSpPr>
        <p:spPr>
          <a:xfrm>
            <a:off x="514350" y="377190"/>
            <a:ext cx="2400300" cy="15087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B3B63"/>
              </a:buClr>
              <a:buSzPts val="9800"/>
              <a:buFont typeface="Times New Roman"/>
              <a:buNone/>
            </a:pPr>
            <a:r>
              <a:rPr b="1" i="0" lang="en" sz="9800" u="none" cap="none" strike="noStrike">
                <a:solidFill>
                  <a:srgbClr val="2B3B63"/>
                </a:solidFill>
                <a:latin typeface="Times New Roman"/>
                <a:ea typeface="Times New Roman"/>
                <a:cs typeface="Times New Roman"/>
                <a:sym typeface="Times New Roman"/>
              </a:rPr>
              <a:t>2</a:t>
            </a:r>
            <a:endParaRPr b="0" i="0" sz="9800" u="none" cap="none" strike="noStrike">
              <a:solidFill>
                <a:schemeClr val="dk1"/>
              </a:solidFill>
              <a:latin typeface="Calibri"/>
              <a:ea typeface="Calibri"/>
              <a:cs typeface="Calibri"/>
              <a:sym typeface="Calibri"/>
            </a:endParaRPr>
          </a:p>
        </p:txBody>
      </p:sp>
      <p:sp>
        <p:nvSpPr>
          <p:cNvPr id="621" name="Google Shape;621;p94"/>
          <p:cNvSpPr/>
          <p:nvPr/>
        </p:nvSpPr>
        <p:spPr>
          <a:xfrm>
            <a:off x="617220" y="2160270"/>
            <a:ext cx="740664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600"/>
              <a:buFont typeface="Times New Roman"/>
              <a:buNone/>
            </a:pPr>
            <a:r>
              <a:rPr b="1" i="0" lang="en" sz="2600" u="none" cap="none" strike="noStrike">
                <a:solidFill>
                  <a:srgbClr val="FFFFFF"/>
                </a:solidFill>
                <a:latin typeface="Times New Roman"/>
                <a:ea typeface="Times New Roman"/>
                <a:cs typeface="Times New Roman"/>
                <a:sym typeface="Times New Roman"/>
              </a:rPr>
              <a:t>The Data-Generating Process</a:t>
            </a:r>
            <a:endParaRPr b="0" i="0" sz="2600" u="none" cap="none" strike="noStrike">
              <a:solidFill>
                <a:schemeClr val="dk1"/>
              </a:solidFill>
              <a:latin typeface="Calibri"/>
              <a:ea typeface="Calibri"/>
              <a:cs typeface="Calibri"/>
              <a:sym typeface="Calibri"/>
            </a:endParaRPr>
          </a:p>
        </p:txBody>
      </p:sp>
      <p:cxnSp>
        <p:nvCxnSpPr>
          <p:cNvPr id="622" name="Google Shape;622;p94"/>
          <p:cNvCxnSpPr/>
          <p:nvPr/>
        </p:nvCxnSpPr>
        <p:spPr>
          <a:xfrm>
            <a:off x="651510" y="2846070"/>
            <a:ext cx="1645920" cy="0"/>
          </a:xfrm>
          <a:prstGeom prst="straightConnector1">
            <a:avLst/>
          </a:prstGeom>
          <a:noFill/>
          <a:ln cap="flat" cmpd="sng" w="12700">
            <a:solidFill>
              <a:srgbClr val="5D6F9E"/>
            </a:solidFill>
            <a:prstDash val="solid"/>
            <a:round/>
            <a:headEnd len="sm" w="sm" type="none"/>
            <a:tailEnd len="sm" w="sm" type="none"/>
          </a:ln>
        </p:spPr>
      </p:cxnSp>
      <p:sp>
        <p:nvSpPr>
          <p:cNvPr id="623" name="Google Shape;623;p94"/>
          <p:cNvSpPr/>
          <p:nvPr/>
        </p:nvSpPr>
        <p:spPr>
          <a:xfrm>
            <a:off x="651510" y="3017520"/>
            <a:ext cx="5486400" cy="13716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2.1  The DGP: the true recipe behind Y</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2.2  When does βˆ recover β? The CIA</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2.3  Causal inference vs. predictive modeling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95"/>
          <p:cNvSpPr/>
          <p:nvPr/>
        </p:nvSpPr>
        <p:spPr>
          <a:xfrm>
            <a:off x="480060" y="240030"/>
            <a:ext cx="68580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2. THE DATA-GENERATING PROCESS</a:t>
            </a:r>
            <a:endParaRPr b="0" i="0" sz="800" u="none" cap="none" strike="noStrike">
              <a:solidFill>
                <a:schemeClr val="dk1"/>
              </a:solidFill>
              <a:latin typeface="Calibri"/>
              <a:ea typeface="Calibri"/>
              <a:cs typeface="Calibri"/>
              <a:sym typeface="Calibri"/>
            </a:endParaRPr>
          </a:p>
        </p:txBody>
      </p:sp>
      <p:sp>
        <p:nvSpPr>
          <p:cNvPr id="630" name="Google Shape;630;p95"/>
          <p:cNvSpPr/>
          <p:nvPr/>
        </p:nvSpPr>
        <p:spPr>
          <a:xfrm>
            <a:off x="480060" y="466344"/>
            <a:ext cx="81610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2.1  </a:t>
            </a:r>
            <a:r>
              <a:rPr b="1" i="0" lang="en" sz="1900" u="none" cap="none" strike="noStrike">
                <a:solidFill>
                  <a:srgbClr val="1B2A4A"/>
                </a:solidFill>
                <a:latin typeface="Times New Roman"/>
                <a:ea typeface="Times New Roman"/>
                <a:cs typeface="Times New Roman"/>
                <a:sym typeface="Times New Roman"/>
              </a:rPr>
              <a:t>The Data-Generating Process</a:t>
            </a:r>
            <a:endParaRPr b="0" i="0" sz="1900" u="none" cap="none" strike="noStrike">
              <a:solidFill>
                <a:schemeClr val="dk1"/>
              </a:solidFill>
              <a:latin typeface="Calibri"/>
              <a:ea typeface="Calibri"/>
              <a:cs typeface="Calibri"/>
              <a:sym typeface="Calibri"/>
            </a:endParaRPr>
          </a:p>
        </p:txBody>
      </p:sp>
      <p:cxnSp>
        <p:nvCxnSpPr>
          <p:cNvPr id="631" name="Google Shape;631;p95"/>
          <p:cNvCxnSpPr/>
          <p:nvPr/>
        </p:nvCxnSpPr>
        <p:spPr>
          <a:xfrm>
            <a:off x="480060" y="905256"/>
            <a:ext cx="8181594" cy="0"/>
          </a:xfrm>
          <a:prstGeom prst="straightConnector1">
            <a:avLst/>
          </a:prstGeom>
          <a:noFill/>
          <a:ln cap="flat" cmpd="sng" w="15875">
            <a:solidFill>
              <a:srgbClr val="1B2A4A"/>
            </a:solidFill>
            <a:prstDash val="solid"/>
            <a:round/>
            <a:headEnd len="sm" w="sm" type="none"/>
            <a:tailEnd len="sm" w="sm" type="none"/>
          </a:ln>
        </p:spPr>
      </p:cxnSp>
      <p:cxnSp>
        <p:nvCxnSpPr>
          <p:cNvPr id="632" name="Google Shape;632;p95"/>
          <p:cNvCxnSpPr/>
          <p:nvPr/>
        </p:nvCxnSpPr>
        <p:spPr>
          <a:xfrm>
            <a:off x="480060" y="4766310"/>
            <a:ext cx="8181594" cy="0"/>
          </a:xfrm>
          <a:prstGeom prst="straightConnector1">
            <a:avLst/>
          </a:prstGeom>
          <a:noFill/>
          <a:ln cap="flat" cmpd="sng" w="9525">
            <a:solidFill>
              <a:srgbClr val="C7CCDA"/>
            </a:solidFill>
            <a:prstDash val="solid"/>
            <a:round/>
            <a:headEnd len="sm" w="sm" type="none"/>
            <a:tailEnd len="sm" w="sm" type="none"/>
          </a:ln>
        </p:spPr>
      </p:cxnSp>
      <p:sp>
        <p:nvSpPr>
          <p:cNvPr id="633" name="Google Shape;633;p95"/>
          <p:cNvSpPr/>
          <p:nvPr/>
        </p:nvSpPr>
        <p:spPr>
          <a:xfrm>
            <a:off x="480060" y="4828032"/>
            <a:ext cx="27432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634" name="Google Shape;634;p95"/>
          <p:cNvSpPr/>
          <p:nvPr/>
        </p:nvSpPr>
        <p:spPr>
          <a:xfrm>
            <a:off x="2880360" y="4828032"/>
            <a:ext cx="342900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2. The Data-Generating Process</a:t>
            </a:r>
            <a:endParaRPr b="0" i="0" sz="700" u="none" cap="none" strike="noStrike">
              <a:solidFill>
                <a:schemeClr val="dk1"/>
              </a:solidFill>
              <a:latin typeface="Calibri"/>
              <a:ea typeface="Calibri"/>
              <a:cs typeface="Calibri"/>
              <a:sym typeface="Calibri"/>
            </a:endParaRPr>
          </a:p>
        </p:txBody>
      </p:sp>
      <p:sp>
        <p:nvSpPr>
          <p:cNvPr id="635" name="Google Shape;635;p95"/>
          <p:cNvSpPr/>
          <p:nvPr/>
        </p:nvSpPr>
        <p:spPr>
          <a:xfrm>
            <a:off x="8229600" y="4828032"/>
            <a:ext cx="432054"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8</a:t>
            </a:r>
            <a:endParaRPr b="0" i="0" sz="700" u="none" cap="none" strike="noStrike">
              <a:solidFill>
                <a:schemeClr val="dk1"/>
              </a:solidFill>
              <a:latin typeface="Calibri"/>
              <a:ea typeface="Calibri"/>
              <a:cs typeface="Calibri"/>
              <a:sym typeface="Calibri"/>
            </a:endParaRPr>
          </a:p>
        </p:txBody>
      </p:sp>
      <p:sp>
        <p:nvSpPr>
          <p:cNvPr id="636" name="Google Shape;636;p95"/>
          <p:cNvSpPr/>
          <p:nvPr/>
        </p:nvSpPr>
        <p:spPr>
          <a:xfrm>
            <a:off x="480060" y="1131570"/>
            <a:ext cx="8161020" cy="3634740"/>
          </a:xfrm>
          <a:prstGeom prst="rect">
            <a:avLst/>
          </a:prstGeom>
          <a:noFill/>
          <a:ln>
            <a:noFill/>
          </a:ln>
        </p:spPr>
        <p:txBody>
          <a:bodyPr anchorCtr="0" anchor="t" bIns="34275" lIns="68575" spcFirstLastPara="1" rIns="68575" wrap="square" tIns="34275">
            <a:noAutofit/>
          </a:bodyPr>
          <a:lstStyle/>
          <a:p>
            <a:pPr indent="-146050" lvl="0" marL="152400" marR="0" rtl="0" algn="l">
              <a:lnSpc>
                <a:spcPct val="118000"/>
              </a:lnSpc>
              <a:spcBef>
                <a:spcPts val="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Every dataset is the output of a real, mostly hidden process in the world — its data-generating process (DGP): the </a:t>
            </a:r>
            <a:r>
              <a:rPr b="0" i="0" lang="en" sz="1100" u="none" cap="none" strike="noStrike">
                <a:solidFill>
                  <a:srgbClr val="7A2E2E"/>
                </a:solidFill>
                <a:latin typeface="Times New Roman"/>
                <a:ea typeface="Times New Roman"/>
                <a:cs typeface="Times New Roman"/>
                <a:sym typeface="Times New Roman"/>
              </a:rPr>
              <a:t>true recipe</a:t>
            </a:r>
            <a:r>
              <a:rPr b="0" i="0" lang="en" sz="1100" u="none" cap="none" strike="noStrike">
                <a:solidFill>
                  <a:srgbClr val="1A1A1A"/>
                </a:solidFill>
                <a:latin typeface="Times New Roman"/>
                <a:ea typeface="Times New Roman"/>
                <a:cs typeface="Times New Roman"/>
                <a:sym typeface="Times New Roman"/>
              </a:rPr>
              <a:t> for how a variable comes to be.</a:t>
            </a:r>
            <a:endParaRPr b="0" i="0" sz="1100" u="none" cap="none" strike="noStrike">
              <a:solidFill>
                <a:schemeClr val="dk1"/>
              </a:solidFill>
              <a:latin typeface="Calibri"/>
              <a:ea typeface="Calibri"/>
              <a:cs typeface="Calibri"/>
              <a:sym typeface="Calibri"/>
            </a:endParaRPr>
          </a:p>
          <a:p>
            <a:pPr indent="-292100" lvl="1" marL="914400" marR="0" rtl="0" algn="l">
              <a:lnSpc>
                <a:spcPct val="118000"/>
              </a:lnSpc>
              <a:spcBef>
                <a:spcPts val="1000"/>
              </a:spcBef>
              <a:spcAft>
                <a:spcPts val="0"/>
              </a:spcAft>
              <a:buClr>
                <a:srgbClr val="1A1A1A"/>
              </a:buClr>
              <a:buSzPts val="1000"/>
              <a:buFont typeface="Times New Roman"/>
              <a:buChar char="–"/>
            </a:pPr>
            <a:r>
              <a:rPr lang="en" sz="1000">
                <a:solidFill>
                  <a:srgbClr val="1A1A1A"/>
                </a:solidFill>
                <a:latin typeface="Times New Roman"/>
                <a:ea typeface="Times New Roman"/>
                <a:cs typeface="Times New Roman"/>
                <a:sym typeface="Times New Roman"/>
              </a:rPr>
              <a:t>Imagine conceptually that the </a:t>
            </a:r>
            <a:r>
              <a:rPr i="1" lang="en" sz="1000">
                <a:solidFill>
                  <a:srgbClr val="1A1A1A"/>
                </a:solidFill>
                <a:latin typeface="Times New Roman"/>
                <a:ea typeface="Times New Roman"/>
                <a:cs typeface="Times New Roman"/>
                <a:sym typeface="Times New Roman"/>
              </a:rPr>
              <a:t>recipe</a:t>
            </a:r>
            <a:r>
              <a:rPr lang="en" sz="1000">
                <a:solidFill>
                  <a:srgbClr val="1A1A1A"/>
                </a:solidFill>
                <a:latin typeface="Times New Roman"/>
                <a:ea typeface="Times New Roman"/>
                <a:cs typeface="Times New Roman"/>
                <a:sym typeface="Times New Roman"/>
              </a:rPr>
              <a:t> for</a:t>
            </a:r>
            <a:r>
              <a:rPr b="0" i="0" lang="en" sz="1000" u="none" cap="none" strike="noStrike">
                <a:solidFill>
                  <a:srgbClr val="1A1A1A"/>
                </a:solidFill>
                <a:latin typeface="Times New Roman"/>
                <a:ea typeface="Times New Roman"/>
                <a:cs typeface="Times New Roman"/>
                <a:sym typeface="Times New Roman"/>
              </a:rPr>
              <a:t> a heart attack is</a:t>
            </a:r>
            <a:r>
              <a:rPr lang="en" sz="1000">
                <a:solidFill>
                  <a:srgbClr val="1A1A1A"/>
                </a:solidFill>
                <a:latin typeface="Times New Roman"/>
                <a:ea typeface="Times New Roman"/>
                <a:cs typeface="Times New Roman"/>
                <a:sym typeface="Times New Roman"/>
              </a:rPr>
              <a:t> </a:t>
            </a:r>
            <a:r>
              <a:rPr b="0" i="0" lang="en" sz="1000" u="none" cap="none" strike="noStrike">
                <a:solidFill>
                  <a:srgbClr val="1A1A1A"/>
                </a:solidFill>
                <a:latin typeface="Times New Roman"/>
                <a:ea typeface="Times New Roman"/>
                <a:cs typeface="Times New Roman"/>
                <a:sym typeface="Times New Roman"/>
              </a:rPr>
              <a:t>some real combination of {age, genetics, comorbidities, and chance}</a:t>
            </a:r>
            <a:r>
              <a:rPr lang="en" sz="1000">
                <a:solidFill>
                  <a:srgbClr val="1A1A1A"/>
                </a:solidFill>
                <a:latin typeface="Times New Roman"/>
                <a:ea typeface="Times New Roman"/>
                <a:cs typeface="Times New Roman"/>
                <a:sym typeface="Times New Roman"/>
              </a:rPr>
              <a:t> (even though this recipe is probably unknown in reality)</a:t>
            </a:r>
            <a:endParaRPr b="0" i="0" sz="1000" u="none" cap="none" strike="noStrike">
              <a:solidFill>
                <a:schemeClr val="dk1"/>
              </a:solidFill>
              <a:latin typeface="Calibri"/>
              <a:ea typeface="Calibri"/>
              <a:cs typeface="Calibri"/>
              <a:sym typeface="Calibri"/>
            </a:endParaRPr>
          </a:p>
          <a:p>
            <a:pPr indent="-146050" lvl="0" marL="152400" marR="0" rtl="0" algn="l">
              <a:lnSpc>
                <a:spcPct val="118000"/>
              </a:lnSpc>
              <a:spcBef>
                <a:spcPts val="10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For a single cause X and outcome Y, we write that true recipe as:</a:t>
            </a:r>
            <a:endParaRPr b="0" i="0" sz="1100" u="none" cap="none" strike="noStrike">
              <a:solidFill>
                <a:schemeClr val="dk1"/>
              </a:solidFill>
              <a:latin typeface="Calibri"/>
              <a:ea typeface="Calibri"/>
              <a:cs typeface="Calibri"/>
              <a:sym typeface="Calibri"/>
            </a:endParaRPr>
          </a:p>
          <a:p>
            <a:pPr indent="0" lvl="0" marL="3200400" marR="0" rtl="0" algn="l">
              <a:lnSpc>
                <a:spcPct val="118000"/>
              </a:lnSpc>
              <a:spcBef>
                <a:spcPts val="1300"/>
              </a:spcBef>
              <a:spcAft>
                <a:spcPts val="0"/>
              </a:spcAft>
              <a:buClr>
                <a:srgbClr val="1B2A4A"/>
              </a:buClr>
              <a:buSzPts val="1400"/>
              <a:buFont typeface="Times New Roman"/>
              <a:buNone/>
            </a:pPr>
            <a:r>
              <a:rPr b="0" i="1" lang="en" sz="1400" u="none" cap="none" strike="noStrike">
                <a:solidFill>
                  <a:srgbClr val="1B2A4A"/>
                </a:solidFill>
                <a:latin typeface="Times New Roman"/>
                <a:ea typeface="Times New Roman"/>
                <a:cs typeface="Times New Roman"/>
                <a:sym typeface="Times New Roman"/>
              </a:rPr>
              <a:t>Y  =  f(X)  +  e</a:t>
            </a:r>
            <a:endParaRPr b="0" i="0" sz="1100" u="none" cap="none" strike="noStrike">
              <a:solidFill>
                <a:schemeClr val="dk1"/>
              </a:solidFill>
              <a:latin typeface="Calibri"/>
              <a:ea typeface="Calibri"/>
              <a:cs typeface="Calibri"/>
              <a:sym typeface="Calibri"/>
            </a:endParaRPr>
          </a:p>
          <a:p>
            <a:pPr indent="-298450" lvl="3" marL="1828800" marR="0" rtl="0" algn="l">
              <a:lnSpc>
                <a:spcPct val="118000"/>
              </a:lnSpc>
              <a:spcBef>
                <a:spcPts val="5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f(X) is the structural (causal) part; e is every other influence on Y.</a:t>
            </a:r>
            <a:endParaRPr b="0" i="0" sz="1100" u="none" cap="none" strike="noStrike">
              <a:solidFill>
                <a:schemeClr val="dk1"/>
              </a:solidFill>
              <a:latin typeface="Calibri"/>
              <a:ea typeface="Calibri"/>
              <a:cs typeface="Calibri"/>
              <a:sym typeface="Calibri"/>
            </a:endParaRPr>
          </a:p>
          <a:p>
            <a:pPr indent="-146050" lvl="0" marL="152400" marR="0" rtl="0" algn="l">
              <a:lnSpc>
                <a:spcPct val="118000"/>
              </a:lnSpc>
              <a:spcBef>
                <a:spcPts val="1000"/>
              </a:spcBef>
              <a:spcAft>
                <a:spcPts val="0"/>
              </a:spcAft>
              <a:buClr>
                <a:srgbClr val="7A2E2E"/>
              </a:buClr>
              <a:buSzPts val="1100"/>
              <a:buFont typeface="Times New Roman"/>
              <a:buChar char="▸"/>
            </a:pPr>
            <a:r>
              <a:rPr lang="en" sz="1100">
                <a:solidFill>
                  <a:srgbClr val="7A2E2E"/>
                </a:solidFill>
                <a:latin typeface="Times New Roman"/>
                <a:ea typeface="Times New Roman"/>
                <a:cs typeface="Times New Roman"/>
                <a:sym typeface="Times New Roman"/>
              </a:rPr>
              <a:t>The coefficient</a:t>
            </a:r>
            <a:r>
              <a:rPr b="0" i="0" lang="en" sz="1100" u="none" cap="none" strike="noStrike">
                <a:solidFill>
                  <a:srgbClr val="7A2E2E"/>
                </a:solidFill>
                <a:latin typeface="Times New Roman"/>
                <a:ea typeface="Times New Roman"/>
                <a:cs typeface="Times New Roman"/>
                <a:sym typeface="Times New Roman"/>
              </a:rPr>
              <a:t> β inside </a:t>
            </a:r>
            <a:r>
              <a:rPr lang="en" sz="1100">
                <a:solidFill>
                  <a:srgbClr val="7A2E2E"/>
                </a:solidFill>
                <a:latin typeface="Times New Roman"/>
                <a:ea typeface="Times New Roman"/>
                <a:cs typeface="Times New Roman"/>
                <a:sym typeface="Times New Roman"/>
              </a:rPr>
              <a:t>of </a:t>
            </a:r>
            <a:r>
              <a:rPr i="1" lang="en" sz="1100">
                <a:solidFill>
                  <a:srgbClr val="7A2E2E"/>
                </a:solidFill>
                <a:latin typeface="Times New Roman"/>
                <a:ea typeface="Times New Roman"/>
                <a:cs typeface="Times New Roman"/>
                <a:sym typeface="Times New Roman"/>
              </a:rPr>
              <a:t>f</a:t>
            </a:r>
            <a:r>
              <a:rPr b="0" i="0" lang="en" sz="1100" u="none" cap="none" strike="noStrike">
                <a:solidFill>
                  <a:srgbClr val="7A2E2E"/>
                </a:solidFill>
                <a:latin typeface="Times New Roman"/>
                <a:ea typeface="Times New Roman"/>
                <a:cs typeface="Times New Roman"/>
                <a:sym typeface="Times New Roman"/>
              </a:rPr>
              <a:t>, is a fact about the world — the </a:t>
            </a:r>
            <a:r>
              <a:rPr lang="en" sz="1100">
                <a:solidFill>
                  <a:srgbClr val="7A2E2E"/>
                </a:solidFill>
                <a:latin typeface="Times New Roman"/>
                <a:ea typeface="Times New Roman"/>
                <a:cs typeface="Times New Roman"/>
                <a:sym typeface="Times New Roman"/>
              </a:rPr>
              <a:t>relationship between X and Y that we are trying to learn</a:t>
            </a:r>
            <a:r>
              <a:rPr b="0" i="0" lang="en" sz="1100" u="none" cap="none" strike="noStrike">
                <a:solidFill>
                  <a:srgbClr val="7A2E2E"/>
                </a:solidFill>
                <a:latin typeface="Times New Roman"/>
                <a:ea typeface="Times New Roman"/>
                <a:cs typeface="Times New Roman"/>
                <a:sym typeface="Times New Roman"/>
              </a:rPr>
              <a:t>. </a:t>
            </a:r>
            <a:endParaRPr b="0" i="0" sz="1100" u="none" cap="none" strike="noStrike">
              <a:solidFill>
                <a:srgbClr val="7A2E2E"/>
              </a:solidFill>
              <a:latin typeface="Times New Roman"/>
              <a:ea typeface="Times New Roman"/>
              <a:cs typeface="Times New Roman"/>
              <a:sym typeface="Times New Roman"/>
            </a:endParaRPr>
          </a:p>
          <a:p>
            <a:pPr indent="-146050" lvl="0" marL="152400" marR="0" rtl="0" algn="l">
              <a:lnSpc>
                <a:spcPct val="118000"/>
              </a:lnSpc>
              <a:spcBef>
                <a:spcPts val="1000"/>
              </a:spcBef>
              <a:spcAft>
                <a:spcPts val="0"/>
              </a:spcAft>
              <a:buClr>
                <a:schemeClr val="dk1"/>
              </a:buClr>
              <a:buSzPts val="1100"/>
              <a:buFont typeface="Times New Roman"/>
              <a:buChar char="▸"/>
            </a:pPr>
            <a:r>
              <a:rPr b="0" i="0" lang="en" sz="1100" u="none" cap="none" strike="noStrike">
                <a:solidFill>
                  <a:schemeClr val="dk1"/>
                </a:solidFill>
                <a:latin typeface="Times New Roman"/>
                <a:ea typeface="Times New Roman"/>
                <a:cs typeface="Times New Roman"/>
                <a:sym typeface="Times New Roman"/>
              </a:rPr>
              <a:t>We never see f directly: we only ever see a sample the DGP happened to produce</a:t>
            </a:r>
            <a:r>
              <a:rPr lang="en" sz="1100">
                <a:solidFill>
                  <a:schemeClr val="dk1"/>
                </a:solidFill>
                <a:latin typeface="Times New Roman"/>
                <a:ea typeface="Times New Roman"/>
                <a:cs typeface="Times New Roman"/>
                <a:sym typeface="Times New Roman"/>
              </a:rPr>
              <a:t>, so we </a:t>
            </a:r>
            <a:r>
              <a:rPr lang="en" sz="1100">
                <a:solidFill>
                  <a:schemeClr val="dk1"/>
                </a:solidFill>
                <a:latin typeface="Times New Roman"/>
                <a:ea typeface="Times New Roman"/>
                <a:cs typeface="Times New Roman"/>
                <a:sym typeface="Times New Roman"/>
              </a:rPr>
              <a:t>estimate</a:t>
            </a:r>
            <a:r>
              <a:rPr lang="en" sz="1100">
                <a:solidFill>
                  <a:schemeClr val="dk1"/>
                </a:solidFill>
                <a:latin typeface="Times New Roman"/>
                <a:ea typeface="Times New Roman"/>
                <a:cs typeface="Times New Roman"/>
                <a:sym typeface="Times New Roman"/>
              </a:rPr>
              <a:t> B̂</a:t>
            </a:r>
            <a:endParaRPr sz="1100">
              <a:solidFill>
                <a:schemeClr val="dk1"/>
              </a:solidFill>
              <a:latin typeface="Times New Roman"/>
              <a:ea typeface="Times New Roman"/>
              <a:cs typeface="Times New Roman"/>
              <a:sym typeface="Times New Roman"/>
            </a:endParaRPr>
          </a:p>
          <a:p>
            <a:pPr indent="-146050" lvl="0" marL="152400" marR="0" rtl="0" algn="l">
              <a:lnSpc>
                <a:spcPct val="118000"/>
              </a:lnSpc>
              <a:spcBef>
                <a:spcPts val="100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W</a:t>
            </a:r>
            <a:r>
              <a:rPr lang="en" sz="1100">
                <a:solidFill>
                  <a:schemeClr val="dk1"/>
                </a:solidFill>
                <a:latin typeface="Times New Roman"/>
                <a:ea typeface="Times New Roman"/>
                <a:cs typeface="Times New Roman"/>
                <a:sym typeface="Times New Roman"/>
              </a:rPr>
              <a:t>hen the expectation value of B̂ equates to the real β from the DGP, then we have a causal estimate.</a:t>
            </a:r>
            <a:endParaRPr sz="1100">
              <a:solidFill>
                <a:schemeClr val="dk1"/>
              </a:solidFill>
              <a:latin typeface="Times New Roman"/>
              <a:ea typeface="Times New Roman"/>
              <a:cs typeface="Times New Roman"/>
              <a:sym typeface="Times New Roman"/>
            </a:endParaRPr>
          </a:p>
          <a:p>
            <a:pPr indent="-146050" lvl="0" marL="152400" marR="0" rtl="0" algn="l">
              <a:lnSpc>
                <a:spcPct val="118000"/>
              </a:lnSpc>
              <a:spcBef>
                <a:spcPts val="1000"/>
              </a:spcBef>
              <a:spcAft>
                <a:spcPts val="0"/>
              </a:spcAft>
              <a:buClr>
                <a:srgbClr val="7A2E2E"/>
              </a:buClr>
              <a:buSzPts val="1100"/>
              <a:buFont typeface="Times New Roman"/>
              <a:buChar char="▸"/>
            </a:pPr>
            <a:r>
              <a:rPr lang="en" sz="1100">
                <a:solidFill>
                  <a:srgbClr val="1A1A1A"/>
                </a:solidFill>
                <a:latin typeface="Times New Roman"/>
                <a:ea typeface="Times New Roman"/>
                <a:cs typeface="Times New Roman"/>
                <a:sym typeface="Times New Roman"/>
              </a:rPr>
              <a:t>That occurs when </a:t>
            </a:r>
            <a:r>
              <a:rPr lang="en" sz="1100">
                <a:solidFill>
                  <a:srgbClr val="7A2E2E"/>
                </a:solidFill>
                <a:latin typeface="Times New Roman"/>
                <a:ea typeface="Times New Roman"/>
                <a:cs typeface="Times New Roman"/>
                <a:sym typeface="Times New Roman"/>
              </a:rPr>
              <a:t>E[e | X] = 0</a:t>
            </a:r>
            <a:r>
              <a:rPr lang="en" sz="1100">
                <a:solidFill>
                  <a:srgbClr val="1A1A1A"/>
                </a:solidFill>
                <a:latin typeface="Times New Roman"/>
                <a:ea typeface="Times New Roman"/>
                <a:cs typeface="Times New Roman"/>
                <a:sym typeface="Times New Roman"/>
              </a:rPr>
              <a:t> (the </a:t>
            </a:r>
            <a:r>
              <a:rPr lang="en" sz="1100">
                <a:solidFill>
                  <a:srgbClr val="7A2E2E"/>
                </a:solidFill>
                <a:latin typeface="Times New Roman"/>
                <a:ea typeface="Times New Roman"/>
                <a:cs typeface="Times New Roman"/>
                <a:sym typeface="Times New Roman"/>
              </a:rPr>
              <a:t>Conditional Independence Assumption</a:t>
            </a:r>
            <a:r>
              <a:rPr lang="en" sz="1100">
                <a:solidFill>
                  <a:srgbClr val="1A1A1A"/>
                </a:solidFill>
                <a:latin typeface="Times New Roman"/>
                <a:ea typeface="Times New Roman"/>
                <a:cs typeface="Times New Roman"/>
                <a:sym typeface="Times New Roman"/>
              </a:rPr>
              <a:t> ←→ CIA)</a:t>
            </a:r>
            <a:endParaRPr sz="1100">
              <a:solidFill>
                <a:srgbClr val="1A1A1A"/>
              </a:solidFill>
              <a:latin typeface="Times New Roman"/>
              <a:ea typeface="Times New Roman"/>
              <a:cs typeface="Times New Roman"/>
              <a:sym typeface="Times New Roman"/>
            </a:endParaRPr>
          </a:p>
          <a:p>
            <a:pPr indent="-298450" lvl="1" marL="914400" marR="0" rtl="0" algn="l">
              <a:lnSpc>
                <a:spcPct val="118000"/>
              </a:lnSpc>
              <a:spcBef>
                <a:spcPts val="1000"/>
              </a:spcBef>
              <a:spcAft>
                <a:spcPts val="0"/>
              </a:spcAft>
              <a:buClr>
                <a:srgbClr val="1A1A1A"/>
              </a:buClr>
              <a:buSzPts val="1100"/>
              <a:buFont typeface="Times New Roman"/>
              <a:buChar char="–"/>
            </a:pPr>
            <a:r>
              <a:rPr lang="en" sz="1100">
                <a:solidFill>
                  <a:srgbClr val="1A1A1A"/>
                </a:solidFill>
                <a:latin typeface="Times New Roman"/>
                <a:ea typeface="Times New Roman"/>
                <a:cs typeface="Times New Roman"/>
                <a:sym typeface="Times New Roman"/>
              </a:rPr>
              <a:t>Intuitively: “The treatment X is as good as randomly assigned”</a:t>
            </a:r>
            <a:endParaRPr sz="1100">
              <a:solidFill>
                <a:srgbClr val="1A1A1A"/>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1" name="Shape 641"/>
        <p:cNvGrpSpPr/>
        <p:nvPr/>
      </p:nvGrpSpPr>
      <p:grpSpPr>
        <a:xfrm>
          <a:off x="0" y="0"/>
          <a:ext cx="0" cy="0"/>
          <a:chOff x="0" y="0"/>
          <a:chExt cx="0" cy="0"/>
        </a:xfrm>
      </p:grpSpPr>
      <p:sp>
        <p:nvSpPr>
          <p:cNvPr id="642" name="Google Shape;642;p96"/>
          <p:cNvSpPr/>
          <p:nvPr/>
        </p:nvSpPr>
        <p:spPr>
          <a:xfrm>
            <a:off x="480060" y="240030"/>
            <a:ext cx="68580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2. THE DATA-GENERATING PROCESS</a:t>
            </a:r>
            <a:endParaRPr b="0" i="0" sz="800" u="none" cap="none" strike="noStrike">
              <a:solidFill>
                <a:schemeClr val="dk1"/>
              </a:solidFill>
              <a:latin typeface="Calibri"/>
              <a:ea typeface="Calibri"/>
              <a:cs typeface="Calibri"/>
              <a:sym typeface="Calibri"/>
            </a:endParaRPr>
          </a:p>
        </p:txBody>
      </p:sp>
      <p:sp>
        <p:nvSpPr>
          <p:cNvPr id="643" name="Google Shape;643;p96"/>
          <p:cNvSpPr/>
          <p:nvPr/>
        </p:nvSpPr>
        <p:spPr>
          <a:xfrm>
            <a:off x="480060" y="466344"/>
            <a:ext cx="81610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2.</a:t>
            </a:r>
            <a:r>
              <a:rPr b="1" lang="en" sz="1900">
                <a:solidFill>
                  <a:srgbClr val="7A2E2E"/>
                </a:solidFill>
                <a:latin typeface="Times New Roman"/>
                <a:ea typeface="Times New Roman"/>
                <a:cs typeface="Times New Roman"/>
                <a:sym typeface="Times New Roman"/>
              </a:rPr>
              <a:t>2</a:t>
            </a:r>
            <a:r>
              <a:rPr b="1" i="0" lang="en" sz="1900" u="none" cap="none" strike="noStrike">
                <a:solidFill>
                  <a:srgbClr val="7A2E2E"/>
                </a:solidFill>
                <a:latin typeface="Times New Roman"/>
                <a:ea typeface="Times New Roman"/>
                <a:cs typeface="Times New Roman"/>
                <a:sym typeface="Times New Roman"/>
              </a:rPr>
              <a:t>  </a:t>
            </a:r>
            <a:r>
              <a:rPr b="1" i="0" lang="en" sz="1900" u="none" cap="none" strike="noStrike">
                <a:solidFill>
                  <a:srgbClr val="1B2A4A"/>
                </a:solidFill>
                <a:latin typeface="Times New Roman"/>
                <a:ea typeface="Times New Roman"/>
                <a:cs typeface="Times New Roman"/>
                <a:sym typeface="Times New Roman"/>
              </a:rPr>
              <a:t>Causal Inference vs. Predictive Modeling</a:t>
            </a:r>
            <a:endParaRPr b="0" i="0" sz="1900" u="none" cap="none" strike="noStrike">
              <a:solidFill>
                <a:schemeClr val="dk1"/>
              </a:solidFill>
              <a:latin typeface="Calibri"/>
              <a:ea typeface="Calibri"/>
              <a:cs typeface="Calibri"/>
              <a:sym typeface="Calibri"/>
            </a:endParaRPr>
          </a:p>
        </p:txBody>
      </p:sp>
      <p:cxnSp>
        <p:nvCxnSpPr>
          <p:cNvPr id="644" name="Google Shape;644;p96"/>
          <p:cNvCxnSpPr/>
          <p:nvPr/>
        </p:nvCxnSpPr>
        <p:spPr>
          <a:xfrm>
            <a:off x="480060" y="905256"/>
            <a:ext cx="8181594" cy="0"/>
          </a:xfrm>
          <a:prstGeom prst="straightConnector1">
            <a:avLst/>
          </a:prstGeom>
          <a:noFill/>
          <a:ln cap="flat" cmpd="sng" w="15875">
            <a:solidFill>
              <a:srgbClr val="1B2A4A"/>
            </a:solidFill>
            <a:prstDash val="solid"/>
            <a:round/>
            <a:headEnd len="sm" w="sm" type="none"/>
            <a:tailEnd len="sm" w="sm" type="none"/>
          </a:ln>
        </p:spPr>
      </p:cxnSp>
      <p:cxnSp>
        <p:nvCxnSpPr>
          <p:cNvPr id="645" name="Google Shape;645;p96"/>
          <p:cNvCxnSpPr/>
          <p:nvPr/>
        </p:nvCxnSpPr>
        <p:spPr>
          <a:xfrm>
            <a:off x="480060" y="4766310"/>
            <a:ext cx="8181594" cy="0"/>
          </a:xfrm>
          <a:prstGeom prst="straightConnector1">
            <a:avLst/>
          </a:prstGeom>
          <a:noFill/>
          <a:ln cap="flat" cmpd="sng" w="9525">
            <a:solidFill>
              <a:srgbClr val="C7CCDA"/>
            </a:solidFill>
            <a:prstDash val="solid"/>
            <a:round/>
            <a:headEnd len="sm" w="sm" type="none"/>
            <a:tailEnd len="sm" w="sm" type="none"/>
          </a:ln>
        </p:spPr>
      </p:cxnSp>
      <p:sp>
        <p:nvSpPr>
          <p:cNvPr id="646" name="Google Shape;646;p96"/>
          <p:cNvSpPr/>
          <p:nvPr/>
        </p:nvSpPr>
        <p:spPr>
          <a:xfrm>
            <a:off x="480060" y="4828032"/>
            <a:ext cx="27432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647" name="Google Shape;647;p96"/>
          <p:cNvSpPr/>
          <p:nvPr/>
        </p:nvSpPr>
        <p:spPr>
          <a:xfrm>
            <a:off x="2880360" y="4828032"/>
            <a:ext cx="342900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2. The Data-Generating Process</a:t>
            </a:r>
            <a:endParaRPr b="0" i="0" sz="700" u="none" cap="none" strike="noStrike">
              <a:solidFill>
                <a:schemeClr val="dk1"/>
              </a:solidFill>
              <a:latin typeface="Calibri"/>
              <a:ea typeface="Calibri"/>
              <a:cs typeface="Calibri"/>
              <a:sym typeface="Calibri"/>
            </a:endParaRPr>
          </a:p>
        </p:txBody>
      </p:sp>
      <p:sp>
        <p:nvSpPr>
          <p:cNvPr id="648" name="Google Shape;648;p96"/>
          <p:cNvSpPr/>
          <p:nvPr/>
        </p:nvSpPr>
        <p:spPr>
          <a:xfrm>
            <a:off x="8229600" y="4828032"/>
            <a:ext cx="432054"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lang="en" sz="700">
                <a:solidFill>
                  <a:srgbClr val="5B5F6B"/>
                </a:solidFill>
                <a:latin typeface="Times New Roman"/>
                <a:ea typeface="Times New Roman"/>
                <a:cs typeface="Times New Roman"/>
                <a:sym typeface="Times New Roman"/>
              </a:rPr>
              <a:t>9</a:t>
            </a:r>
            <a:endParaRPr b="0" i="0" sz="700" u="none" cap="none" strike="noStrike">
              <a:solidFill>
                <a:schemeClr val="dk1"/>
              </a:solidFill>
              <a:latin typeface="Calibri"/>
              <a:ea typeface="Calibri"/>
              <a:cs typeface="Calibri"/>
              <a:sym typeface="Calibri"/>
            </a:endParaRPr>
          </a:p>
        </p:txBody>
      </p:sp>
      <p:sp>
        <p:nvSpPr>
          <p:cNvPr id="649" name="Google Shape;649;p96"/>
          <p:cNvSpPr/>
          <p:nvPr/>
        </p:nvSpPr>
        <p:spPr>
          <a:xfrm>
            <a:off x="480060" y="1097280"/>
            <a:ext cx="380619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200"/>
              <a:buFont typeface="Times New Roman"/>
              <a:buNone/>
            </a:pPr>
            <a:r>
              <a:rPr b="1" i="0" lang="en" sz="1200" u="none" cap="none" strike="noStrike">
                <a:solidFill>
                  <a:srgbClr val="1B2A4A"/>
                </a:solidFill>
                <a:latin typeface="Times New Roman"/>
                <a:ea typeface="Times New Roman"/>
                <a:cs typeface="Times New Roman"/>
                <a:sym typeface="Times New Roman"/>
              </a:rPr>
              <a:t>Prediction</a:t>
            </a:r>
            <a:endParaRPr b="0" i="0" sz="1200" u="none" cap="none" strike="noStrike">
              <a:solidFill>
                <a:schemeClr val="dk1"/>
              </a:solidFill>
              <a:latin typeface="Calibri"/>
              <a:ea typeface="Calibri"/>
              <a:cs typeface="Calibri"/>
              <a:sym typeface="Calibri"/>
            </a:endParaRPr>
          </a:p>
        </p:txBody>
      </p:sp>
      <p:sp>
        <p:nvSpPr>
          <p:cNvPr id="650" name="Google Shape;650;p96"/>
          <p:cNvSpPr/>
          <p:nvPr/>
        </p:nvSpPr>
        <p:spPr>
          <a:xfrm>
            <a:off x="480060" y="1371600"/>
            <a:ext cx="3806190" cy="1303020"/>
          </a:xfrm>
          <a:prstGeom prst="rect">
            <a:avLst/>
          </a:prstGeom>
          <a:noFill/>
          <a:ln>
            <a:noFill/>
          </a:ln>
        </p:spPr>
        <p:txBody>
          <a:bodyPr anchorCtr="0" anchor="t" bIns="34275" lIns="68575" spcFirstLastPara="1" rIns="68575" wrap="square" tIns="34275">
            <a:noAutofit/>
          </a:bodyPr>
          <a:lstStyle/>
          <a:p>
            <a:pPr indent="-146050" lvl="0" marL="152400" marR="0" rtl="0" algn="l">
              <a:lnSpc>
                <a:spcPct val="118000"/>
              </a:lnSpc>
              <a:spcBef>
                <a:spcPts val="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Asks: given X, what’s my best guess for Y?</a:t>
            </a:r>
            <a:endParaRPr b="0" i="0" sz="900" u="none" cap="none" strike="noStrike">
              <a:solidFill>
                <a:schemeClr val="dk1"/>
              </a:solidFill>
              <a:latin typeface="Calibri"/>
              <a:ea typeface="Calibri"/>
              <a:cs typeface="Calibri"/>
              <a:sym typeface="Calibri"/>
            </a:endParaRPr>
          </a:p>
          <a:p>
            <a:pPr indent="-146050" lvl="0" marL="152400" marR="0" rtl="0" algn="l">
              <a:lnSpc>
                <a:spcPct val="118000"/>
              </a:lnSpc>
              <a:spcBef>
                <a:spcPts val="50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Target: E[Y | X] — the best-fitting line.</a:t>
            </a:r>
            <a:endParaRPr b="0" i="0" sz="900" u="none" cap="none" strike="noStrike">
              <a:solidFill>
                <a:schemeClr val="dk1"/>
              </a:solidFill>
              <a:latin typeface="Calibri"/>
              <a:ea typeface="Calibri"/>
              <a:cs typeface="Calibri"/>
              <a:sym typeface="Calibri"/>
            </a:endParaRPr>
          </a:p>
          <a:p>
            <a:pPr indent="-146050" lvl="0" marL="152400" marR="0" rtl="0" algn="l">
              <a:lnSpc>
                <a:spcPct val="118000"/>
              </a:lnSpc>
              <a:spcBef>
                <a:spcPts val="50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What matters: the fitted value Ŷ.</a:t>
            </a:r>
            <a:endParaRPr b="0" i="0" sz="900" u="none" cap="none" strike="noStrike">
              <a:solidFill>
                <a:schemeClr val="dk1"/>
              </a:solidFill>
              <a:latin typeface="Calibri"/>
              <a:ea typeface="Calibri"/>
              <a:cs typeface="Calibri"/>
              <a:sym typeface="Calibri"/>
            </a:endParaRPr>
          </a:p>
          <a:p>
            <a:pPr indent="-146050" lvl="0" marL="152400" marR="0" rtl="0" algn="l">
              <a:lnSpc>
                <a:spcPct val="118000"/>
              </a:lnSpc>
              <a:spcBef>
                <a:spcPts val="50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A biased βˆ is not a problem — the goal is only to trace the observed X–Y relationship.</a:t>
            </a:r>
            <a:endParaRPr b="0" i="0" sz="900" u="none" cap="none" strike="noStrike">
              <a:solidFill>
                <a:schemeClr val="dk1"/>
              </a:solidFill>
              <a:latin typeface="Calibri"/>
              <a:ea typeface="Calibri"/>
              <a:cs typeface="Calibri"/>
              <a:sym typeface="Calibri"/>
            </a:endParaRPr>
          </a:p>
        </p:txBody>
      </p:sp>
      <p:sp>
        <p:nvSpPr>
          <p:cNvPr id="651" name="Google Shape;651;p96"/>
          <p:cNvSpPr/>
          <p:nvPr/>
        </p:nvSpPr>
        <p:spPr>
          <a:xfrm>
            <a:off x="480060" y="2708910"/>
            <a:ext cx="380619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7A2E2E"/>
              </a:buClr>
              <a:buSzPts val="1200"/>
              <a:buFont typeface="Times New Roman"/>
              <a:buNone/>
            </a:pPr>
            <a:r>
              <a:rPr b="1" i="0" lang="en" sz="1200" u="none" cap="none" strike="noStrike">
                <a:solidFill>
                  <a:srgbClr val="7A2E2E"/>
                </a:solidFill>
                <a:latin typeface="Times New Roman"/>
                <a:ea typeface="Times New Roman"/>
                <a:cs typeface="Times New Roman"/>
                <a:sym typeface="Times New Roman"/>
              </a:rPr>
              <a:t>Causation</a:t>
            </a:r>
            <a:endParaRPr b="0" i="0" sz="1200" u="none" cap="none" strike="noStrike">
              <a:solidFill>
                <a:schemeClr val="dk1"/>
              </a:solidFill>
              <a:latin typeface="Calibri"/>
              <a:ea typeface="Calibri"/>
              <a:cs typeface="Calibri"/>
              <a:sym typeface="Calibri"/>
            </a:endParaRPr>
          </a:p>
        </p:txBody>
      </p:sp>
      <p:sp>
        <p:nvSpPr>
          <p:cNvPr id="652" name="Google Shape;652;p96"/>
          <p:cNvSpPr/>
          <p:nvPr/>
        </p:nvSpPr>
        <p:spPr>
          <a:xfrm>
            <a:off x="480060" y="2983230"/>
            <a:ext cx="3806190" cy="1303020"/>
          </a:xfrm>
          <a:prstGeom prst="rect">
            <a:avLst/>
          </a:prstGeom>
          <a:noFill/>
          <a:ln>
            <a:noFill/>
          </a:ln>
        </p:spPr>
        <p:txBody>
          <a:bodyPr anchorCtr="0" anchor="t" bIns="34275" lIns="68575" spcFirstLastPara="1" rIns="68575" wrap="square" tIns="34275">
            <a:noAutofit/>
          </a:bodyPr>
          <a:lstStyle/>
          <a:p>
            <a:pPr indent="-146050" lvl="0" marL="152400" marR="0" rtl="0" algn="l">
              <a:lnSpc>
                <a:spcPct val="118000"/>
              </a:lnSpc>
              <a:spcBef>
                <a:spcPts val="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Asks: if I reach in and change X, how does Y move?</a:t>
            </a:r>
            <a:endParaRPr b="0" i="0" sz="900" u="none" cap="none" strike="noStrike">
              <a:solidFill>
                <a:schemeClr val="dk1"/>
              </a:solidFill>
              <a:latin typeface="Calibri"/>
              <a:ea typeface="Calibri"/>
              <a:cs typeface="Calibri"/>
              <a:sym typeface="Calibri"/>
            </a:endParaRPr>
          </a:p>
          <a:p>
            <a:pPr indent="-146050" lvl="0" marL="152400" marR="0" rtl="0" algn="l">
              <a:lnSpc>
                <a:spcPct val="118000"/>
              </a:lnSpc>
              <a:spcBef>
                <a:spcPts val="50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Target: the structural slope β.</a:t>
            </a:r>
            <a:endParaRPr b="0" i="0" sz="900" u="none" cap="none" strike="noStrike">
              <a:solidFill>
                <a:schemeClr val="dk1"/>
              </a:solidFill>
              <a:latin typeface="Calibri"/>
              <a:ea typeface="Calibri"/>
              <a:cs typeface="Calibri"/>
              <a:sym typeface="Calibri"/>
            </a:endParaRPr>
          </a:p>
          <a:p>
            <a:pPr indent="-146050" lvl="0" marL="152400" marR="0" rtl="0" algn="l">
              <a:lnSpc>
                <a:spcPct val="118000"/>
              </a:lnSpc>
              <a:spcBef>
                <a:spcPts val="50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What matters: the coefficient βˆ itself.</a:t>
            </a:r>
            <a:endParaRPr b="0" i="0" sz="900" u="none" cap="none" strike="noStrike">
              <a:solidFill>
                <a:schemeClr val="dk1"/>
              </a:solidFill>
              <a:latin typeface="Calibri"/>
              <a:ea typeface="Calibri"/>
              <a:cs typeface="Calibri"/>
              <a:sym typeface="Calibri"/>
            </a:endParaRPr>
          </a:p>
          <a:p>
            <a:pPr indent="-146050" lvl="0" marL="152400" marR="0" rtl="0" algn="l">
              <a:lnSpc>
                <a:spcPct val="118000"/>
              </a:lnSpc>
              <a:spcBef>
                <a:spcPts val="500"/>
              </a:spcBef>
              <a:spcAft>
                <a:spcPts val="0"/>
              </a:spcAft>
              <a:buClr>
                <a:srgbClr val="1A1A1A"/>
              </a:buClr>
              <a:buSzPts val="900"/>
              <a:buFont typeface="Times New Roman"/>
              <a:buChar char="▸"/>
            </a:pPr>
            <a:r>
              <a:rPr b="0" i="0" lang="en" sz="900" u="none" cap="none" strike="noStrike">
                <a:solidFill>
                  <a:srgbClr val="1A1A1A"/>
                </a:solidFill>
                <a:latin typeface="Times New Roman"/>
                <a:ea typeface="Times New Roman"/>
                <a:cs typeface="Times New Roman"/>
                <a:sym typeface="Times New Roman"/>
              </a:rPr>
              <a:t>Whether βˆ is a trustworthy stand-in for β — not just a good fit to this sample.</a:t>
            </a:r>
            <a:endParaRPr b="0" i="0" sz="900" u="none" cap="none" strike="noStrike">
              <a:solidFill>
                <a:schemeClr val="dk1"/>
              </a:solidFill>
              <a:latin typeface="Calibri"/>
              <a:ea typeface="Calibri"/>
              <a:cs typeface="Calibri"/>
              <a:sym typeface="Calibri"/>
            </a:endParaRPr>
          </a:p>
        </p:txBody>
      </p:sp>
      <p:cxnSp>
        <p:nvCxnSpPr>
          <p:cNvPr id="653" name="Google Shape;653;p96"/>
          <p:cNvCxnSpPr/>
          <p:nvPr/>
        </p:nvCxnSpPr>
        <p:spPr>
          <a:xfrm>
            <a:off x="480060" y="4354830"/>
            <a:ext cx="4114800" cy="0"/>
          </a:xfrm>
          <a:prstGeom prst="straightConnector1">
            <a:avLst/>
          </a:prstGeom>
          <a:noFill/>
          <a:ln cap="flat" cmpd="sng" w="9525">
            <a:solidFill>
              <a:srgbClr val="C7CCDA"/>
            </a:solidFill>
            <a:prstDash val="solid"/>
            <a:round/>
            <a:headEnd len="sm" w="sm" type="none"/>
            <a:tailEnd len="sm" w="sm" type="none"/>
          </a:ln>
        </p:spPr>
      </p:cxnSp>
      <p:sp>
        <p:nvSpPr>
          <p:cNvPr id="654" name="Google Shape;654;p96"/>
          <p:cNvSpPr/>
          <p:nvPr/>
        </p:nvSpPr>
        <p:spPr>
          <a:xfrm>
            <a:off x="480050" y="4389113"/>
            <a:ext cx="42561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5B5F6B"/>
              </a:buClr>
              <a:buSzPts val="800"/>
              <a:buFont typeface="Times New Roman"/>
              <a:buNone/>
            </a:pPr>
            <a:r>
              <a:rPr i="1" lang="en" sz="800">
                <a:solidFill>
                  <a:srgbClr val="5B5F6B"/>
                </a:solidFill>
                <a:latin typeface="Times New Roman"/>
                <a:ea typeface="Times New Roman"/>
                <a:cs typeface="Times New Roman"/>
                <a:sym typeface="Times New Roman"/>
              </a:rPr>
              <a:t>Predictive and Causal modeling coincide when E[Y | X] = f(X) + E[e | X] = f(x) , i.e. E[e | X] = 0</a:t>
            </a:r>
            <a:endParaRPr b="0" i="0" sz="800" u="none" cap="none" strike="noStrike">
              <a:solidFill>
                <a:schemeClr val="dk1"/>
              </a:solidFill>
              <a:latin typeface="Calibri"/>
              <a:ea typeface="Calibri"/>
              <a:cs typeface="Calibri"/>
              <a:sym typeface="Calibri"/>
            </a:endParaRPr>
          </a:p>
        </p:txBody>
      </p:sp>
      <p:pic>
        <p:nvPicPr>
          <p:cNvPr descr="/home/claude/deck/cia_panel2.png" id="655" name="Google Shape;655;p96"/>
          <p:cNvPicPr preferRelativeResize="0"/>
          <p:nvPr/>
        </p:nvPicPr>
        <p:blipFill rotWithShape="1">
          <a:blip r:embed="rId3">
            <a:alphaModFix/>
          </a:blip>
          <a:srcRect b="0" l="0" r="0" t="0"/>
          <a:stretch/>
        </p:blipFill>
        <p:spPr>
          <a:xfrm>
            <a:off x="5074053" y="1097274"/>
            <a:ext cx="3587597" cy="3188975"/>
          </a:xfrm>
          <a:prstGeom prst="rect">
            <a:avLst/>
          </a:prstGeom>
          <a:noFill/>
          <a:ln>
            <a:noFill/>
          </a:ln>
        </p:spPr>
      </p:pic>
      <p:sp>
        <p:nvSpPr>
          <p:cNvPr id="656" name="Google Shape;656;p96"/>
          <p:cNvSpPr/>
          <p:nvPr/>
        </p:nvSpPr>
        <p:spPr>
          <a:xfrm>
            <a:off x="5404104" y="4293101"/>
            <a:ext cx="32577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5B5F6B"/>
              </a:buClr>
              <a:buSzPts val="800"/>
              <a:buFont typeface="Times New Roman"/>
              <a:buNone/>
            </a:pPr>
            <a:r>
              <a:rPr b="0" i="1" lang="en" sz="800" u="none" cap="none" strike="noStrike">
                <a:solidFill>
                  <a:srgbClr val="5B5F6B"/>
                </a:solidFill>
                <a:latin typeface="Times New Roman"/>
                <a:ea typeface="Times New Roman"/>
                <a:cs typeface="Times New Roman"/>
                <a:sym typeface="Times New Roman"/>
              </a:rPr>
              <a:t>Predictive (faint red, OLS) vs. causal (green, true slope = 2) lines — they diverge whenever Cov(e, X) ≠ 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661" name="Shape 661"/>
        <p:cNvGrpSpPr/>
        <p:nvPr/>
      </p:nvGrpSpPr>
      <p:grpSpPr>
        <a:xfrm>
          <a:off x="0" y="0"/>
          <a:ext cx="0" cy="0"/>
          <a:chOff x="0" y="0"/>
          <a:chExt cx="0" cy="0"/>
        </a:xfrm>
      </p:grpSpPr>
      <p:sp>
        <p:nvSpPr>
          <p:cNvPr id="662" name="Google Shape;662;p97"/>
          <p:cNvSpPr/>
          <p:nvPr/>
        </p:nvSpPr>
        <p:spPr>
          <a:xfrm>
            <a:off x="514350" y="377190"/>
            <a:ext cx="2400300" cy="15087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B3B63"/>
              </a:buClr>
              <a:buSzPts val="9800"/>
              <a:buFont typeface="Times New Roman"/>
              <a:buNone/>
            </a:pPr>
            <a:r>
              <a:rPr b="1" i="0" lang="en" sz="9800" u="none" cap="none" strike="noStrike">
                <a:solidFill>
                  <a:srgbClr val="2B3B63"/>
                </a:solidFill>
                <a:latin typeface="Times New Roman"/>
                <a:ea typeface="Times New Roman"/>
                <a:cs typeface="Times New Roman"/>
                <a:sym typeface="Times New Roman"/>
              </a:rPr>
              <a:t>3</a:t>
            </a:r>
            <a:endParaRPr b="0" i="0" sz="9800" u="none" cap="none" strike="noStrike">
              <a:solidFill>
                <a:schemeClr val="dk1"/>
              </a:solidFill>
              <a:latin typeface="Calibri"/>
              <a:ea typeface="Calibri"/>
              <a:cs typeface="Calibri"/>
              <a:sym typeface="Calibri"/>
            </a:endParaRPr>
          </a:p>
        </p:txBody>
      </p:sp>
      <p:sp>
        <p:nvSpPr>
          <p:cNvPr id="663" name="Google Shape;663;p97"/>
          <p:cNvSpPr/>
          <p:nvPr/>
        </p:nvSpPr>
        <p:spPr>
          <a:xfrm>
            <a:off x="617226" y="2160275"/>
            <a:ext cx="82821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600"/>
              <a:buFont typeface="Times New Roman"/>
              <a:buNone/>
            </a:pPr>
            <a:r>
              <a:rPr b="1" i="0" lang="en" sz="2600" u="none" cap="none" strike="noStrike">
                <a:solidFill>
                  <a:srgbClr val="FFFFFF"/>
                </a:solidFill>
                <a:latin typeface="Times New Roman"/>
                <a:ea typeface="Times New Roman"/>
                <a:cs typeface="Times New Roman"/>
                <a:sym typeface="Times New Roman"/>
              </a:rPr>
              <a:t>Why the Conditional </a:t>
            </a:r>
            <a:r>
              <a:rPr b="1" lang="en" sz="2600">
                <a:solidFill>
                  <a:srgbClr val="FFFFFF"/>
                </a:solidFill>
                <a:latin typeface="Times New Roman"/>
                <a:ea typeface="Times New Roman"/>
                <a:cs typeface="Times New Roman"/>
                <a:sym typeface="Times New Roman"/>
              </a:rPr>
              <a:t>Independence Assumption </a:t>
            </a:r>
            <a:r>
              <a:rPr b="1" i="0" lang="en" sz="2600" u="none" cap="none" strike="noStrike">
                <a:solidFill>
                  <a:srgbClr val="FFFFFF"/>
                </a:solidFill>
                <a:latin typeface="Times New Roman"/>
                <a:ea typeface="Times New Roman"/>
                <a:cs typeface="Times New Roman"/>
                <a:sym typeface="Times New Roman"/>
              </a:rPr>
              <a:t>Fails</a:t>
            </a:r>
            <a:endParaRPr b="0" i="0" sz="2600" u="none" cap="none" strike="noStrike">
              <a:solidFill>
                <a:schemeClr val="dk1"/>
              </a:solidFill>
              <a:latin typeface="Calibri"/>
              <a:ea typeface="Calibri"/>
              <a:cs typeface="Calibri"/>
              <a:sym typeface="Calibri"/>
            </a:endParaRPr>
          </a:p>
        </p:txBody>
      </p:sp>
      <p:cxnSp>
        <p:nvCxnSpPr>
          <p:cNvPr id="664" name="Google Shape;664;p97"/>
          <p:cNvCxnSpPr/>
          <p:nvPr/>
        </p:nvCxnSpPr>
        <p:spPr>
          <a:xfrm>
            <a:off x="651510" y="2846070"/>
            <a:ext cx="1645920" cy="0"/>
          </a:xfrm>
          <a:prstGeom prst="straightConnector1">
            <a:avLst/>
          </a:prstGeom>
          <a:noFill/>
          <a:ln cap="flat" cmpd="sng" w="12700">
            <a:solidFill>
              <a:srgbClr val="5D6F9E"/>
            </a:solidFill>
            <a:prstDash val="solid"/>
            <a:round/>
            <a:headEnd len="sm" w="sm" type="none"/>
            <a:tailEnd len="sm" w="sm" type="none"/>
          </a:ln>
        </p:spPr>
      </p:cxnSp>
      <p:sp>
        <p:nvSpPr>
          <p:cNvPr id="665" name="Google Shape;665;p97"/>
          <p:cNvSpPr/>
          <p:nvPr/>
        </p:nvSpPr>
        <p:spPr>
          <a:xfrm>
            <a:off x="651510" y="3017520"/>
            <a:ext cx="5486400" cy="13716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3.1  Omitted variables and selection bias</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3.2  Simultaneity, measurement error, and bad controls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sp>
        <p:nvSpPr>
          <p:cNvPr id="671" name="Google Shape;671;p98"/>
          <p:cNvSpPr/>
          <p:nvPr/>
        </p:nvSpPr>
        <p:spPr>
          <a:xfrm>
            <a:off x="353825" y="3512435"/>
            <a:ext cx="8422800" cy="633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98"/>
          <p:cNvSpPr/>
          <p:nvPr/>
        </p:nvSpPr>
        <p:spPr>
          <a:xfrm>
            <a:off x="480060" y="240030"/>
            <a:ext cx="68580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3. WHY THE CIA FAILS</a:t>
            </a:r>
            <a:endParaRPr b="0" i="0" sz="800" u="none" cap="none" strike="noStrike">
              <a:solidFill>
                <a:schemeClr val="dk1"/>
              </a:solidFill>
              <a:latin typeface="Calibri"/>
              <a:ea typeface="Calibri"/>
              <a:cs typeface="Calibri"/>
              <a:sym typeface="Calibri"/>
            </a:endParaRPr>
          </a:p>
        </p:txBody>
      </p:sp>
      <p:sp>
        <p:nvSpPr>
          <p:cNvPr id="673" name="Google Shape;673;p98"/>
          <p:cNvSpPr/>
          <p:nvPr/>
        </p:nvSpPr>
        <p:spPr>
          <a:xfrm>
            <a:off x="480060" y="466344"/>
            <a:ext cx="81610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3.</a:t>
            </a:r>
            <a:r>
              <a:rPr b="1" lang="en" sz="1900">
                <a:solidFill>
                  <a:srgbClr val="7A2E2E"/>
                </a:solidFill>
                <a:latin typeface="Times New Roman"/>
                <a:ea typeface="Times New Roman"/>
                <a:cs typeface="Times New Roman"/>
                <a:sym typeface="Times New Roman"/>
              </a:rPr>
              <a:t>1</a:t>
            </a:r>
            <a:r>
              <a:rPr b="1" i="0" lang="en" sz="1900" u="none" cap="none" strike="noStrike">
                <a:solidFill>
                  <a:srgbClr val="7A2E2E"/>
                </a:solidFill>
                <a:latin typeface="Times New Roman"/>
                <a:ea typeface="Times New Roman"/>
                <a:cs typeface="Times New Roman"/>
                <a:sym typeface="Times New Roman"/>
              </a:rPr>
              <a:t>  </a:t>
            </a:r>
            <a:r>
              <a:rPr b="1" i="0" lang="en" sz="1900" u="none" cap="none" strike="noStrike">
                <a:solidFill>
                  <a:srgbClr val="1B2A4A"/>
                </a:solidFill>
                <a:latin typeface="Times New Roman"/>
                <a:ea typeface="Times New Roman"/>
                <a:cs typeface="Times New Roman"/>
                <a:sym typeface="Times New Roman"/>
              </a:rPr>
              <a:t>Four Ways the CIA Fails</a:t>
            </a:r>
            <a:endParaRPr b="0" i="0" sz="1900" u="none" cap="none" strike="noStrike">
              <a:solidFill>
                <a:schemeClr val="dk1"/>
              </a:solidFill>
              <a:latin typeface="Calibri"/>
              <a:ea typeface="Calibri"/>
              <a:cs typeface="Calibri"/>
              <a:sym typeface="Calibri"/>
            </a:endParaRPr>
          </a:p>
        </p:txBody>
      </p:sp>
      <p:cxnSp>
        <p:nvCxnSpPr>
          <p:cNvPr id="674" name="Google Shape;674;p98"/>
          <p:cNvCxnSpPr/>
          <p:nvPr/>
        </p:nvCxnSpPr>
        <p:spPr>
          <a:xfrm>
            <a:off x="480060" y="905256"/>
            <a:ext cx="8181594" cy="0"/>
          </a:xfrm>
          <a:prstGeom prst="straightConnector1">
            <a:avLst/>
          </a:prstGeom>
          <a:noFill/>
          <a:ln cap="flat" cmpd="sng" w="15875">
            <a:solidFill>
              <a:srgbClr val="1B2A4A"/>
            </a:solidFill>
            <a:prstDash val="solid"/>
            <a:round/>
            <a:headEnd len="sm" w="sm" type="none"/>
            <a:tailEnd len="sm" w="sm" type="none"/>
          </a:ln>
        </p:spPr>
      </p:cxnSp>
      <p:cxnSp>
        <p:nvCxnSpPr>
          <p:cNvPr id="675" name="Google Shape;675;p98"/>
          <p:cNvCxnSpPr/>
          <p:nvPr/>
        </p:nvCxnSpPr>
        <p:spPr>
          <a:xfrm>
            <a:off x="480060" y="4766310"/>
            <a:ext cx="8181594" cy="0"/>
          </a:xfrm>
          <a:prstGeom prst="straightConnector1">
            <a:avLst/>
          </a:prstGeom>
          <a:noFill/>
          <a:ln cap="flat" cmpd="sng" w="9525">
            <a:solidFill>
              <a:srgbClr val="C7CCDA"/>
            </a:solidFill>
            <a:prstDash val="solid"/>
            <a:round/>
            <a:headEnd len="sm" w="sm" type="none"/>
            <a:tailEnd len="sm" w="sm" type="none"/>
          </a:ln>
        </p:spPr>
      </p:cxnSp>
      <p:sp>
        <p:nvSpPr>
          <p:cNvPr id="676" name="Google Shape;676;p98"/>
          <p:cNvSpPr/>
          <p:nvPr/>
        </p:nvSpPr>
        <p:spPr>
          <a:xfrm>
            <a:off x="480060" y="4828032"/>
            <a:ext cx="27432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677" name="Google Shape;677;p98"/>
          <p:cNvSpPr/>
          <p:nvPr/>
        </p:nvSpPr>
        <p:spPr>
          <a:xfrm>
            <a:off x="2880360" y="4828032"/>
            <a:ext cx="342900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3. Why the CIA Fails</a:t>
            </a:r>
            <a:endParaRPr b="0" i="0" sz="700" u="none" cap="none" strike="noStrike">
              <a:solidFill>
                <a:schemeClr val="dk1"/>
              </a:solidFill>
              <a:latin typeface="Calibri"/>
              <a:ea typeface="Calibri"/>
              <a:cs typeface="Calibri"/>
              <a:sym typeface="Calibri"/>
            </a:endParaRPr>
          </a:p>
        </p:txBody>
      </p:sp>
      <p:sp>
        <p:nvSpPr>
          <p:cNvPr id="678" name="Google Shape;678;p98"/>
          <p:cNvSpPr/>
          <p:nvPr/>
        </p:nvSpPr>
        <p:spPr>
          <a:xfrm>
            <a:off x="8229600" y="4828032"/>
            <a:ext cx="432054"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13</a:t>
            </a:r>
            <a:endParaRPr b="0" i="0" sz="700" u="none" cap="none" strike="noStrike">
              <a:solidFill>
                <a:schemeClr val="dk1"/>
              </a:solidFill>
              <a:latin typeface="Calibri"/>
              <a:ea typeface="Calibri"/>
              <a:cs typeface="Calibri"/>
              <a:sym typeface="Calibri"/>
            </a:endParaRPr>
          </a:p>
        </p:txBody>
      </p:sp>
      <p:sp>
        <p:nvSpPr>
          <p:cNvPr id="679" name="Google Shape;679;p98"/>
          <p:cNvSpPr/>
          <p:nvPr/>
        </p:nvSpPr>
        <p:spPr>
          <a:xfrm>
            <a:off x="480060" y="1165860"/>
            <a:ext cx="209169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1" i="0" lang="en" sz="800" u="none" cap="none" strike="noStrike">
                <a:solidFill>
                  <a:srgbClr val="5B5F6B"/>
                </a:solidFill>
                <a:latin typeface="Times New Roman"/>
                <a:ea typeface="Times New Roman"/>
                <a:cs typeface="Times New Roman"/>
                <a:sym typeface="Times New Roman"/>
              </a:rPr>
              <a:t>MECHANISM</a:t>
            </a:r>
            <a:endParaRPr b="0" i="0" sz="800" u="none" cap="none" strike="noStrike">
              <a:solidFill>
                <a:schemeClr val="dk1"/>
              </a:solidFill>
              <a:latin typeface="Calibri"/>
              <a:ea typeface="Calibri"/>
              <a:cs typeface="Calibri"/>
              <a:sym typeface="Calibri"/>
            </a:endParaRPr>
          </a:p>
        </p:txBody>
      </p:sp>
      <p:sp>
        <p:nvSpPr>
          <p:cNvPr id="680" name="Google Shape;680;p98"/>
          <p:cNvSpPr/>
          <p:nvPr/>
        </p:nvSpPr>
        <p:spPr>
          <a:xfrm>
            <a:off x="2674620" y="1165860"/>
            <a:ext cx="24003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1" i="0" lang="en" sz="800" u="none" cap="none" strike="noStrike">
                <a:solidFill>
                  <a:srgbClr val="5B5F6B"/>
                </a:solidFill>
                <a:latin typeface="Times New Roman"/>
                <a:ea typeface="Times New Roman"/>
                <a:cs typeface="Times New Roman"/>
                <a:sym typeface="Times New Roman"/>
              </a:rPr>
              <a:t>WHERE IT ENTERS</a:t>
            </a:r>
            <a:endParaRPr b="0" i="0" sz="800" u="none" cap="none" strike="noStrike">
              <a:solidFill>
                <a:schemeClr val="dk1"/>
              </a:solidFill>
              <a:latin typeface="Calibri"/>
              <a:ea typeface="Calibri"/>
              <a:cs typeface="Calibri"/>
              <a:sym typeface="Calibri"/>
            </a:endParaRPr>
          </a:p>
        </p:txBody>
      </p:sp>
      <p:sp>
        <p:nvSpPr>
          <p:cNvPr id="681" name="Google Shape;681;p98"/>
          <p:cNvSpPr/>
          <p:nvPr/>
        </p:nvSpPr>
        <p:spPr>
          <a:xfrm>
            <a:off x="5177790" y="1165860"/>
            <a:ext cx="325755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1" lang="en" sz="800">
                <a:solidFill>
                  <a:srgbClr val="5B5F6B"/>
                </a:solidFill>
                <a:latin typeface="Times New Roman"/>
                <a:ea typeface="Times New Roman"/>
                <a:cs typeface="Times New Roman"/>
                <a:sym typeface="Times New Roman"/>
              </a:rPr>
              <a:t>INTUITIVE CONSEQUENCE</a:t>
            </a:r>
            <a:endParaRPr b="0" i="0" sz="800" u="none" cap="none" strike="noStrike">
              <a:solidFill>
                <a:schemeClr val="dk1"/>
              </a:solidFill>
              <a:latin typeface="Calibri"/>
              <a:ea typeface="Calibri"/>
              <a:cs typeface="Calibri"/>
              <a:sym typeface="Calibri"/>
            </a:endParaRPr>
          </a:p>
        </p:txBody>
      </p:sp>
      <p:cxnSp>
        <p:nvCxnSpPr>
          <p:cNvPr id="682" name="Google Shape;682;p98"/>
          <p:cNvCxnSpPr/>
          <p:nvPr/>
        </p:nvCxnSpPr>
        <p:spPr>
          <a:xfrm>
            <a:off x="480060" y="1385316"/>
            <a:ext cx="8181594" cy="0"/>
          </a:xfrm>
          <a:prstGeom prst="straightConnector1">
            <a:avLst/>
          </a:prstGeom>
          <a:noFill/>
          <a:ln cap="flat" cmpd="sng" w="12700">
            <a:solidFill>
              <a:srgbClr val="1B2A4A"/>
            </a:solidFill>
            <a:prstDash val="solid"/>
            <a:round/>
            <a:headEnd len="sm" w="sm" type="none"/>
            <a:tailEnd len="sm" w="sm" type="none"/>
          </a:ln>
        </p:spPr>
      </p:cxnSp>
      <p:sp>
        <p:nvSpPr>
          <p:cNvPr id="683" name="Google Shape;683;p98"/>
          <p:cNvSpPr/>
          <p:nvPr/>
        </p:nvSpPr>
        <p:spPr>
          <a:xfrm>
            <a:off x="480060" y="1495044"/>
            <a:ext cx="209169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B2A4A"/>
              </a:buClr>
              <a:buSzPts val="900"/>
              <a:buFont typeface="Times New Roman"/>
              <a:buNone/>
            </a:pPr>
            <a:r>
              <a:rPr b="0" i="0" lang="en" sz="900" u="none" cap="none" strike="noStrike">
                <a:solidFill>
                  <a:srgbClr val="1B2A4A"/>
                </a:solidFill>
                <a:latin typeface="Times New Roman"/>
                <a:ea typeface="Times New Roman"/>
                <a:cs typeface="Times New Roman"/>
                <a:sym typeface="Times New Roman"/>
              </a:rPr>
              <a:t>Omitted variables </a:t>
            </a:r>
            <a:r>
              <a:rPr lang="en" sz="900">
                <a:solidFill>
                  <a:srgbClr val="1B2A4A"/>
                </a:solidFill>
                <a:latin typeface="Times New Roman"/>
                <a:ea typeface="Times New Roman"/>
                <a:cs typeface="Times New Roman"/>
                <a:sym typeface="Times New Roman"/>
              </a:rPr>
              <a:t>/ Selection</a:t>
            </a:r>
            <a:endParaRPr b="0" i="0" sz="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B2A4A"/>
              </a:buClr>
              <a:buSzPts val="900"/>
              <a:buFont typeface="Times New Roman"/>
              <a:buNone/>
            </a:pPr>
            <a:r>
              <a:rPr b="0" i="0" lang="en" sz="900" u="none" cap="none" strike="noStrike">
                <a:solidFill>
                  <a:srgbClr val="1B2A4A"/>
                </a:solidFill>
                <a:latin typeface="Times New Roman"/>
                <a:ea typeface="Times New Roman"/>
                <a:cs typeface="Times New Roman"/>
                <a:sym typeface="Times New Roman"/>
              </a:rPr>
              <a:t>(§3.1)</a:t>
            </a:r>
            <a:endParaRPr b="0" i="0" sz="900" u="none" cap="none" strike="noStrike">
              <a:solidFill>
                <a:schemeClr val="dk1"/>
              </a:solidFill>
              <a:latin typeface="Calibri"/>
              <a:ea typeface="Calibri"/>
              <a:cs typeface="Calibri"/>
              <a:sym typeface="Calibri"/>
            </a:endParaRPr>
          </a:p>
        </p:txBody>
      </p:sp>
      <p:sp>
        <p:nvSpPr>
          <p:cNvPr id="684" name="Google Shape;684;p98"/>
          <p:cNvSpPr/>
          <p:nvPr/>
        </p:nvSpPr>
        <p:spPr>
          <a:xfrm>
            <a:off x="2674620" y="1495044"/>
            <a:ext cx="240030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b="0" i="0" lang="en" sz="900" u="none" cap="none" strike="noStrike">
                <a:solidFill>
                  <a:srgbClr val="1A1A1A"/>
                </a:solidFill>
                <a:latin typeface="Times New Roman"/>
                <a:ea typeface="Times New Roman"/>
                <a:cs typeface="Times New Roman"/>
                <a:sym typeface="Times New Roman"/>
              </a:rPr>
              <a:t>Unmeasured U</a:t>
            </a:r>
            <a:endParaRPr b="0" i="0" sz="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A1A1A"/>
              </a:buClr>
              <a:buSzPts val="900"/>
              <a:buFont typeface="Times New Roman"/>
              <a:buNone/>
            </a:pPr>
            <a:r>
              <a:rPr b="0" i="0" lang="en" sz="900" u="none" cap="none" strike="noStrike">
                <a:solidFill>
                  <a:srgbClr val="1A1A1A"/>
                </a:solidFill>
                <a:latin typeface="Times New Roman"/>
                <a:ea typeface="Times New Roman"/>
                <a:cs typeface="Times New Roman"/>
                <a:sym typeface="Times New Roman"/>
              </a:rPr>
              <a:t>correlated with X</a:t>
            </a:r>
            <a:endParaRPr b="0" i="0" sz="900" u="none" cap="none" strike="noStrike">
              <a:solidFill>
                <a:schemeClr val="dk1"/>
              </a:solidFill>
              <a:latin typeface="Calibri"/>
              <a:ea typeface="Calibri"/>
              <a:cs typeface="Calibri"/>
              <a:sym typeface="Calibri"/>
            </a:endParaRPr>
          </a:p>
        </p:txBody>
      </p:sp>
      <p:sp>
        <p:nvSpPr>
          <p:cNvPr id="685" name="Google Shape;685;p98"/>
          <p:cNvSpPr/>
          <p:nvPr/>
        </p:nvSpPr>
        <p:spPr>
          <a:xfrm>
            <a:off x="5177790" y="1495044"/>
            <a:ext cx="325755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lang="en" sz="900">
                <a:solidFill>
                  <a:srgbClr val="1A1A1A"/>
                </a:solidFill>
                <a:latin typeface="Times New Roman"/>
                <a:ea typeface="Times New Roman"/>
                <a:cs typeface="Times New Roman"/>
                <a:sym typeface="Times New Roman"/>
              </a:rPr>
              <a:t>Estimated coefficient on X absorbs the correlation between the observed value X and the unobserved U that’s in e</a:t>
            </a:r>
            <a:endParaRPr b="0" i="0" sz="900" u="none" cap="none" strike="noStrike">
              <a:solidFill>
                <a:schemeClr val="dk1"/>
              </a:solidFill>
              <a:latin typeface="Calibri"/>
              <a:ea typeface="Calibri"/>
              <a:cs typeface="Calibri"/>
              <a:sym typeface="Calibri"/>
            </a:endParaRPr>
          </a:p>
        </p:txBody>
      </p:sp>
      <p:cxnSp>
        <p:nvCxnSpPr>
          <p:cNvPr id="686" name="Google Shape;686;p98"/>
          <p:cNvCxnSpPr/>
          <p:nvPr/>
        </p:nvCxnSpPr>
        <p:spPr>
          <a:xfrm>
            <a:off x="480060" y="2098548"/>
            <a:ext cx="8181594" cy="0"/>
          </a:xfrm>
          <a:prstGeom prst="straightConnector1">
            <a:avLst/>
          </a:prstGeom>
          <a:noFill/>
          <a:ln cap="flat" cmpd="sng" w="9525">
            <a:solidFill>
              <a:srgbClr val="C7CCDA"/>
            </a:solidFill>
            <a:prstDash val="solid"/>
            <a:round/>
            <a:headEnd len="sm" w="sm" type="none"/>
            <a:tailEnd len="sm" w="sm" type="none"/>
          </a:ln>
        </p:spPr>
      </p:cxnSp>
      <p:sp>
        <p:nvSpPr>
          <p:cNvPr id="687" name="Google Shape;687;p98"/>
          <p:cNvSpPr/>
          <p:nvPr/>
        </p:nvSpPr>
        <p:spPr>
          <a:xfrm>
            <a:off x="480060" y="2180844"/>
            <a:ext cx="209169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B2A4A"/>
              </a:buClr>
              <a:buSzPts val="900"/>
              <a:buFont typeface="Times New Roman"/>
              <a:buNone/>
            </a:pPr>
            <a:r>
              <a:rPr b="0" i="0" lang="en" sz="900" u="none" cap="none" strike="noStrike">
                <a:solidFill>
                  <a:srgbClr val="1B2A4A"/>
                </a:solidFill>
                <a:latin typeface="Times New Roman"/>
                <a:ea typeface="Times New Roman"/>
                <a:cs typeface="Times New Roman"/>
                <a:sym typeface="Times New Roman"/>
              </a:rPr>
              <a:t>Simultaneity</a:t>
            </a:r>
            <a:endParaRPr b="0" i="0" sz="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B2A4A"/>
              </a:buClr>
              <a:buSzPts val="900"/>
              <a:buFont typeface="Times New Roman"/>
              <a:buNone/>
            </a:pPr>
            <a:r>
              <a:rPr b="0" i="0" lang="en" sz="900" u="none" cap="none" strike="noStrike">
                <a:solidFill>
                  <a:srgbClr val="1B2A4A"/>
                </a:solidFill>
                <a:latin typeface="Times New Roman"/>
                <a:ea typeface="Times New Roman"/>
                <a:cs typeface="Times New Roman"/>
                <a:sym typeface="Times New Roman"/>
              </a:rPr>
              <a:t>(reverse causality)</a:t>
            </a:r>
            <a:endParaRPr b="0" i="0" sz="900" u="none" cap="none" strike="noStrike">
              <a:solidFill>
                <a:schemeClr val="dk1"/>
              </a:solidFill>
              <a:latin typeface="Calibri"/>
              <a:ea typeface="Calibri"/>
              <a:cs typeface="Calibri"/>
              <a:sym typeface="Calibri"/>
            </a:endParaRPr>
          </a:p>
        </p:txBody>
      </p:sp>
      <p:sp>
        <p:nvSpPr>
          <p:cNvPr id="688" name="Google Shape;688;p98"/>
          <p:cNvSpPr/>
          <p:nvPr/>
        </p:nvSpPr>
        <p:spPr>
          <a:xfrm>
            <a:off x="2674620" y="2180844"/>
            <a:ext cx="240030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lang="en" sz="900">
                <a:solidFill>
                  <a:srgbClr val="1A1A1A"/>
                </a:solidFill>
                <a:latin typeface="Times New Roman"/>
                <a:ea typeface="Times New Roman"/>
                <a:cs typeface="Times New Roman"/>
                <a:sym typeface="Times New Roman"/>
              </a:rPr>
              <a:t>X affects Y; and Y affects X</a:t>
            </a:r>
            <a:endParaRPr b="0" i="0" sz="900" u="none" cap="none" strike="noStrike">
              <a:solidFill>
                <a:schemeClr val="dk1"/>
              </a:solidFill>
              <a:latin typeface="Calibri"/>
              <a:ea typeface="Calibri"/>
              <a:cs typeface="Calibri"/>
              <a:sym typeface="Calibri"/>
            </a:endParaRPr>
          </a:p>
        </p:txBody>
      </p:sp>
      <p:sp>
        <p:nvSpPr>
          <p:cNvPr id="689" name="Google Shape;689;p98"/>
          <p:cNvSpPr/>
          <p:nvPr/>
        </p:nvSpPr>
        <p:spPr>
          <a:xfrm>
            <a:off x="5177790" y="2180844"/>
            <a:ext cx="325755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lang="en" sz="900">
                <a:solidFill>
                  <a:srgbClr val="1A1A1A"/>
                </a:solidFill>
                <a:latin typeface="Times New Roman"/>
                <a:ea typeface="Times New Roman"/>
                <a:cs typeface="Times New Roman"/>
                <a:sym typeface="Times New Roman"/>
              </a:rPr>
              <a:t>Estimated coefficient on X reflects a blend of X’s effect on Y and Y’s affect on X. </a:t>
            </a:r>
            <a:endParaRPr b="0" i="0" sz="900" u="none" cap="none" strike="noStrike">
              <a:solidFill>
                <a:schemeClr val="dk1"/>
              </a:solidFill>
              <a:latin typeface="Calibri"/>
              <a:ea typeface="Calibri"/>
              <a:cs typeface="Calibri"/>
              <a:sym typeface="Calibri"/>
            </a:endParaRPr>
          </a:p>
        </p:txBody>
      </p:sp>
      <p:cxnSp>
        <p:nvCxnSpPr>
          <p:cNvPr id="690" name="Google Shape;690;p98"/>
          <p:cNvCxnSpPr/>
          <p:nvPr/>
        </p:nvCxnSpPr>
        <p:spPr>
          <a:xfrm>
            <a:off x="480060" y="2784348"/>
            <a:ext cx="8181594" cy="0"/>
          </a:xfrm>
          <a:prstGeom prst="straightConnector1">
            <a:avLst/>
          </a:prstGeom>
          <a:noFill/>
          <a:ln cap="flat" cmpd="sng" w="9525">
            <a:solidFill>
              <a:srgbClr val="C7CCDA"/>
            </a:solidFill>
            <a:prstDash val="solid"/>
            <a:round/>
            <a:headEnd len="sm" w="sm" type="none"/>
            <a:tailEnd len="sm" w="sm" type="none"/>
          </a:ln>
        </p:spPr>
      </p:cxnSp>
      <p:sp>
        <p:nvSpPr>
          <p:cNvPr id="691" name="Google Shape;691;p98"/>
          <p:cNvSpPr/>
          <p:nvPr/>
        </p:nvSpPr>
        <p:spPr>
          <a:xfrm>
            <a:off x="480060" y="2866644"/>
            <a:ext cx="209169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B2A4A"/>
              </a:buClr>
              <a:buSzPts val="900"/>
              <a:buFont typeface="Times New Roman"/>
              <a:buNone/>
            </a:pPr>
            <a:r>
              <a:rPr b="0" i="0" lang="en" sz="900" u="none" cap="none" strike="noStrike">
                <a:solidFill>
                  <a:srgbClr val="1B2A4A"/>
                </a:solidFill>
                <a:latin typeface="Times New Roman"/>
                <a:ea typeface="Times New Roman"/>
                <a:cs typeface="Times New Roman"/>
                <a:sym typeface="Times New Roman"/>
              </a:rPr>
              <a:t>Measurement error</a:t>
            </a:r>
            <a:endParaRPr b="0" i="0" sz="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B2A4A"/>
              </a:buClr>
              <a:buSzPts val="900"/>
              <a:buFont typeface="Times New Roman"/>
              <a:buNone/>
            </a:pPr>
            <a:r>
              <a:rPr b="0" i="0" lang="en" sz="900" u="none" cap="none" strike="noStrike">
                <a:solidFill>
                  <a:srgbClr val="1B2A4A"/>
                </a:solidFill>
                <a:latin typeface="Times New Roman"/>
                <a:ea typeface="Times New Roman"/>
                <a:cs typeface="Times New Roman"/>
                <a:sym typeface="Times New Roman"/>
              </a:rPr>
              <a:t>in X</a:t>
            </a:r>
            <a:endParaRPr b="0" i="0" sz="900" u="none" cap="none" strike="noStrike">
              <a:solidFill>
                <a:schemeClr val="dk1"/>
              </a:solidFill>
              <a:latin typeface="Calibri"/>
              <a:ea typeface="Calibri"/>
              <a:cs typeface="Calibri"/>
              <a:sym typeface="Calibri"/>
            </a:endParaRPr>
          </a:p>
        </p:txBody>
      </p:sp>
      <p:sp>
        <p:nvSpPr>
          <p:cNvPr id="692" name="Google Shape;692;p98"/>
          <p:cNvSpPr/>
          <p:nvPr/>
        </p:nvSpPr>
        <p:spPr>
          <a:xfrm>
            <a:off x="2674620" y="2866644"/>
            <a:ext cx="240030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b="0" i="0" lang="en" sz="900" u="none" cap="none" strike="noStrike">
                <a:solidFill>
                  <a:srgbClr val="1A1A1A"/>
                </a:solidFill>
                <a:latin typeface="Times New Roman"/>
                <a:ea typeface="Times New Roman"/>
                <a:cs typeface="Times New Roman"/>
                <a:sym typeface="Times New Roman"/>
              </a:rPr>
              <a:t>Observe X* = X + w</a:t>
            </a:r>
            <a:endParaRPr b="0" i="0" sz="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A1A1A"/>
              </a:buClr>
              <a:buSzPts val="900"/>
              <a:buFont typeface="Times New Roman"/>
              <a:buNone/>
            </a:pPr>
            <a:r>
              <a:rPr b="0" i="0" lang="en" sz="900" u="none" cap="none" strike="noStrike">
                <a:solidFill>
                  <a:srgbClr val="1A1A1A"/>
                </a:solidFill>
                <a:latin typeface="Times New Roman"/>
                <a:ea typeface="Times New Roman"/>
                <a:cs typeface="Times New Roman"/>
                <a:sym typeface="Times New Roman"/>
              </a:rPr>
              <a:t>in place of X (where w </a:t>
            </a:r>
            <a:r>
              <a:rPr lang="en" sz="900">
                <a:solidFill>
                  <a:srgbClr val="1A1A1A"/>
                </a:solidFill>
                <a:latin typeface="Times New Roman"/>
                <a:ea typeface="Times New Roman"/>
                <a:cs typeface="Times New Roman"/>
                <a:sym typeface="Times New Roman"/>
              </a:rPr>
              <a:t>~ N(0,sd</a:t>
            </a:r>
            <a:r>
              <a:rPr baseline="-25000" lang="en" sz="900">
                <a:solidFill>
                  <a:srgbClr val="1A1A1A"/>
                </a:solidFill>
                <a:latin typeface="Times New Roman"/>
                <a:ea typeface="Times New Roman"/>
                <a:cs typeface="Times New Roman"/>
                <a:sym typeface="Times New Roman"/>
              </a:rPr>
              <a:t>w</a:t>
            </a:r>
            <a:r>
              <a:rPr lang="en" sz="900">
                <a:solidFill>
                  <a:srgbClr val="1A1A1A"/>
                </a:solidFill>
                <a:latin typeface="Times New Roman"/>
                <a:ea typeface="Times New Roman"/>
                <a:cs typeface="Times New Roman"/>
                <a:sym typeface="Times New Roman"/>
              </a:rPr>
              <a:t>)</a:t>
            </a:r>
            <a:endParaRPr b="0" i="0" sz="900" u="none" cap="none" strike="noStrike">
              <a:solidFill>
                <a:schemeClr val="dk1"/>
              </a:solidFill>
              <a:latin typeface="Calibri"/>
              <a:ea typeface="Calibri"/>
              <a:cs typeface="Calibri"/>
              <a:sym typeface="Calibri"/>
            </a:endParaRPr>
          </a:p>
        </p:txBody>
      </p:sp>
      <p:sp>
        <p:nvSpPr>
          <p:cNvPr id="693" name="Google Shape;693;p98"/>
          <p:cNvSpPr/>
          <p:nvPr/>
        </p:nvSpPr>
        <p:spPr>
          <a:xfrm>
            <a:off x="5177790" y="2866644"/>
            <a:ext cx="325755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lang="en" sz="900">
                <a:solidFill>
                  <a:srgbClr val="1A1A1A"/>
                </a:solidFill>
                <a:latin typeface="Times New Roman"/>
                <a:ea typeface="Times New Roman"/>
                <a:cs typeface="Times New Roman"/>
                <a:sym typeface="Times New Roman"/>
              </a:rPr>
              <a:t>As X* gets noisier and </a:t>
            </a:r>
            <a:r>
              <a:rPr lang="en" sz="900">
                <a:solidFill>
                  <a:srgbClr val="1A1A1A"/>
                </a:solidFill>
                <a:latin typeface="Times New Roman"/>
                <a:ea typeface="Times New Roman"/>
                <a:cs typeface="Times New Roman"/>
                <a:sym typeface="Times New Roman"/>
              </a:rPr>
              <a:t>noisier</a:t>
            </a:r>
            <a:r>
              <a:rPr lang="en" sz="900">
                <a:solidFill>
                  <a:srgbClr val="1A1A1A"/>
                </a:solidFill>
                <a:latin typeface="Times New Roman"/>
                <a:ea typeface="Times New Roman"/>
                <a:cs typeface="Times New Roman"/>
                <a:sym typeface="Times New Roman"/>
              </a:rPr>
              <a:t> (w ↑), estimated coefficient on X </a:t>
            </a:r>
            <a:r>
              <a:rPr lang="en" sz="900">
                <a:solidFill>
                  <a:srgbClr val="1A1A1A"/>
                </a:solidFill>
                <a:latin typeface="Times New Roman"/>
                <a:ea typeface="Times New Roman"/>
                <a:cs typeface="Times New Roman"/>
                <a:sym typeface="Times New Roman"/>
              </a:rPr>
              <a:t>attenuates</a:t>
            </a:r>
            <a:r>
              <a:rPr lang="en" sz="900">
                <a:solidFill>
                  <a:srgbClr val="1A1A1A"/>
                </a:solidFill>
                <a:latin typeface="Times New Roman"/>
                <a:ea typeface="Times New Roman"/>
                <a:cs typeface="Times New Roman"/>
                <a:sym typeface="Times New Roman"/>
              </a:rPr>
              <a:t> to zero (see Handbook Chapter 1 for visual).</a:t>
            </a:r>
            <a:endParaRPr b="0" i="0" sz="900" u="none" cap="none" strike="noStrike">
              <a:solidFill>
                <a:schemeClr val="dk1"/>
              </a:solidFill>
              <a:latin typeface="Calibri"/>
              <a:ea typeface="Calibri"/>
              <a:cs typeface="Calibri"/>
              <a:sym typeface="Calibri"/>
            </a:endParaRPr>
          </a:p>
        </p:txBody>
      </p:sp>
      <p:cxnSp>
        <p:nvCxnSpPr>
          <p:cNvPr id="694" name="Google Shape;694;p98"/>
          <p:cNvCxnSpPr/>
          <p:nvPr/>
        </p:nvCxnSpPr>
        <p:spPr>
          <a:xfrm>
            <a:off x="480060" y="3470148"/>
            <a:ext cx="8181594" cy="0"/>
          </a:xfrm>
          <a:prstGeom prst="straightConnector1">
            <a:avLst/>
          </a:prstGeom>
          <a:noFill/>
          <a:ln cap="flat" cmpd="sng" w="9525">
            <a:solidFill>
              <a:srgbClr val="C7CCDA"/>
            </a:solidFill>
            <a:prstDash val="solid"/>
            <a:round/>
            <a:headEnd len="sm" w="sm" type="none"/>
            <a:tailEnd len="sm" w="sm" type="none"/>
          </a:ln>
        </p:spPr>
      </p:cxnSp>
      <p:sp>
        <p:nvSpPr>
          <p:cNvPr id="695" name="Google Shape;695;p98"/>
          <p:cNvSpPr/>
          <p:nvPr/>
        </p:nvSpPr>
        <p:spPr>
          <a:xfrm>
            <a:off x="480060" y="3552444"/>
            <a:ext cx="209169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B2A4A"/>
              </a:buClr>
              <a:buSzPts val="900"/>
              <a:buFont typeface="Times New Roman"/>
              <a:buNone/>
            </a:pPr>
            <a:r>
              <a:rPr b="1" i="1" lang="en" sz="900" u="none" cap="none" strike="noStrike">
                <a:solidFill>
                  <a:srgbClr val="1B2A4A"/>
                </a:solidFill>
                <a:latin typeface="Times New Roman"/>
                <a:ea typeface="Times New Roman"/>
                <a:cs typeface="Times New Roman"/>
                <a:sym typeface="Times New Roman"/>
              </a:rPr>
              <a:t>Bad controls</a:t>
            </a:r>
            <a:endParaRPr b="0" i="0" sz="900" u="none" cap="none" strike="noStrike">
              <a:solidFill>
                <a:schemeClr val="dk1"/>
              </a:solidFill>
              <a:latin typeface="Calibri"/>
              <a:ea typeface="Calibri"/>
              <a:cs typeface="Calibri"/>
              <a:sym typeface="Calibri"/>
            </a:endParaRPr>
          </a:p>
        </p:txBody>
      </p:sp>
      <p:sp>
        <p:nvSpPr>
          <p:cNvPr id="696" name="Google Shape;696;p98"/>
          <p:cNvSpPr/>
          <p:nvPr/>
        </p:nvSpPr>
        <p:spPr>
          <a:xfrm>
            <a:off x="2674620" y="3552444"/>
            <a:ext cx="240030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b="0" i="0" lang="en" sz="900" u="none" cap="none" strike="noStrike">
                <a:solidFill>
                  <a:srgbClr val="1A1A1A"/>
                </a:solidFill>
                <a:latin typeface="Times New Roman"/>
                <a:ea typeface="Times New Roman"/>
                <a:cs typeface="Times New Roman"/>
                <a:sym typeface="Times New Roman"/>
              </a:rPr>
              <a:t>Condition on a </a:t>
            </a:r>
            <a:r>
              <a:rPr lang="en" sz="900">
                <a:solidFill>
                  <a:srgbClr val="1A1A1A"/>
                </a:solidFill>
                <a:latin typeface="Times New Roman"/>
                <a:ea typeface="Times New Roman"/>
                <a:cs typeface="Times New Roman"/>
                <a:sym typeface="Times New Roman"/>
              </a:rPr>
              <a:t>necessary variable (to avoid </a:t>
            </a:r>
            <a:r>
              <a:rPr lang="en" sz="900">
                <a:solidFill>
                  <a:srgbClr val="1A1A1A"/>
                </a:solidFill>
                <a:latin typeface="Times New Roman"/>
                <a:ea typeface="Times New Roman"/>
                <a:cs typeface="Times New Roman"/>
                <a:sym typeface="Times New Roman"/>
              </a:rPr>
              <a:t>O</a:t>
            </a:r>
            <a:r>
              <a:rPr lang="en" sz="900">
                <a:solidFill>
                  <a:srgbClr val="1A1A1A"/>
                </a:solidFill>
                <a:latin typeface="Times New Roman"/>
                <a:ea typeface="Times New Roman"/>
                <a:cs typeface="Times New Roman"/>
                <a:sym typeface="Times New Roman"/>
              </a:rPr>
              <a:t>mitted Variable Bias</a:t>
            </a:r>
            <a:r>
              <a:rPr lang="en" sz="900">
                <a:solidFill>
                  <a:srgbClr val="1A1A1A"/>
                </a:solidFill>
                <a:latin typeface="Times New Roman"/>
                <a:ea typeface="Times New Roman"/>
                <a:cs typeface="Times New Roman"/>
                <a:sym typeface="Times New Roman"/>
              </a:rPr>
              <a:t>) that itself is caused by another necessary variable. [aka - Mediator]</a:t>
            </a:r>
            <a:endParaRPr b="0" i="0" sz="900" u="none" cap="none" strike="noStrike">
              <a:solidFill>
                <a:schemeClr val="dk1"/>
              </a:solidFill>
              <a:latin typeface="Calibri"/>
              <a:ea typeface="Calibri"/>
              <a:cs typeface="Calibri"/>
              <a:sym typeface="Calibri"/>
            </a:endParaRPr>
          </a:p>
        </p:txBody>
      </p:sp>
      <p:sp>
        <p:nvSpPr>
          <p:cNvPr id="697" name="Google Shape;697;p98"/>
          <p:cNvSpPr/>
          <p:nvPr/>
        </p:nvSpPr>
        <p:spPr>
          <a:xfrm>
            <a:off x="5177790" y="3552444"/>
            <a:ext cx="3257550" cy="576072"/>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1A1A1A"/>
              </a:buClr>
              <a:buSzPts val="900"/>
              <a:buFont typeface="Times New Roman"/>
              <a:buNone/>
            </a:pPr>
            <a:r>
              <a:rPr lang="en" sz="900">
                <a:solidFill>
                  <a:srgbClr val="1A1A1A"/>
                </a:solidFill>
                <a:latin typeface="Times New Roman"/>
                <a:ea typeface="Times New Roman"/>
                <a:cs typeface="Times New Roman"/>
                <a:sym typeface="Times New Roman"/>
              </a:rPr>
              <a:t>(a) swaps the estimated coefficient from the total effect to the direct effect (e.g. smoking and KRAS); or</a:t>
            </a:r>
            <a:br>
              <a:rPr lang="en" sz="900">
                <a:solidFill>
                  <a:srgbClr val="1A1A1A"/>
                </a:solidFill>
                <a:latin typeface="Times New Roman"/>
                <a:ea typeface="Times New Roman"/>
                <a:cs typeface="Times New Roman"/>
                <a:sym typeface="Times New Roman"/>
              </a:rPr>
            </a:br>
            <a:r>
              <a:rPr lang="en" sz="900">
                <a:solidFill>
                  <a:srgbClr val="1A1A1A"/>
                </a:solidFill>
                <a:latin typeface="Times New Roman"/>
                <a:ea typeface="Times New Roman"/>
                <a:cs typeface="Times New Roman"/>
                <a:sym typeface="Times New Roman"/>
              </a:rPr>
              <a:t>(b) introduces spurious relationship that may break the CIA</a:t>
            </a:r>
            <a:endParaRPr b="0" i="0" sz="900" u="none" cap="none" strike="noStrike">
              <a:solidFill>
                <a:schemeClr val="dk1"/>
              </a:solidFill>
              <a:latin typeface="Calibri"/>
              <a:ea typeface="Calibri"/>
              <a:cs typeface="Calibri"/>
              <a:sym typeface="Calibri"/>
            </a:endParaRPr>
          </a:p>
        </p:txBody>
      </p:sp>
      <p:cxnSp>
        <p:nvCxnSpPr>
          <p:cNvPr id="698" name="Google Shape;698;p98"/>
          <p:cNvCxnSpPr/>
          <p:nvPr/>
        </p:nvCxnSpPr>
        <p:spPr>
          <a:xfrm>
            <a:off x="480060" y="4265676"/>
            <a:ext cx="8181594" cy="0"/>
          </a:xfrm>
          <a:prstGeom prst="straightConnector1">
            <a:avLst/>
          </a:prstGeom>
          <a:noFill/>
          <a:ln cap="flat" cmpd="sng" w="12700">
            <a:solidFill>
              <a:srgbClr val="1B2A4A"/>
            </a:solidFill>
            <a:prstDash val="solid"/>
            <a:round/>
            <a:headEnd len="sm" w="sm" type="none"/>
            <a:tailEnd len="sm" w="sm" type="none"/>
          </a:ln>
        </p:spPr>
      </p:cxnSp>
      <p:sp>
        <p:nvSpPr>
          <p:cNvPr id="699" name="Google Shape;699;p98"/>
          <p:cNvSpPr/>
          <p:nvPr/>
        </p:nvSpPr>
        <p:spPr>
          <a:xfrm>
            <a:off x="480060" y="4347972"/>
            <a:ext cx="816102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5B5F6B"/>
              </a:buClr>
              <a:buSzPts val="800"/>
              <a:buFont typeface="Times New Roman"/>
              <a:buNone/>
            </a:pPr>
            <a:r>
              <a:rPr b="0" i="1" lang="en" sz="800" u="none" cap="none" strike="noStrike">
                <a:solidFill>
                  <a:srgbClr val="5B5F6B"/>
                </a:solidFill>
                <a:latin typeface="Times New Roman"/>
                <a:ea typeface="Times New Roman"/>
                <a:cs typeface="Times New Roman"/>
                <a:sym typeface="Times New Roman"/>
              </a:rPr>
              <a:t>Bad controls are different in kind from the other three: the damage comes from what the analyst puts into X, not from what the DGP leaves out of it — the subject of the rest of this </a:t>
            </a:r>
            <a:r>
              <a:rPr i="1" lang="en" sz="800">
                <a:solidFill>
                  <a:srgbClr val="5B5F6B"/>
                </a:solidFill>
                <a:latin typeface="Times New Roman"/>
                <a:ea typeface="Times New Roman"/>
                <a:cs typeface="Times New Roman"/>
                <a:sym typeface="Times New Roman"/>
              </a:rPr>
              <a:t>conference</a:t>
            </a:r>
            <a:r>
              <a:rPr b="0" i="1" lang="en" sz="800" u="none" cap="none" strike="noStrike">
                <a:solidFill>
                  <a:srgbClr val="5B5F6B"/>
                </a:solidFill>
                <a:latin typeface="Times New Roman"/>
                <a:ea typeface="Times New Roman"/>
                <a:cs typeface="Times New Roman"/>
                <a:sym typeface="Times New Roman"/>
              </a:rPr>
              <a: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04" name="Shape 704"/>
        <p:cNvGrpSpPr/>
        <p:nvPr/>
      </p:nvGrpSpPr>
      <p:grpSpPr>
        <a:xfrm>
          <a:off x="0" y="0"/>
          <a:ext cx="0" cy="0"/>
          <a:chOff x="0" y="0"/>
          <a:chExt cx="0" cy="0"/>
        </a:xfrm>
      </p:grpSpPr>
      <p:sp>
        <p:nvSpPr>
          <p:cNvPr id="705" name="Google Shape;705;p99"/>
          <p:cNvSpPr/>
          <p:nvPr/>
        </p:nvSpPr>
        <p:spPr>
          <a:xfrm>
            <a:off x="514350" y="377190"/>
            <a:ext cx="2400300" cy="15087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B3B63"/>
              </a:buClr>
              <a:buSzPts val="9800"/>
              <a:buFont typeface="Times New Roman"/>
              <a:buNone/>
            </a:pPr>
            <a:r>
              <a:rPr b="1" i="0" lang="en" sz="9800" u="none" cap="none" strike="noStrike">
                <a:solidFill>
                  <a:srgbClr val="2B3B63"/>
                </a:solidFill>
                <a:latin typeface="Times New Roman"/>
                <a:ea typeface="Times New Roman"/>
                <a:cs typeface="Times New Roman"/>
                <a:sym typeface="Times New Roman"/>
              </a:rPr>
              <a:t>4</a:t>
            </a:r>
            <a:endParaRPr b="0" i="0" sz="9800" u="none" cap="none" strike="noStrike">
              <a:solidFill>
                <a:schemeClr val="dk1"/>
              </a:solidFill>
              <a:latin typeface="Calibri"/>
              <a:ea typeface="Calibri"/>
              <a:cs typeface="Calibri"/>
              <a:sym typeface="Calibri"/>
            </a:endParaRPr>
          </a:p>
        </p:txBody>
      </p:sp>
      <p:sp>
        <p:nvSpPr>
          <p:cNvPr id="706" name="Google Shape;706;p99"/>
          <p:cNvSpPr/>
          <p:nvPr/>
        </p:nvSpPr>
        <p:spPr>
          <a:xfrm>
            <a:off x="617220" y="2160270"/>
            <a:ext cx="740664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600"/>
              <a:buFont typeface="Times New Roman"/>
              <a:buNone/>
            </a:pPr>
            <a:r>
              <a:rPr b="1" i="0" lang="en" sz="2600" u="none" cap="none" strike="noStrike">
                <a:solidFill>
                  <a:srgbClr val="FFFFFF"/>
                </a:solidFill>
                <a:latin typeface="Times New Roman"/>
                <a:ea typeface="Times New Roman"/>
                <a:cs typeface="Times New Roman"/>
                <a:sym typeface="Times New Roman"/>
              </a:rPr>
              <a:t>Motivating G-Computation</a:t>
            </a:r>
            <a:endParaRPr b="0" i="0" sz="2600" u="none" cap="none" strike="noStrike">
              <a:solidFill>
                <a:schemeClr val="dk1"/>
              </a:solidFill>
              <a:latin typeface="Calibri"/>
              <a:ea typeface="Calibri"/>
              <a:cs typeface="Calibri"/>
              <a:sym typeface="Calibri"/>
            </a:endParaRPr>
          </a:p>
        </p:txBody>
      </p:sp>
      <p:cxnSp>
        <p:nvCxnSpPr>
          <p:cNvPr id="707" name="Google Shape;707;p99"/>
          <p:cNvCxnSpPr/>
          <p:nvPr/>
        </p:nvCxnSpPr>
        <p:spPr>
          <a:xfrm>
            <a:off x="651510" y="2846070"/>
            <a:ext cx="1645920" cy="0"/>
          </a:xfrm>
          <a:prstGeom prst="straightConnector1">
            <a:avLst/>
          </a:prstGeom>
          <a:noFill/>
          <a:ln cap="flat" cmpd="sng" w="12700">
            <a:solidFill>
              <a:srgbClr val="5D6F9E"/>
            </a:solidFill>
            <a:prstDash val="solid"/>
            <a:round/>
            <a:headEnd len="sm" w="sm" type="none"/>
            <a:tailEnd len="sm" w="sm" type="none"/>
          </a:ln>
        </p:spPr>
      </p:cxnSp>
      <p:sp>
        <p:nvSpPr>
          <p:cNvPr id="708" name="Google Shape;708;p99"/>
          <p:cNvSpPr/>
          <p:nvPr/>
        </p:nvSpPr>
        <p:spPr>
          <a:xfrm>
            <a:off x="651510" y="3017520"/>
            <a:ext cx="5486400" cy="13716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4.1  The scenario: a treatment-induced confounder</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4.2  Clinical example: chemotherapy and neutropenia</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4.3  Two options, both wrong</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4.4  Why is Lt a bad control?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3" name="Shape 713"/>
        <p:cNvGrpSpPr/>
        <p:nvPr/>
      </p:nvGrpSpPr>
      <p:grpSpPr>
        <a:xfrm>
          <a:off x="0" y="0"/>
          <a:ext cx="0" cy="0"/>
          <a:chOff x="0" y="0"/>
          <a:chExt cx="0" cy="0"/>
        </a:xfrm>
      </p:grpSpPr>
      <p:sp>
        <p:nvSpPr>
          <p:cNvPr id="714" name="Google Shape;714;p100"/>
          <p:cNvSpPr/>
          <p:nvPr/>
        </p:nvSpPr>
        <p:spPr>
          <a:xfrm>
            <a:off x="480060" y="240030"/>
            <a:ext cx="68580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4. MOTIVATING G-COMPUTATION</a:t>
            </a:r>
            <a:endParaRPr b="0" i="0" sz="800" u="none" cap="none" strike="noStrike">
              <a:solidFill>
                <a:schemeClr val="dk1"/>
              </a:solidFill>
              <a:latin typeface="Calibri"/>
              <a:ea typeface="Calibri"/>
              <a:cs typeface="Calibri"/>
              <a:sym typeface="Calibri"/>
            </a:endParaRPr>
          </a:p>
        </p:txBody>
      </p:sp>
      <p:sp>
        <p:nvSpPr>
          <p:cNvPr id="715" name="Google Shape;715;p100"/>
          <p:cNvSpPr/>
          <p:nvPr/>
        </p:nvSpPr>
        <p:spPr>
          <a:xfrm>
            <a:off x="480060" y="466344"/>
            <a:ext cx="8160900" cy="41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4.1  </a:t>
            </a:r>
            <a:r>
              <a:rPr b="1" i="0" lang="en" sz="1900" u="none" cap="none" strike="noStrike">
                <a:solidFill>
                  <a:srgbClr val="1B2A4A"/>
                </a:solidFill>
                <a:latin typeface="Times New Roman"/>
                <a:ea typeface="Times New Roman"/>
                <a:cs typeface="Times New Roman"/>
                <a:sym typeface="Times New Roman"/>
              </a:rPr>
              <a:t>The Scenario: A Treatment-Induced Confounder</a:t>
            </a:r>
            <a:endParaRPr b="0" i="0" sz="1900" u="none" cap="none" strike="noStrike">
              <a:solidFill>
                <a:schemeClr val="dk1"/>
              </a:solidFill>
              <a:latin typeface="Calibri"/>
              <a:ea typeface="Calibri"/>
              <a:cs typeface="Calibri"/>
              <a:sym typeface="Calibri"/>
            </a:endParaRPr>
          </a:p>
        </p:txBody>
      </p:sp>
      <p:cxnSp>
        <p:nvCxnSpPr>
          <p:cNvPr id="716" name="Google Shape;716;p100"/>
          <p:cNvCxnSpPr/>
          <p:nvPr/>
        </p:nvCxnSpPr>
        <p:spPr>
          <a:xfrm>
            <a:off x="480060" y="905256"/>
            <a:ext cx="8181600" cy="0"/>
          </a:xfrm>
          <a:prstGeom prst="straightConnector1">
            <a:avLst/>
          </a:prstGeom>
          <a:noFill/>
          <a:ln cap="flat" cmpd="sng" w="15875">
            <a:solidFill>
              <a:srgbClr val="1B2A4A"/>
            </a:solidFill>
            <a:prstDash val="solid"/>
            <a:round/>
            <a:headEnd len="sm" w="sm" type="none"/>
            <a:tailEnd len="sm" w="sm" type="none"/>
          </a:ln>
        </p:spPr>
      </p:cxnSp>
      <p:cxnSp>
        <p:nvCxnSpPr>
          <p:cNvPr id="717" name="Google Shape;717;p100"/>
          <p:cNvCxnSpPr/>
          <p:nvPr/>
        </p:nvCxnSpPr>
        <p:spPr>
          <a:xfrm>
            <a:off x="480060" y="4766310"/>
            <a:ext cx="8181600" cy="0"/>
          </a:xfrm>
          <a:prstGeom prst="straightConnector1">
            <a:avLst/>
          </a:prstGeom>
          <a:noFill/>
          <a:ln cap="flat" cmpd="sng" w="9525">
            <a:solidFill>
              <a:srgbClr val="C7CCDA"/>
            </a:solidFill>
            <a:prstDash val="solid"/>
            <a:round/>
            <a:headEnd len="sm" w="sm" type="none"/>
            <a:tailEnd len="sm" w="sm" type="none"/>
          </a:ln>
        </p:spPr>
      </p:cxnSp>
      <p:sp>
        <p:nvSpPr>
          <p:cNvPr id="718" name="Google Shape;718;p100"/>
          <p:cNvSpPr/>
          <p:nvPr/>
        </p:nvSpPr>
        <p:spPr>
          <a:xfrm>
            <a:off x="480060" y="4828032"/>
            <a:ext cx="274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719" name="Google Shape;719;p100"/>
          <p:cNvSpPr/>
          <p:nvPr/>
        </p:nvSpPr>
        <p:spPr>
          <a:xfrm>
            <a:off x="2880360" y="4828032"/>
            <a:ext cx="3429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4. Motivating G-Computation</a:t>
            </a:r>
            <a:endParaRPr b="0" i="0" sz="700" u="none" cap="none" strike="noStrike">
              <a:solidFill>
                <a:schemeClr val="dk1"/>
              </a:solidFill>
              <a:latin typeface="Calibri"/>
              <a:ea typeface="Calibri"/>
              <a:cs typeface="Calibri"/>
              <a:sym typeface="Calibri"/>
            </a:endParaRPr>
          </a:p>
        </p:txBody>
      </p:sp>
      <p:sp>
        <p:nvSpPr>
          <p:cNvPr id="720" name="Google Shape;720;p100"/>
          <p:cNvSpPr/>
          <p:nvPr/>
        </p:nvSpPr>
        <p:spPr>
          <a:xfrm>
            <a:off x="8229600" y="4828032"/>
            <a:ext cx="4320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15</a:t>
            </a:r>
            <a:endParaRPr b="0" i="0" sz="700" u="none" cap="none" strike="noStrike">
              <a:solidFill>
                <a:schemeClr val="dk1"/>
              </a:solidFill>
              <a:latin typeface="Calibri"/>
              <a:ea typeface="Calibri"/>
              <a:cs typeface="Calibri"/>
              <a:sym typeface="Calibri"/>
            </a:endParaRPr>
          </a:p>
        </p:txBody>
      </p:sp>
      <p:sp>
        <p:nvSpPr>
          <p:cNvPr id="721" name="Google Shape;721;p100"/>
          <p:cNvSpPr/>
          <p:nvPr/>
        </p:nvSpPr>
        <p:spPr>
          <a:xfrm>
            <a:off x="480060" y="1131570"/>
            <a:ext cx="8160900" cy="3634800"/>
          </a:xfrm>
          <a:prstGeom prst="rect">
            <a:avLst/>
          </a:prstGeom>
          <a:noFill/>
          <a:ln>
            <a:noFill/>
          </a:ln>
        </p:spPr>
        <p:txBody>
          <a:bodyPr anchorCtr="0" anchor="t" bIns="34275" lIns="114300" spcFirstLastPara="1" rIns="68575" wrap="square" tIns="34275">
            <a:noAutofit/>
          </a:bodyPr>
          <a:lstStyle/>
          <a:p>
            <a:pPr indent="-152400" lvl="0" marL="152400" marR="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Example: </a:t>
            </a:r>
            <a:endParaRPr sz="1200">
              <a:solidFill>
                <a:srgbClr val="1A1A1A"/>
              </a:solidFill>
              <a:latin typeface="Times New Roman"/>
              <a:ea typeface="Times New Roman"/>
              <a:cs typeface="Times New Roman"/>
              <a:sym typeface="Times New Roman"/>
            </a:endParaRPr>
          </a:p>
          <a:p>
            <a:pPr indent="-304800" lvl="1" marL="914400" marR="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RQ: We want to evaluate survival at 24m for patients who receive full course of chemo vs not</a:t>
            </a:r>
            <a:endParaRPr sz="1200">
              <a:solidFill>
                <a:srgbClr val="1A1A1A"/>
              </a:solidFill>
              <a:latin typeface="Times New Roman"/>
              <a:ea typeface="Times New Roman"/>
              <a:cs typeface="Times New Roman"/>
              <a:sym typeface="Times New Roman"/>
            </a:endParaRPr>
          </a:p>
          <a:p>
            <a:pPr indent="-304800" lvl="1" marL="914400" marR="0" rtl="0" algn="l">
              <a:lnSpc>
                <a:spcPct val="118000"/>
              </a:lnSpc>
              <a:spcBef>
                <a:spcPts val="800"/>
              </a:spcBef>
              <a:spcAft>
                <a:spcPts val="0"/>
              </a:spcAft>
              <a:buClr>
                <a:srgbClr val="1A1A1A"/>
              </a:buClr>
              <a:buSzPts val="1200"/>
              <a:buFont typeface="Times New Roman"/>
              <a:buChar char="–"/>
            </a:pPr>
            <a:r>
              <a:rPr lang="en" sz="1200">
                <a:solidFill>
                  <a:srgbClr val="1A1A1A"/>
                </a:solidFill>
                <a:latin typeface="Times New Roman"/>
                <a:ea typeface="Times New Roman"/>
                <a:cs typeface="Times New Roman"/>
                <a:sym typeface="Times New Roman"/>
              </a:rPr>
              <a:t>Chemo affects survival but also causes AE (neutropenia) that determines next dosing decision.</a:t>
            </a:r>
            <a:endParaRPr sz="1200">
              <a:solidFill>
                <a:srgbClr val="1A1A1A"/>
              </a:solidFill>
              <a:latin typeface="Times New Roman"/>
              <a:ea typeface="Times New Roman"/>
              <a:cs typeface="Times New Roman"/>
              <a:sym typeface="Times New Roman"/>
            </a:endParaRPr>
          </a:p>
          <a:p>
            <a:pPr indent="-146050" lvl="0" marL="152400" marR="0" rtl="0" algn="l">
              <a:lnSpc>
                <a:spcPct val="118000"/>
              </a:lnSpc>
              <a:spcBef>
                <a:spcPts val="800"/>
              </a:spcBef>
              <a:spcAft>
                <a:spcPts val="0"/>
              </a:spcAft>
              <a:buClr>
                <a:srgbClr val="1A1A1A"/>
              </a:buClr>
              <a:buSzPts val="1100"/>
              <a:buFont typeface="Times New Roman"/>
              <a:buChar char="▸"/>
            </a:pPr>
            <a:r>
              <a:rPr lang="en" sz="1100">
                <a:solidFill>
                  <a:srgbClr val="1A1A1A"/>
                </a:solidFill>
                <a:latin typeface="Times New Roman"/>
                <a:ea typeface="Times New Roman"/>
                <a:cs typeface="Times New Roman"/>
                <a:sym typeface="Times New Roman"/>
              </a:rPr>
              <a:t>To focus on the strength of g-computation, make this assumption:</a:t>
            </a:r>
            <a:endParaRPr sz="1100">
              <a:solidFill>
                <a:srgbClr val="1A1A1A"/>
              </a:solidFill>
              <a:latin typeface="Times New Roman"/>
              <a:ea typeface="Times New Roman"/>
              <a:cs typeface="Times New Roman"/>
              <a:sym typeface="Times New Roman"/>
            </a:endParaRPr>
          </a:p>
          <a:p>
            <a:pPr indent="-298450" lvl="1" marL="914400" rtl="0" algn="l">
              <a:lnSpc>
                <a:spcPct val="118000"/>
              </a:lnSpc>
              <a:spcBef>
                <a:spcPts val="800"/>
              </a:spcBef>
              <a:spcAft>
                <a:spcPts val="0"/>
              </a:spcAft>
              <a:buClr>
                <a:srgbClr val="1A1A1A"/>
              </a:buClr>
              <a:buSzPts val="1100"/>
              <a:buFont typeface="Times New Roman"/>
              <a:buChar char="–"/>
            </a:pPr>
            <a:r>
              <a:rPr lang="en" sz="1200">
                <a:solidFill>
                  <a:srgbClr val="1A1A1A"/>
                </a:solidFill>
                <a:latin typeface="Times New Roman"/>
                <a:ea typeface="Times New Roman"/>
                <a:cs typeface="Times New Roman"/>
                <a:sym typeface="Times New Roman"/>
              </a:rPr>
              <a:t>Neutropenia is not caused by a latent variable “frailty” that itself affects survival, or we control for it.</a:t>
            </a:r>
            <a:endParaRPr sz="1200">
              <a:solidFill>
                <a:srgbClr val="1A1A1A"/>
              </a:solidFill>
              <a:latin typeface="Times New Roman"/>
              <a:ea typeface="Times New Roman"/>
              <a:cs typeface="Times New Roman"/>
              <a:sym typeface="Times New Roman"/>
            </a:endParaRPr>
          </a:p>
          <a:p>
            <a:pPr indent="-304800" lvl="1" marL="914400" rtl="0" algn="l">
              <a:lnSpc>
                <a:spcPct val="118000"/>
              </a:lnSpc>
              <a:spcBef>
                <a:spcPts val="800"/>
              </a:spcBef>
              <a:spcAft>
                <a:spcPts val="0"/>
              </a:spcAft>
              <a:buClr>
                <a:srgbClr val="1A1A1A"/>
              </a:buClr>
              <a:buSzPts val="1200"/>
              <a:buFont typeface="Times New Roman"/>
              <a:buChar char="–"/>
            </a:pPr>
            <a:r>
              <a:rPr lang="en" sz="1200">
                <a:solidFill>
                  <a:srgbClr val="1A1A1A"/>
                </a:solidFill>
                <a:latin typeface="Times New Roman"/>
                <a:ea typeface="Times New Roman"/>
                <a:cs typeface="Times New Roman"/>
                <a:sym typeface="Times New Roman"/>
              </a:rPr>
              <a:t>Cov[error</a:t>
            </a:r>
            <a:r>
              <a:rPr baseline="-25000" lang="en" sz="1200">
                <a:solidFill>
                  <a:srgbClr val="1A1A1A"/>
                </a:solidFill>
                <a:latin typeface="Times New Roman"/>
                <a:ea typeface="Times New Roman"/>
                <a:cs typeface="Times New Roman"/>
                <a:sym typeface="Times New Roman"/>
              </a:rPr>
              <a:t>neutropenia</a:t>
            </a:r>
            <a:r>
              <a:rPr lang="en" sz="1200">
                <a:solidFill>
                  <a:srgbClr val="1A1A1A"/>
                </a:solidFill>
                <a:latin typeface="Times New Roman"/>
                <a:ea typeface="Times New Roman"/>
                <a:cs typeface="Times New Roman"/>
                <a:sym typeface="Times New Roman"/>
              </a:rPr>
              <a:t>, error</a:t>
            </a:r>
            <a:r>
              <a:rPr baseline="-25000" lang="en" sz="1200">
                <a:solidFill>
                  <a:srgbClr val="1A1A1A"/>
                </a:solidFill>
                <a:latin typeface="Times New Roman"/>
                <a:ea typeface="Times New Roman"/>
                <a:cs typeface="Times New Roman"/>
                <a:sym typeface="Times New Roman"/>
              </a:rPr>
              <a:t>survival</a:t>
            </a:r>
            <a:r>
              <a:rPr lang="en" sz="1200">
                <a:solidFill>
                  <a:srgbClr val="1A1A1A"/>
                </a:solidFill>
                <a:latin typeface="Times New Roman"/>
                <a:ea typeface="Times New Roman"/>
                <a:cs typeface="Times New Roman"/>
                <a:sym typeface="Times New Roman"/>
              </a:rPr>
              <a:t>) := 0</a:t>
            </a:r>
            <a:endParaRPr sz="1200">
              <a:solidFill>
                <a:srgbClr val="1A1A1A"/>
              </a:solidFill>
              <a:latin typeface="Times New Roman"/>
              <a:ea typeface="Times New Roman"/>
              <a:cs typeface="Times New Roman"/>
              <a:sym typeface="Times New Roman"/>
            </a:endParaRPr>
          </a:p>
          <a:p>
            <a:pPr indent="-304800" lvl="2" marL="1371600" rtl="0" algn="l">
              <a:lnSpc>
                <a:spcPct val="118000"/>
              </a:lnSpc>
              <a:spcBef>
                <a:spcPts val="800"/>
              </a:spcBef>
              <a:spcAft>
                <a:spcPts val="0"/>
              </a:spcAft>
              <a:buClr>
                <a:srgbClr val="1A1A1A"/>
              </a:buClr>
              <a:buSzPts val="1200"/>
              <a:buFont typeface="Times New Roman"/>
              <a:buChar char="■"/>
            </a:pPr>
            <a:r>
              <a:rPr lang="en" sz="1100">
                <a:solidFill>
                  <a:srgbClr val="1A1A1A"/>
                </a:solidFill>
                <a:latin typeface="Times New Roman"/>
                <a:ea typeface="Times New Roman"/>
                <a:cs typeface="Times New Roman"/>
                <a:sym typeface="Times New Roman"/>
              </a:rPr>
              <a:t>** If this assumption is not made, CIA fails and g-computation has just recovered a biased estimate of counterfactual outcomes.</a:t>
            </a:r>
            <a:endParaRPr sz="1100">
              <a:solidFill>
                <a:srgbClr val="1A1A1A"/>
              </a:solidFill>
              <a:latin typeface="Times New Roman"/>
              <a:ea typeface="Times New Roman"/>
              <a:cs typeface="Times New Roman"/>
              <a:sym typeface="Times New Roman"/>
            </a:endParaRPr>
          </a:p>
          <a:p>
            <a:pPr indent="0" lvl="0" marL="0" rtl="0" algn="l">
              <a:lnSpc>
                <a:spcPct val="118000"/>
              </a:lnSpc>
              <a:spcBef>
                <a:spcPts val="800"/>
              </a:spcBef>
              <a:spcAft>
                <a:spcPts val="0"/>
              </a:spcAft>
              <a:buNone/>
            </a:pPr>
            <a:r>
              <a:t/>
            </a:r>
            <a:endParaRPr sz="1100">
              <a:solidFill>
                <a:srgbClr val="1A1A1A"/>
              </a:solidFill>
              <a:latin typeface="Times New Roman"/>
              <a:ea typeface="Times New Roman"/>
              <a:cs typeface="Times New Roman"/>
              <a:sym typeface="Times New Roman"/>
            </a:endParaRPr>
          </a:p>
          <a:p>
            <a:pPr indent="-304800" lvl="0" marL="45720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IP</a:t>
            </a:r>
            <a:r>
              <a:rPr lang="en" sz="1200" u="sng">
                <a:solidFill>
                  <a:srgbClr val="1A1A1A"/>
                </a:solidFill>
                <a:latin typeface="Times New Roman"/>
                <a:ea typeface="Times New Roman"/>
                <a:cs typeface="Times New Roman"/>
                <a:sym typeface="Times New Roman"/>
              </a:rPr>
              <a:t>C</a:t>
            </a:r>
            <a:r>
              <a:rPr lang="en" sz="1200">
                <a:solidFill>
                  <a:srgbClr val="1A1A1A"/>
                </a:solidFill>
                <a:latin typeface="Times New Roman"/>
                <a:ea typeface="Times New Roman"/>
                <a:cs typeface="Times New Roman"/>
                <a:sym typeface="Times New Roman"/>
              </a:rPr>
              <a:t>W (prob of censor) is the logical extension of this method if you believe censoring is </a:t>
            </a:r>
            <a:r>
              <a:rPr i="1" lang="en" sz="1200">
                <a:solidFill>
                  <a:srgbClr val="1A1A1A"/>
                </a:solidFill>
                <a:latin typeface="Times New Roman"/>
                <a:ea typeface="Times New Roman"/>
                <a:cs typeface="Times New Roman"/>
                <a:sym typeface="Times New Roman"/>
              </a:rPr>
              <a:t>not</a:t>
            </a:r>
            <a:r>
              <a:rPr lang="en" sz="1200">
                <a:solidFill>
                  <a:srgbClr val="1A1A1A"/>
                </a:solidFill>
                <a:latin typeface="Times New Roman"/>
                <a:ea typeface="Times New Roman"/>
                <a:cs typeface="Times New Roman"/>
                <a:sym typeface="Times New Roman"/>
              </a:rPr>
              <a:t> non-informative</a:t>
            </a:r>
            <a:endParaRPr sz="1200">
              <a:solidFill>
                <a:srgbClr val="1A1A1A"/>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descr="slide_body_hires.png" id="727" name="Google Shape;727;p101"/>
          <p:cNvPicPr preferRelativeResize="0"/>
          <p:nvPr/>
        </p:nvPicPr>
        <p:blipFill rotWithShape="1">
          <a:blip r:embed="rId3">
            <a:alphaModFix/>
          </a:blip>
          <a:srcRect b="0" l="0" r="0" t="0"/>
          <a:stretch/>
        </p:blipFill>
        <p:spPr>
          <a:xfrm>
            <a:off x="0" y="0"/>
            <a:ext cx="9143771" cy="5143500"/>
          </a:xfrm>
          <a:prstGeom prst="rect">
            <a:avLst/>
          </a:prstGeom>
          <a:noFill/>
          <a:ln>
            <a:noFill/>
          </a:ln>
        </p:spPr>
      </p:pic>
      <p:sp>
        <p:nvSpPr>
          <p:cNvPr id="728" name="Google Shape;728;p101"/>
          <p:cNvSpPr/>
          <p:nvPr/>
        </p:nvSpPr>
        <p:spPr>
          <a:xfrm>
            <a:off x="205740" y="102870"/>
            <a:ext cx="8732291"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700"/>
              <a:buFont typeface="Arial"/>
              <a:buNone/>
            </a:pPr>
            <a:r>
              <a:rPr b="1" i="0" lang="en" sz="1700" u="none" cap="none" strike="noStrike">
                <a:solidFill>
                  <a:srgbClr val="111827"/>
                </a:solidFill>
                <a:latin typeface="Arial"/>
                <a:ea typeface="Arial"/>
                <a:cs typeface="Arial"/>
                <a:sym typeface="Arial"/>
              </a:rPr>
              <a:t>Bad Controls: </a:t>
            </a:r>
            <a:r>
              <a:rPr lang="en" sz="1700">
                <a:solidFill>
                  <a:srgbClr val="111827"/>
                </a:solidFill>
              </a:rPr>
              <a:t>Are we estimating the effect of ā that we think we are?</a:t>
            </a:r>
            <a:endParaRPr b="0" sz="17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733" name="Shape 733"/>
        <p:cNvGrpSpPr/>
        <p:nvPr/>
      </p:nvGrpSpPr>
      <p:grpSpPr>
        <a:xfrm>
          <a:off x="0" y="0"/>
          <a:ext cx="0" cy="0"/>
          <a:chOff x="0" y="0"/>
          <a:chExt cx="0" cy="0"/>
        </a:xfrm>
      </p:grpSpPr>
      <p:sp>
        <p:nvSpPr>
          <p:cNvPr id="734" name="Google Shape;734;p102"/>
          <p:cNvSpPr/>
          <p:nvPr/>
        </p:nvSpPr>
        <p:spPr>
          <a:xfrm>
            <a:off x="480060" y="240030"/>
            <a:ext cx="68580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4. MOTIVATING G-COMPUTATION</a:t>
            </a:r>
            <a:endParaRPr b="0" i="0" sz="800" u="none" cap="none" strike="noStrike">
              <a:solidFill>
                <a:schemeClr val="dk1"/>
              </a:solidFill>
              <a:latin typeface="Calibri"/>
              <a:ea typeface="Calibri"/>
              <a:cs typeface="Calibri"/>
              <a:sym typeface="Calibri"/>
            </a:endParaRPr>
          </a:p>
        </p:txBody>
      </p:sp>
      <p:sp>
        <p:nvSpPr>
          <p:cNvPr id="735" name="Google Shape;735;p102"/>
          <p:cNvSpPr/>
          <p:nvPr/>
        </p:nvSpPr>
        <p:spPr>
          <a:xfrm>
            <a:off x="480060" y="466344"/>
            <a:ext cx="81610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4.1  </a:t>
            </a:r>
            <a:r>
              <a:rPr b="1" i="0" lang="en" sz="1900" u="none" cap="none" strike="noStrike">
                <a:solidFill>
                  <a:srgbClr val="1B2A4A"/>
                </a:solidFill>
                <a:latin typeface="Times New Roman"/>
                <a:ea typeface="Times New Roman"/>
                <a:cs typeface="Times New Roman"/>
                <a:sym typeface="Times New Roman"/>
              </a:rPr>
              <a:t>The Scenario: A Treatment-Induced Confounder</a:t>
            </a:r>
            <a:endParaRPr b="0" i="0" sz="1900" u="none" cap="none" strike="noStrike">
              <a:solidFill>
                <a:schemeClr val="dk1"/>
              </a:solidFill>
              <a:latin typeface="Calibri"/>
              <a:ea typeface="Calibri"/>
              <a:cs typeface="Calibri"/>
              <a:sym typeface="Calibri"/>
            </a:endParaRPr>
          </a:p>
        </p:txBody>
      </p:sp>
      <p:cxnSp>
        <p:nvCxnSpPr>
          <p:cNvPr id="736" name="Google Shape;736;p102"/>
          <p:cNvCxnSpPr/>
          <p:nvPr/>
        </p:nvCxnSpPr>
        <p:spPr>
          <a:xfrm>
            <a:off x="480060" y="905256"/>
            <a:ext cx="8181594" cy="0"/>
          </a:xfrm>
          <a:prstGeom prst="straightConnector1">
            <a:avLst/>
          </a:prstGeom>
          <a:noFill/>
          <a:ln cap="flat" cmpd="sng" w="15875">
            <a:solidFill>
              <a:srgbClr val="1B2A4A"/>
            </a:solidFill>
            <a:prstDash val="solid"/>
            <a:round/>
            <a:headEnd len="sm" w="sm" type="none"/>
            <a:tailEnd len="sm" w="sm" type="none"/>
          </a:ln>
        </p:spPr>
      </p:cxnSp>
      <p:cxnSp>
        <p:nvCxnSpPr>
          <p:cNvPr id="737" name="Google Shape;737;p102"/>
          <p:cNvCxnSpPr/>
          <p:nvPr/>
        </p:nvCxnSpPr>
        <p:spPr>
          <a:xfrm>
            <a:off x="480060" y="4766310"/>
            <a:ext cx="8181594" cy="0"/>
          </a:xfrm>
          <a:prstGeom prst="straightConnector1">
            <a:avLst/>
          </a:prstGeom>
          <a:noFill/>
          <a:ln cap="flat" cmpd="sng" w="9525">
            <a:solidFill>
              <a:srgbClr val="C7CCDA"/>
            </a:solidFill>
            <a:prstDash val="solid"/>
            <a:round/>
            <a:headEnd len="sm" w="sm" type="none"/>
            <a:tailEnd len="sm" w="sm" type="none"/>
          </a:ln>
        </p:spPr>
      </p:cxnSp>
      <p:sp>
        <p:nvSpPr>
          <p:cNvPr id="738" name="Google Shape;738;p102"/>
          <p:cNvSpPr/>
          <p:nvPr/>
        </p:nvSpPr>
        <p:spPr>
          <a:xfrm>
            <a:off x="480060" y="4828032"/>
            <a:ext cx="27432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739" name="Google Shape;739;p102"/>
          <p:cNvSpPr/>
          <p:nvPr/>
        </p:nvSpPr>
        <p:spPr>
          <a:xfrm>
            <a:off x="2880360" y="4828032"/>
            <a:ext cx="342900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4. Motivating G-Computation</a:t>
            </a:r>
            <a:endParaRPr b="0" i="0" sz="700" u="none" cap="none" strike="noStrike">
              <a:solidFill>
                <a:schemeClr val="dk1"/>
              </a:solidFill>
              <a:latin typeface="Calibri"/>
              <a:ea typeface="Calibri"/>
              <a:cs typeface="Calibri"/>
              <a:sym typeface="Calibri"/>
            </a:endParaRPr>
          </a:p>
        </p:txBody>
      </p:sp>
      <p:sp>
        <p:nvSpPr>
          <p:cNvPr id="740" name="Google Shape;740;p102"/>
          <p:cNvSpPr/>
          <p:nvPr/>
        </p:nvSpPr>
        <p:spPr>
          <a:xfrm>
            <a:off x="8229600" y="4828032"/>
            <a:ext cx="432054"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15</a:t>
            </a:r>
            <a:endParaRPr b="0" i="0" sz="700" u="none" cap="none" strike="noStrike">
              <a:solidFill>
                <a:schemeClr val="dk1"/>
              </a:solidFill>
              <a:latin typeface="Calibri"/>
              <a:ea typeface="Calibri"/>
              <a:cs typeface="Calibri"/>
              <a:sym typeface="Calibri"/>
            </a:endParaRPr>
          </a:p>
        </p:txBody>
      </p:sp>
      <p:sp>
        <p:nvSpPr>
          <p:cNvPr id="741" name="Google Shape;741;p102"/>
          <p:cNvSpPr/>
          <p:nvPr/>
        </p:nvSpPr>
        <p:spPr>
          <a:xfrm>
            <a:off x="480060" y="1131570"/>
            <a:ext cx="8161020" cy="3634740"/>
          </a:xfrm>
          <a:prstGeom prst="rect">
            <a:avLst/>
          </a:prstGeom>
          <a:noFill/>
          <a:ln>
            <a:noFill/>
          </a:ln>
        </p:spPr>
        <p:txBody>
          <a:bodyPr anchorCtr="0" anchor="t" bIns="34275" lIns="68575" spcFirstLastPara="1" rIns="68575" wrap="square" tIns="34275">
            <a:noAutofit/>
          </a:bodyPr>
          <a:lstStyle/>
          <a:p>
            <a:pPr indent="-152400" lvl="0" marL="152400" marR="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Example: </a:t>
            </a:r>
            <a:endParaRPr sz="1200">
              <a:solidFill>
                <a:srgbClr val="1A1A1A"/>
              </a:solidFill>
              <a:latin typeface="Times New Roman"/>
              <a:ea typeface="Times New Roman"/>
              <a:cs typeface="Times New Roman"/>
              <a:sym typeface="Times New Roman"/>
            </a:endParaRPr>
          </a:p>
          <a:p>
            <a:pPr indent="-304800" lvl="1" marL="914400" marR="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RQ: We want to evaluate survival at 24m for patients who receive full course of chemo vs not</a:t>
            </a:r>
            <a:endParaRPr sz="1200">
              <a:solidFill>
                <a:srgbClr val="1A1A1A"/>
              </a:solidFill>
              <a:latin typeface="Times New Roman"/>
              <a:ea typeface="Times New Roman"/>
              <a:cs typeface="Times New Roman"/>
              <a:sym typeface="Times New Roman"/>
            </a:endParaRPr>
          </a:p>
          <a:p>
            <a:pPr indent="-304800" lvl="1" marL="914400" marR="0" rtl="0" algn="l">
              <a:lnSpc>
                <a:spcPct val="118000"/>
              </a:lnSpc>
              <a:spcBef>
                <a:spcPts val="800"/>
              </a:spcBef>
              <a:spcAft>
                <a:spcPts val="0"/>
              </a:spcAft>
              <a:buClr>
                <a:srgbClr val="1A1A1A"/>
              </a:buClr>
              <a:buSzPts val="1200"/>
              <a:buFont typeface="Times New Roman"/>
              <a:buChar char="–"/>
            </a:pPr>
            <a:r>
              <a:rPr lang="en" sz="1200">
                <a:solidFill>
                  <a:srgbClr val="1A1A1A"/>
                </a:solidFill>
                <a:latin typeface="Times New Roman"/>
                <a:ea typeface="Times New Roman"/>
                <a:cs typeface="Times New Roman"/>
                <a:sym typeface="Times New Roman"/>
              </a:rPr>
              <a:t>Chemo affects survival but also causes AE (neutropenia) that determines next dosing decision.</a:t>
            </a:r>
            <a:endParaRPr sz="1200">
              <a:solidFill>
                <a:srgbClr val="1A1A1A"/>
              </a:solidFill>
              <a:latin typeface="Times New Roman"/>
              <a:ea typeface="Times New Roman"/>
              <a:cs typeface="Times New Roman"/>
              <a:sym typeface="Times New Roman"/>
            </a:endParaRPr>
          </a:p>
          <a:p>
            <a:pPr indent="-304800" lvl="1" marL="914400" marR="0" rtl="0" algn="l">
              <a:lnSpc>
                <a:spcPct val="118000"/>
              </a:lnSpc>
              <a:spcBef>
                <a:spcPts val="800"/>
              </a:spcBef>
              <a:spcAft>
                <a:spcPts val="0"/>
              </a:spcAft>
              <a:buClr>
                <a:srgbClr val="1A1A1A"/>
              </a:buClr>
              <a:buSzPts val="1200"/>
              <a:buFont typeface="Times New Roman"/>
              <a:buChar char="–"/>
            </a:pPr>
            <a:r>
              <a:rPr lang="en" sz="1200">
                <a:solidFill>
                  <a:srgbClr val="1A1A1A"/>
                </a:solidFill>
                <a:latin typeface="Times New Roman"/>
                <a:ea typeface="Times New Roman"/>
                <a:cs typeface="Times New Roman"/>
                <a:sym typeface="Times New Roman"/>
              </a:rPr>
              <a:t>Neutropenia is caused by a latent variable “frailty” that itself affects survival.</a:t>
            </a:r>
            <a:endParaRPr sz="1200">
              <a:solidFill>
                <a:srgbClr val="1A1A1A"/>
              </a:solidFill>
              <a:latin typeface="Times New Roman"/>
              <a:ea typeface="Times New Roman"/>
              <a:cs typeface="Times New Roman"/>
              <a:sym typeface="Times New Roman"/>
            </a:endParaRPr>
          </a:p>
          <a:p>
            <a:pPr indent="-146050" lvl="0" marL="152400" marR="0" rtl="0" algn="l">
              <a:lnSpc>
                <a:spcPct val="118000"/>
              </a:lnSpc>
              <a:spcBef>
                <a:spcPts val="800"/>
              </a:spcBef>
              <a:spcAft>
                <a:spcPts val="0"/>
              </a:spcAft>
              <a:buClr>
                <a:srgbClr val="1A1A1A"/>
              </a:buClr>
              <a:buSzPts val="1100"/>
              <a:buFont typeface="Times New Roman"/>
              <a:buChar char="▸"/>
            </a:pPr>
            <a:r>
              <a:rPr lang="en" sz="1200">
                <a:solidFill>
                  <a:srgbClr val="1A1A1A"/>
                </a:solidFill>
                <a:latin typeface="Times New Roman"/>
                <a:ea typeface="Times New Roman"/>
                <a:cs typeface="Times New Roman"/>
                <a:sym typeface="Times New Roman"/>
              </a:rPr>
              <a:t>(1) Y = </a:t>
            </a:r>
            <a:r>
              <a:rPr lang="en" sz="1000">
                <a:solidFill>
                  <a:srgbClr val="1A1A1A"/>
                </a:solidFill>
                <a:latin typeface="Times New Roman"/>
                <a:ea typeface="Times New Roman"/>
                <a:cs typeface="Times New Roman"/>
                <a:sym typeface="Times New Roman"/>
              </a:rPr>
              <a:t>β</a:t>
            </a:r>
            <a:r>
              <a:rPr baseline="-25000" lang="en" sz="1000">
                <a:solidFill>
                  <a:srgbClr val="1A1A1A"/>
                </a:solidFill>
                <a:latin typeface="Times New Roman"/>
                <a:ea typeface="Times New Roman"/>
                <a:cs typeface="Times New Roman"/>
                <a:sym typeface="Times New Roman"/>
              </a:rPr>
              <a:t>1</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β</a:t>
            </a:r>
            <a:r>
              <a:rPr baseline="-25000" lang="en" sz="1000">
                <a:solidFill>
                  <a:srgbClr val="1A1A1A"/>
                </a:solidFill>
                <a:latin typeface="Times New Roman"/>
                <a:ea typeface="Times New Roman"/>
                <a:cs typeface="Times New Roman"/>
                <a:sym typeface="Times New Roman"/>
              </a:rPr>
              <a:t>2</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γL</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e		(2) L</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a:t>
            </a:r>
            <a:r>
              <a:rPr i="1" lang="en" sz="1000">
                <a:solidFill>
                  <a:srgbClr val="1A1A1A"/>
                </a:solidFill>
                <a:latin typeface="Times New Roman"/>
                <a:ea typeface="Times New Roman"/>
                <a:cs typeface="Times New Roman"/>
                <a:sym typeface="Times New Roman"/>
              </a:rPr>
              <a:t>c</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u</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(3) Cov(u</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,e) ≠ 0</a:t>
            </a:r>
            <a:endParaRPr sz="1000">
              <a:solidFill>
                <a:srgbClr val="1A1A1A"/>
              </a:solidFill>
              <a:latin typeface="Times New Roman"/>
              <a:ea typeface="Times New Roman"/>
              <a:cs typeface="Times New Roman"/>
              <a:sym typeface="Times New Roman"/>
            </a:endParaRPr>
          </a:p>
          <a:p>
            <a:pPr indent="-298450" lvl="1" marL="914400" marR="0" rtl="0" algn="l">
              <a:lnSpc>
                <a:spcPct val="118000"/>
              </a:lnSpc>
              <a:spcBef>
                <a:spcPts val="800"/>
              </a:spcBef>
              <a:spcAft>
                <a:spcPts val="0"/>
              </a:spcAft>
              <a:buClr>
                <a:srgbClr val="1A1A1A"/>
              </a:buClr>
              <a:buSzPts val="1100"/>
              <a:buFont typeface="Times New Roman"/>
              <a:buChar char="–"/>
            </a:pPr>
            <a:r>
              <a:rPr b="1" lang="en" sz="1000">
                <a:solidFill>
                  <a:srgbClr val="1A1A1A"/>
                </a:solidFill>
                <a:latin typeface="Times New Roman"/>
                <a:ea typeface="Times New Roman"/>
                <a:cs typeface="Times New Roman"/>
                <a:sym typeface="Times New Roman"/>
              </a:rPr>
              <a:t>Sub in L</a:t>
            </a:r>
            <a:r>
              <a:rPr b="1" baseline="-25000" lang="en" sz="1000">
                <a:solidFill>
                  <a:srgbClr val="1A1A1A"/>
                </a:solidFill>
                <a:latin typeface="Times New Roman"/>
                <a:ea typeface="Times New Roman"/>
                <a:cs typeface="Times New Roman"/>
                <a:sym typeface="Times New Roman"/>
              </a:rPr>
              <a:t>t</a:t>
            </a:r>
            <a:r>
              <a:rPr b="1" lang="en" sz="1000">
                <a:solidFill>
                  <a:srgbClr val="1A1A1A"/>
                </a:solidFill>
                <a:latin typeface="Times New Roman"/>
                <a:ea typeface="Times New Roman"/>
                <a:cs typeface="Times New Roman"/>
                <a:sym typeface="Times New Roman"/>
              </a:rPr>
              <a:t> to Y</a:t>
            </a:r>
            <a:r>
              <a:rPr lang="en" sz="1000">
                <a:solidFill>
                  <a:srgbClr val="1A1A1A"/>
                </a:solidFill>
                <a:latin typeface="Times New Roman"/>
                <a:ea typeface="Times New Roman"/>
                <a:cs typeface="Times New Roman"/>
                <a:sym typeface="Times New Roman"/>
              </a:rPr>
              <a:t> → </a:t>
            </a:r>
            <a:r>
              <a:rPr lang="en" sz="1200">
                <a:solidFill>
                  <a:srgbClr val="1A1A1A"/>
                </a:solidFill>
                <a:latin typeface="Times New Roman"/>
                <a:ea typeface="Times New Roman"/>
                <a:cs typeface="Times New Roman"/>
                <a:sym typeface="Times New Roman"/>
              </a:rPr>
              <a:t>Y = </a:t>
            </a:r>
            <a:r>
              <a:rPr lang="en" sz="1000">
                <a:solidFill>
                  <a:srgbClr val="1A1A1A"/>
                </a:solidFill>
                <a:latin typeface="Times New Roman"/>
                <a:ea typeface="Times New Roman"/>
                <a:cs typeface="Times New Roman"/>
                <a:sym typeface="Times New Roman"/>
              </a:rPr>
              <a:t>β</a:t>
            </a:r>
            <a:r>
              <a:rPr baseline="-25000" lang="en" sz="1000">
                <a:solidFill>
                  <a:srgbClr val="1A1A1A"/>
                </a:solidFill>
                <a:latin typeface="Times New Roman"/>
                <a:ea typeface="Times New Roman"/>
                <a:cs typeface="Times New Roman"/>
                <a:sym typeface="Times New Roman"/>
              </a:rPr>
              <a:t>1</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β</a:t>
            </a:r>
            <a:r>
              <a:rPr baseline="-25000" lang="en" sz="1000">
                <a:solidFill>
                  <a:srgbClr val="1A1A1A"/>
                </a:solidFill>
                <a:latin typeface="Times New Roman"/>
                <a:ea typeface="Times New Roman"/>
                <a:cs typeface="Times New Roman"/>
                <a:sym typeface="Times New Roman"/>
              </a:rPr>
              <a:t>2</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γ [</a:t>
            </a:r>
            <a:r>
              <a:rPr i="1" lang="en" sz="1000">
                <a:solidFill>
                  <a:srgbClr val="1A1A1A"/>
                </a:solidFill>
                <a:latin typeface="Times New Roman"/>
                <a:ea typeface="Times New Roman"/>
                <a:cs typeface="Times New Roman"/>
                <a:sym typeface="Times New Roman"/>
              </a:rPr>
              <a:t>c</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u</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e</a:t>
            </a:r>
            <a:endParaRPr sz="1000">
              <a:solidFill>
                <a:srgbClr val="1A1A1A"/>
              </a:solidFill>
              <a:latin typeface="Times New Roman"/>
              <a:ea typeface="Times New Roman"/>
              <a:cs typeface="Times New Roman"/>
              <a:sym typeface="Times New Roman"/>
            </a:endParaRPr>
          </a:p>
          <a:p>
            <a:pPr indent="-292100" lvl="1" marL="914400" marR="0" rtl="0" algn="l">
              <a:lnSpc>
                <a:spcPct val="118000"/>
              </a:lnSpc>
              <a:spcBef>
                <a:spcPts val="800"/>
              </a:spcBef>
              <a:spcAft>
                <a:spcPts val="0"/>
              </a:spcAft>
              <a:buClr>
                <a:srgbClr val="1A1A1A"/>
              </a:buClr>
              <a:buSzPts val="1000"/>
              <a:buFont typeface="Times New Roman"/>
              <a:buChar char="–"/>
            </a:pPr>
            <a:r>
              <a:rPr b="1" lang="en" sz="1000">
                <a:solidFill>
                  <a:srgbClr val="1A1A1A"/>
                </a:solidFill>
                <a:latin typeface="Times New Roman"/>
                <a:ea typeface="Times New Roman"/>
                <a:cs typeface="Times New Roman"/>
                <a:sym typeface="Times New Roman"/>
              </a:rPr>
              <a:t>Take expectation E[Y | X] (recall causal when E[Y | X] = f(X)) : </a:t>
            </a:r>
            <a:r>
              <a:rPr lang="en" sz="1000">
                <a:solidFill>
                  <a:srgbClr val="1A1A1A"/>
                </a:solidFill>
                <a:latin typeface="Times New Roman"/>
                <a:ea typeface="Times New Roman"/>
                <a:cs typeface="Times New Roman"/>
                <a:sym typeface="Times New Roman"/>
              </a:rPr>
              <a:t>E[Y | 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a</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L</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(β</a:t>
            </a:r>
            <a:r>
              <a:rPr baseline="-25000" lang="en" sz="1000">
                <a:solidFill>
                  <a:srgbClr val="1A1A1A"/>
                </a:solidFill>
                <a:latin typeface="Times New Roman"/>
                <a:ea typeface="Times New Roman"/>
                <a:cs typeface="Times New Roman"/>
                <a:sym typeface="Times New Roman"/>
              </a:rPr>
              <a:t>1</a:t>
            </a:r>
            <a:r>
              <a:rPr lang="en" sz="1000">
                <a:solidFill>
                  <a:srgbClr val="1A1A1A"/>
                </a:solidFill>
                <a:latin typeface="Times New Roman"/>
                <a:ea typeface="Times New Roman"/>
                <a:cs typeface="Times New Roman"/>
                <a:sym typeface="Times New Roman"/>
              </a:rPr>
              <a:t>+ γ</a:t>
            </a:r>
            <a:r>
              <a:rPr i="1" lang="en" sz="1000">
                <a:solidFill>
                  <a:srgbClr val="1A1A1A"/>
                </a:solidFill>
                <a:latin typeface="Times New Roman"/>
                <a:ea typeface="Times New Roman"/>
                <a:cs typeface="Times New Roman"/>
                <a:sym typeface="Times New Roman"/>
              </a:rPr>
              <a:t>c</a:t>
            </a:r>
            <a:r>
              <a:rPr lang="en" sz="1000">
                <a:solidFill>
                  <a:srgbClr val="1A1A1A"/>
                </a:solidFill>
                <a:latin typeface="Times New Roman"/>
                <a:ea typeface="Times New Roman"/>
                <a:cs typeface="Times New Roman"/>
                <a:sym typeface="Times New Roman"/>
              </a:rPr>
              <a:t>) a</a:t>
            </a:r>
            <a:r>
              <a:rPr baseline="-25000" lang="en" sz="1000">
                <a:solidFill>
                  <a:srgbClr val="1A1A1A"/>
                </a:solidFill>
                <a:latin typeface="Times New Roman"/>
                <a:ea typeface="Times New Roman"/>
                <a:cs typeface="Times New Roman"/>
                <a:sym typeface="Times New Roman"/>
              </a:rPr>
              <a:t>t-1 </a:t>
            </a:r>
            <a:r>
              <a:rPr lang="en" sz="1000">
                <a:solidFill>
                  <a:srgbClr val="1A1A1A"/>
                </a:solidFill>
                <a:latin typeface="Times New Roman"/>
                <a:ea typeface="Times New Roman"/>
                <a:cs typeface="Times New Roman"/>
                <a:sym typeface="Times New Roman"/>
              </a:rPr>
              <a:t>+  β</a:t>
            </a:r>
            <a:r>
              <a:rPr baseline="-25000" lang="en" sz="1000">
                <a:solidFill>
                  <a:srgbClr val="1A1A1A"/>
                </a:solidFill>
                <a:latin typeface="Times New Roman"/>
                <a:ea typeface="Times New Roman"/>
                <a:cs typeface="Times New Roman"/>
                <a:sym typeface="Times New Roman"/>
              </a:rPr>
              <a:t>2</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a:t>
            </a:r>
            <a:r>
              <a:rPr lang="en" sz="1000">
                <a:solidFill>
                  <a:srgbClr val="FF0000"/>
                </a:solidFill>
                <a:latin typeface="Times New Roman"/>
                <a:ea typeface="Times New Roman"/>
                <a:cs typeface="Times New Roman"/>
                <a:sym typeface="Times New Roman"/>
              </a:rPr>
              <a:t>E[γu</a:t>
            </a:r>
            <a:r>
              <a:rPr baseline="-25000" lang="en" sz="1000">
                <a:solidFill>
                  <a:srgbClr val="FF0000"/>
                </a:solidFill>
                <a:latin typeface="Times New Roman"/>
                <a:ea typeface="Times New Roman"/>
                <a:cs typeface="Times New Roman"/>
                <a:sym typeface="Times New Roman"/>
              </a:rPr>
              <a:t>t</a:t>
            </a:r>
            <a:r>
              <a:rPr lang="en" sz="1000">
                <a:solidFill>
                  <a:srgbClr val="FF0000"/>
                </a:solidFill>
                <a:latin typeface="Times New Roman"/>
                <a:ea typeface="Times New Roman"/>
                <a:cs typeface="Times New Roman"/>
                <a:sym typeface="Times New Roman"/>
              </a:rPr>
              <a:t> + e] | a</a:t>
            </a:r>
            <a:r>
              <a:rPr baseline="-25000" lang="en" sz="1000">
                <a:solidFill>
                  <a:srgbClr val="FF0000"/>
                </a:solidFill>
                <a:latin typeface="Times New Roman"/>
                <a:ea typeface="Times New Roman"/>
                <a:cs typeface="Times New Roman"/>
                <a:sym typeface="Times New Roman"/>
              </a:rPr>
              <a:t>t-1</a:t>
            </a:r>
            <a:r>
              <a:rPr lang="en" sz="1000">
                <a:solidFill>
                  <a:srgbClr val="FF0000"/>
                </a:solidFill>
                <a:latin typeface="Times New Roman"/>
                <a:ea typeface="Times New Roman"/>
                <a:cs typeface="Times New Roman"/>
                <a:sym typeface="Times New Roman"/>
              </a:rPr>
              <a:t>, a</a:t>
            </a:r>
            <a:r>
              <a:rPr baseline="-25000" lang="en" sz="1000">
                <a:solidFill>
                  <a:srgbClr val="FF0000"/>
                </a:solidFill>
                <a:latin typeface="Times New Roman"/>
                <a:ea typeface="Times New Roman"/>
                <a:cs typeface="Times New Roman"/>
                <a:sym typeface="Times New Roman"/>
              </a:rPr>
              <a:t>t</a:t>
            </a:r>
            <a:r>
              <a:rPr lang="en" sz="1000">
                <a:solidFill>
                  <a:srgbClr val="FF0000"/>
                </a:solidFill>
                <a:latin typeface="Times New Roman"/>
                <a:ea typeface="Times New Roman"/>
                <a:cs typeface="Times New Roman"/>
                <a:sym typeface="Times New Roman"/>
              </a:rPr>
              <a:t>, L</a:t>
            </a:r>
            <a:r>
              <a:rPr baseline="-25000" lang="en" sz="1000">
                <a:solidFill>
                  <a:srgbClr val="FF0000"/>
                </a:solidFill>
                <a:latin typeface="Times New Roman"/>
                <a:ea typeface="Times New Roman"/>
                <a:cs typeface="Times New Roman"/>
                <a:sym typeface="Times New Roman"/>
              </a:rPr>
              <a:t>t</a:t>
            </a:r>
            <a:r>
              <a:rPr lang="en" sz="1000">
                <a:solidFill>
                  <a:srgbClr val="FF0000"/>
                </a:solidFill>
                <a:latin typeface="Times New Roman"/>
                <a:ea typeface="Times New Roman"/>
                <a:cs typeface="Times New Roman"/>
                <a:sym typeface="Times New Roman"/>
              </a:rPr>
              <a:t>]</a:t>
            </a:r>
            <a:endParaRPr sz="1000">
              <a:solidFill>
                <a:srgbClr val="FF0000"/>
              </a:solidFill>
              <a:latin typeface="Times New Roman"/>
              <a:ea typeface="Times New Roman"/>
              <a:cs typeface="Times New Roman"/>
              <a:sym typeface="Times New Roman"/>
            </a:endParaRPr>
          </a:p>
          <a:p>
            <a:pPr indent="-292100" lvl="1" marL="914400" marR="0" rtl="0" algn="l">
              <a:lnSpc>
                <a:spcPct val="118000"/>
              </a:lnSpc>
              <a:spcBef>
                <a:spcPts val="800"/>
              </a:spcBef>
              <a:spcAft>
                <a:spcPts val="0"/>
              </a:spcAft>
              <a:buClr>
                <a:schemeClr val="dk1"/>
              </a:buClr>
              <a:buSzPts val="1000"/>
              <a:buFont typeface="Times New Roman"/>
              <a:buChar char="–"/>
            </a:pPr>
            <a:r>
              <a:rPr b="1" lang="en" sz="1000">
                <a:solidFill>
                  <a:schemeClr val="dk1"/>
                </a:solidFill>
                <a:latin typeface="Times New Roman"/>
                <a:ea typeface="Times New Roman"/>
                <a:cs typeface="Times New Roman"/>
                <a:sym typeface="Times New Roman"/>
              </a:rPr>
              <a:t>But Cov(u</a:t>
            </a:r>
            <a:r>
              <a:rPr b="1" baseline="-25000" lang="en" sz="1000">
                <a:solidFill>
                  <a:schemeClr val="dk1"/>
                </a:solidFill>
                <a:latin typeface="Times New Roman"/>
                <a:ea typeface="Times New Roman"/>
                <a:cs typeface="Times New Roman"/>
                <a:sym typeface="Times New Roman"/>
              </a:rPr>
              <a:t>t</a:t>
            </a:r>
            <a:r>
              <a:rPr b="1" lang="en" sz="1000">
                <a:solidFill>
                  <a:schemeClr val="dk1"/>
                </a:solidFill>
                <a:latin typeface="Times New Roman"/>
                <a:ea typeface="Times New Roman"/>
                <a:cs typeface="Times New Roman"/>
                <a:sym typeface="Times New Roman"/>
              </a:rPr>
              <a:t>,e) </a:t>
            </a:r>
            <a:r>
              <a:rPr b="1" lang="en" sz="1000">
                <a:solidFill>
                  <a:srgbClr val="1A1A1A"/>
                </a:solidFill>
                <a:latin typeface="Times New Roman"/>
                <a:ea typeface="Times New Roman"/>
                <a:cs typeface="Times New Roman"/>
                <a:sym typeface="Times New Roman"/>
              </a:rPr>
              <a:t>≠ 0 </a:t>
            </a:r>
            <a:r>
              <a:rPr lang="en" sz="1000">
                <a:solidFill>
                  <a:srgbClr val="1A1A1A"/>
                </a:solidFill>
                <a:latin typeface="Times New Roman"/>
                <a:ea typeface="Times New Roman"/>
                <a:cs typeface="Times New Roman"/>
                <a:sym typeface="Times New Roman"/>
              </a:rPr>
              <a:t>→ So E[e | X] = E[e | 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a</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L] ≠ 0</a:t>
            </a:r>
            <a:endParaRPr sz="1100">
              <a:solidFill>
                <a:srgbClr val="1A1A1A"/>
              </a:solidFill>
              <a:latin typeface="Times New Roman"/>
              <a:ea typeface="Times New Roman"/>
              <a:cs typeface="Times New Roman"/>
              <a:sym typeface="Times New Roman"/>
            </a:endParaRPr>
          </a:p>
          <a:p>
            <a:pPr indent="-152400" lvl="0" marL="15240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The two KEY parts here are that:</a:t>
            </a:r>
            <a:endParaRPr sz="1200">
              <a:solidFill>
                <a:srgbClr val="1A1A1A"/>
              </a:solidFill>
              <a:latin typeface="Times New Roman"/>
              <a:ea typeface="Times New Roman"/>
              <a:cs typeface="Times New Roman"/>
              <a:sym typeface="Times New Roman"/>
            </a:endParaRPr>
          </a:p>
          <a:p>
            <a:pPr indent="-304800" lvl="1" marL="91440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(1) frailty is a latent variable, and so as long as frailty and dose decisions are related, there is an OVB problem – G-computation </a:t>
            </a:r>
            <a:r>
              <a:rPr i="1" lang="en" sz="1200">
                <a:solidFill>
                  <a:srgbClr val="1A1A1A"/>
                </a:solidFill>
                <a:latin typeface="Times New Roman"/>
                <a:ea typeface="Times New Roman"/>
                <a:cs typeface="Times New Roman"/>
                <a:sym typeface="Times New Roman"/>
              </a:rPr>
              <a:t>cannot </a:t>
            </a:r>
            <a:r>
              <a:rPr lang="en" sz="1200">
                <a:solidFill>
                  <a:srgbClr val="1A1A1A"/>
                </a:solidFill>
                <a:latin typeface="Times New Roman"/>
                <a:ea typeface="Times New Roman"/>
                <a:cs typeface="Times New Roman"/>
                <a:sym typeface="Times New Roman"/>
              </a:rPr>
              <a:t>fix that. [Need something like an </a:t>
            </a:r>
            <a:r>
              <a:rPr lang="en" sz="1200">
                <a:solidFill>
                  <a:srgbClr val="1A1A1A"/>
                </a:solidFill>
                <a:latin typeface="Times New Roman"/>
                <a:ea typeface="Times New Roman"/>
                <a:cs typeface="Times New Roman"/>
                <a:sym typeface="Times New Roman"/>
              </a:rPr>
              <a:t>I</a:t>
            </a:r>
            <a:r>
              <a:rPr lang="en" sz="1200">
                <a:solidFill>
                  <a:srgbClr val="1A1A1A"/>
                </a:solidFill>
                <a:latin typeface="Times New Roman"/>
                <a:ea typeface="Times New Roman"/>
                <a:cs typeface="Times New Roman"/>
                <a:sym typeface="Times New Roman"/>
              </a:rPr>
              <a:t>nstrument Variable]</a:t>
            </a:r>
            <a:endParaRPr sz="1200">
              <a:solidFill>
                <a:srgbClr val="1A1A1A"/>
              </a:solidFill>
              <a:latin typeface="Times New Roman"/>
              <a:ea typeface="Times New Roman"/>
              <a:cs typeface="Times New Roman"/>
              <a:sym typeface="Times New Roman"/>
            </a:endParaRPr>
          </a:p>
          <a:p>
            <a:pPr indent="-304800" lvl="1" marL="91440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(2) by including L</a:t>
            </a:r>
            <a:r>
              <a:rPr baseline="-25000" lang="en" sz="1200">
                <a:solidFill>
                  <a:srgbClr val="1A1A1A"/>
                </a:solidFill>
                <a:latin typeface="Times New Roman"/>
                <a:ea typeface="Times New Roman"/>
                <a:cs typeface="Times New Roman"/>
                <a:sym typeface="Times New Roman"/>
              </a:rPr>
              <a:t>t</a:t>
            </a:r>
            <a:r>
              <a:rPr lang="en" sz="1200">
                <a:solidFill>
                  <a:srgbClr val="1A1A1A"/>
                </a:solidFill>
                <a:latin typeface="Times New Roman"/>
                <a:ea typeface="Times New Roman"/>
                <a:cs typeface="Times New Roman"/>
                <a:sym typeface="Times New Roman"/>
              </a:rPr>
              <a:t> in the model, you’re creating a “bad controls” problem? → G-computation </a:t>
            </a:r>
            <a:r>
              <a:rPr i="1" lang="en" sz="1200">
                <a:solidFill>
                  <a:srgbClr val="1A1A1A"/>
                </a:solidFill>
                <a:latin typeface="Times New Roman"/>
                <a:ea typeface="Times New Roman"/>
                <a:cs typeface="Times New Roman"/>
                <a:sym typeface="Times New Roman"/>
              </a:rPr>
              <a:t>can</a:t>
            </a:r>
            <a:r>
              <a:rPr lang="en" sz="1200">
                <a:solidFill>
                  <a:srgbClr val="1A1A1A"/>
                </a:solidFill>
                <a:latin typeface="Times New Roman"/>
                <a:ea typeface="Times New Roman"/>
                <a:cs typeface="Times New Roman"/>
                <a:sym typeface="Times New Roman"/>
              </a:rPr>
              <a:t> solve this part*</a:t>
            </a:r>
            <a:endParaRPr sz="1100">
              <a:solidFill>
                <a:srgbClr val="1A1A1A"/>
              </a:solidFill>
              <a:latin typeface="Times New Roman"/>
              <a:ea typeface="Times New Roman"/>
              <a:cs typeface="Times New Roman"/>
              <a:sym typeface="Times New Roman"/>
            </a:endParaRPr>
          </a:p>
        </p:txBody>
      </p:sp>
      <p:sp>
        <p:nvSpPr>
          <p:cNvPr id="742" name="Google Shape;742;p102"/>
          <p:cNvSpPr/>
          <p:nvPr/>
        </p:nvSpPr>
        <p:spPr>
          <a:xfrm rot="5400000">
            <a:off x="6208850" y="2932475"/>
            <a:ext cx="136800" cy="833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102"/>
          <p:cNvSpPr txBox="1"/>
          <p:nvPr/>
        </p:nvSpPr>
        <p:spPr>
          <a:xfrm>
            <a:off x="6065678" y="3315986"/>
            <a:ext cx="564300" cy="2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f(x)</a:t>
            </a:r>
            <a:endParaRPr/>
          </a:p>
        </p:txBody>
      </p:sp>
      <p:sp>
        <p:nvSpPr>
          <p:cNvPr id="744" name="Google Shape;744;p102"/>
          <p:cNvSpPr/>
          <p:nvPr/>
        </p:nvSpPr>
        <p:spPr>
          <a:xfrm rot="5400000">
            <a:off x="7349050" y="2932475"/>
            <a:ext cx="136800" cy="833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102"/>
          <p:cNvSpPr txBox="1"/>
          <p:nvPr/>
        </p:nvSpPr>
        <p:spPr>
          <a:xfrm>
            <a:off x="7091166" y="3338197"/>
            <a:ext cx="890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E[e|X]</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750" name="Shape 750"/>
        <p:cNvGrpSpPr/>
        <p:nvPr/>
      </p:nvGrpSpPr>
      <p:grpSpPr>
        <a:xfrm>
          <a:off x="0" y="0"/>
          <a:ext cx="0" cy="0"/>
          <a:chOff x="0" y="0"/>
          <a:chExt cx="0" cy="0"/>
        </a:xfrm>
      </p:grpSpPr>
      <p:sp>
        <p:nvSpPr>
          <p:cNvPr id="751" name="Google Shape;751;p103"/>
          <p:cNvSpPr/>
          <p:nvPr/>
        </p:nvSpPr>
        <p:spPr>
          <a:xfrm>
            <a:off x="480060" y="240030"/>
            <a:ext cx="68580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4. MOTIVATING G-COMPUTATION</a:t>
            </a:r>
            <a:endParaRPr b="0" i="0" sz="800" u="none" cap="none" strike="noStrike">
              <a:solidFill>
                <a:schemeClr val="dk1"/>
              </a:solidFill>
              <a:latin typeface="Calibri"/>
              <a:ea typeface="Calibri"/>
              <a:cs typeface="Calibri"/>
              <a:sym typeface="Calibri"/>
            </a:endParaRPr>
          </a:p>
        </p:txBody>
      </p:sp>
      <p:sp>
        <p:nvSpPr>
          <p:cNvPr id="752" name="Google Shape;752;p103"/>
          <p:cNvSpPr/>
          <p:nvPr/>
        </p:nvSpPr>
        <p:spPr>
          <a:xfrm>
            <a:off x="480060" y="466344"/>
            <a:ext cx="8160900" cy="41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4.1  </a:t>
            </a:r>
            <a:r>
              <a:rPr b="1" i="0" lang="en" sz="1900" u="none" cap="none" strike="noStrike">
                <a:solidFill>
                  <a:srgbClr val="1B2A4A"/>
                </a:solidFill>
                <a:latin typeface="Times New Roman"/>
                <a:ea typeface="Times New Roman"/>
                <a:cs typeface="Times New Roman"/>
                <a:sym typeface="Times New Roman"/>
              </a:rPr>
              <a:t>The Scenario: A Treatment-Induced Confounder</a:t>
            </a:r>
            <a:endParaRPr b="0" i="0" sz="1900" u="none" cap="none" strike="noStrike">
              <a:solidFill>
                <a:schemeClr val="dk1"/>
              </a:solidFill>
              <a:latin typeface="Calibri"/>
              <a:ea typeface="Calibri"/>
              <a:cs typeface="Calibri"/>
              <a:sym typeface="Calibri"/>
            </a:endParaRPr>
          </a:p>
        </p:txBody>
      </p:sp>
      <p:cxnSp>
        <p:nvCxnSpPr>
          <p:cNvPr id="753" name="Google Shape;753;p103"/>
          <p:cNvCxnSpPr/>
          <p:nvPr/>
        </p:nvCxnSpPr>
        <p:spPr>
          <a:xfrm>
            <a:off x="480060" y="905256"/>
            <a:ext cx="8181600" cy="0"/>
          </a:xfrm>
          <a:prstGeom prst="straightConnector1">
            <a:avLst/>
          </a:prstGeom>
          <a:noFill/>
          <a:ln cap="flat" cmpd="sng" w="15875">
            <a:solidFill>
              <a:srgbClr val="1B2A4A"/>
            </a:solidFill>
            <a:prstDash val="solid"/>
            <a:round/>
            <a:headEnd len="sm" w="sm" type="none"/>
            <a:tailEnd len="sm" w="sm" type="none"/>
          </a:ln>
        </p:spPr>
      </p:cxnSp>
      <p:cxnSp>
        <p:nvCxnSpPr>
          <p:cNvPr id="754" name="Google Shape;754;p103"/>
          <p:cNvCxnSpPr/>
          <p:nvPr/>
        </p:nvCxnSpPr>
        <p:spPr>
          <a:xfrm>
            <a:off x="480060" y="4766310"/>
            <a:ext cx="8181600" cy="0"/>
          </a:xfrm>
          <a:prstGeom prst="straightConnector1">
            <a:avLst/>
          </a:prstGeom>
          <a:noFill/>
          <a:ln cap="flat" cmpd="sng" w="9525">
            <a:solidFill>
              <a:srgbClr val="C7CCDA"/>
            </a:solidFill>
            <a:prstDash val="solid"/>
            <a:round/>
            <a:headEnd len="sm" w="sm" type="none"/>
            <a:tailEnd len="sm" w="sm" type="none"/>
          </a:ln>
        </p:spPr>
      </p:cxnSp>
      <p:sp>
        <p:nvSpPr>
          <p:cNvPr id="755" name="Google Shape;755;p103"/>
          <p:cNvSpPr/>
          <p:nvPr/>
        </p:nvSpPr>
        <p:spPr>
          <a:xfrm>
            <a:off x="480060" y="4828032"/>
            <a:ext cx="274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756" name="Google Shape;756;p103"/>
          <p:cNvSpPr/>
          <p:nvPr/>
        </p:nvSpPr>
        <p:spPr>
          <a:xfrm>
            <a:off x="2880360" y="4828032"/>
            <a:ext cx="3429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4. Motivating G-Computation</a:t>
            </a:r>
            <a:endParaRPr b="0" i="0" sz="700" u="none" cap="none" strike="noStrike">
              <a:solidFill>
                <a:schemeClr val="dk1"/>
              </a:solidFill>
              <a:latin typeface="Calibri"/>
              <a:ea typeface="Calibri"/>
              <a:cs typeface="Calibri"/>
              <a:sym typeface="Calibri"/>
            </a:endParaRPr>
          </a:p>
        </p:txBody>
      </p:sp>
      <p:sp>
        <p:nvSpPr>
          <p:cNvPr id="757" name="Google Shape;757;p103"/>
          <p:cNvSpPr/>
          <p:nvPr/>
        </p:nvSpPr>
        <p:spPr>
          <a:xfrm>
            <a:off x="8229600" y="4828032"/>
            <a:ext cx="4320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15</a:t>
            </a:r>
            <a:endParaRPr b="0" i="0" sz="700" u="none" cap="none" strike="noStrike">
              <a:solidFill>
                <a:schemeClr val="dk1"/>
              </a:solidFill>
              <a:latin typeface="Calibri"/>
              <a:ea typeface="Calibri"/>
              <a:cs typeface="Calibri"/>
              <a:sym typeface="Calibri"/>
            </a:endParaRPr>
          </a:p>
        </p:txBody>
      </p:sp>
      <p:sp>
        <p:nvSpPr>
          <p:cNvPr id="758" name="Google Shape;758;p103"/>
          <p:cNvSpPr/>
          <p:nvPr/>
        </p:nvSpPr>
        <p:spPr>
          <a:xfrm>
            <a:off x="480060" y="1131570"/>
            <a:ext cx="8160900" cy="3634800"/>
          </a:xfrm>
          <a:prstGeom prst="rect">
            <a:avLst/>
          </a:prstGeom>
          <a:noFill/>
          <a:ln>
            <a:noFill/>
          </a:ln>
        </p:spPr>
        <p:txBody>
          <a:bodyPr anchorCtr="0" anchor="t" bIns="34275" lIns="68575" spcFirstLastPara="1" rIns="68575" wrap="square" tIns="34275">
            <a:noAutofit/>
          </a:bodyPr>
          <a:lstStyle/>
          <a:p>
            <a:pPr indent="-152400" lvl="0" marL="152400" marR="0" rtl="0" algn="l">
              <a:lnSpc>
                <a:spcPct val="118000"/>
              </a:lnSpc>
              <a:spcBef>
                <a:spcPts val="800"/>
              </a:spcBef>
              <a:spcAft>
                <a:spcPts val="0"/>
              </a:spcAft>
              <a:buClr>
                <a:srgbClr val="7A2E2E"/>
              </a:buClr>
              <a:buSzPts val="1200"/>
              <a:buFont typeface="Times New Roman"/>
              <a:buChar char="▸"/>
            </a:pPr>
            <a:r>
              <a:rPr lang="en" sz="1200">
                <a:solidFill>
                  <a:srgbClr val="1A1A1A"/>
                </a:solidFill>
                <a:latin typeface="Times New Roman"/>
                <a:ea typeface="Times New Roman"/>
                <a:cs typeface="Times New Roman"/>
                <a:sym typeface="Times New Roman"/>
              </a:rPr>
              <a:t>Example: </a:t>
            </a:r>
            <a:endParaRPr sz="1200">
              <a:solidFill>
                <a:srgbClr val="1A1A1A"/>
              </a:solidFill>
              <a:latin typeface="Times New Roman"/>
              <a:ea typeface="Times New Roman"/>
              <a:cs typeface="Times New Roman"/>
              <a:sym typeface="Times New Roman"/>
            </a:endParaRPr>
          </a:p>
          <a:p>
            <a:pPr indent="-304800" lvl="1" marL="914400" marR="0" rtl="0" algn="l">
              <a:lnSpc>
                <a:spcPct val="118000"/>
              </a:lnSpc>
              <a:spcBef>
                <a:spcPts val="800"/>
              </a:spcBef>
              <a:spcAft>
                <a:spcPts val="0"/>
              </a:spcAft>
              <a:buClr>
                <a:srgbClr val="1A1A1A"/>
              </a:buClr>
              <a:buSzPts val="1200"/>
              <a:buFont typeface="Times New Roman"/>
              <a:buChar char="–"/>
            </a:pPr>
            <a:r>
              <a:rPr lang="en" sz="1200">
                <a:solidFill>
                  <a:srgbClr val="FF0000"/>
                </a:solidFill>
                <a:latin typeface="Times New Roman"/>
                <a:ea typeface="Times New Roman"/>
                <a:cs typeface="Times New Roman"/>
                <a:sym typeface="Times New Roman"/>
              </a:rPr>
              <a:t>Instead … </a:t>
            </a:r>
            <a:r>
              <a:rPr lang="en" sz="1200">
                <a:solidFill>
                  <a:srgbClr val="1A1A1A"/>
                </a:solidFill>
                <a:latin typeface="Times New Roman"/>
                <a:ea typeface="Times New Roman"/>
                <a:cs typeface="Times New Roman"/>
                <a:sym typeface="Times New Roman"/>
              </a:rPr>
              <a:t>Neutropenia is </a:t>
            </a:r>
            <a:r>
              <a:rPr lang="en" sz="1200">
                <a:solidFill>
                  <a:srgbClr val="FF0000"/>
                </a:solidFill>
                <a:latin typeface="Times New Roman"/>
                <a:ea typeface="Times New Roman"/>
                <a:cs typeface="Times New Roman"/>
                <a:sym typeface="Times New Roman"/>
              </a:rPr>
              <a:t>not </a:t>
            </a:r>
            <a:r>
              <a:rPr lang="en" sz="1200">
                <a:solidFill>
                  <a:srgbClr val="1A1A1A"/>
                </a:solidFill>
                <a:latin typeface="Times New Roman"/>
                <a:ea typeface="Times New Roman"/>
                <a:cs typeface="Times New Roman"/>
                <a:sym typeface="Times New Roman"/>
              </a:rPr>
              <a:t>caused by a latent variable “frailty” that itself affects survival, </a:t>
            </a:r>
            <a:r>
              <a:rPr lang="en" sz="1200">
                <a:solidFill>
                  <a:srgbClr val="FF0000"/>
                </a:solidFill>
                <a:latin typeface="Times New Roman"/>
                <a:ea typeface="Times New Roman"/>
                <a:cs typeface="Times New Roman"/>
                <a:sym typeface="Times New Roman"/>
              </a:rPr>
              <a:t>or we </a:t>
            </a:r>
            <a:r>
              <a:rPr lang="en" sz="1200">
                <a:solidFill>
                  <a:srgbClr val="FF0000"/>
                </a:solidFill>
                <a:latin typeface="Times New Roman"/>
                <a:ea typeface="Times New Roman"/>
                <a:cs typeface="Times New Roman"/>
                <a:sym typeface="Times New Roman"/>
              </a:rPr>
              <a:t>control</a:t>
            </a:r>
            <a:r>
              <a:rPr lang="en" sz="1200">
                <a:solidFill>
                  <a:srgbClr val="FF0000"/>
                </a:solidFill>
                <a:latin typeface="Times New Roman"/>
                <a:ea typeface="Times New Roman"/>
                <a:cs typeface="Times New Roman"/>
                <a:sym typeface="Times New Roman"/>
              </a:rPr>
              <a:t> for it.</a:t>
            </a:r>
            <a:endParaRPr sz="1200">
              <a:solidFill>
                <a:srgbClr val="FF0000"/>
              </a:solidFill>
              <a:latin typeface="Times New Roman"/>
              <a:ea typeface="Times New Roman"/>
              <a:cs typeface="Times New Roman"/>
              <a:sym typeface="Times New Roman"/>
            </a:endParaRPr>
          </a:p>
          <a:p>
            <a:pPr indent="-146050" lvl="0" marL="152400" marR="0" rtl="0" algn="l">
              <a:lnSpc>
                <a:spcPct val="118000"/>
              </a:lnSpc>
              <a:spcBef>
                <a:spcPts val="800"/>
              </a:spcBef>
              <a:spcAft>
                <a:spcPts val="0"/>
              </a:spcAft>
              <a:buClr>
                <a:srgbClr val="1A1A1A"/>
              </a:buClr>
              <a:buSzPts val="1100"/>
              <a:buFont typeface="Times New Roman"/>
              <a:buChar char="▸"/>
            </a:pPr>
            <a:r>
              <a:rPr lang="en" sz="1200">
                <a:solidFill>
                  <a:srgbClr val="1A1A1A"/>
                </a:solidFill>
                <a:latin typeface="Times New Roman"/>
                <a:ea typeface="Times New Roman"/>
                <a:cs typeface="Times New Roman"/>
                <a:sym typeface="Times New Roman"/>
              </a:rPr>
              <a:t>(1) Y = </a:t>
            </a:r>
            <a:r>
              <a:rPr lang="en" sz="1000">
                <a:solidFill>
                  <a:srgbClr val="1A1A1A"/>
                </a:solidFill>
                <a:latin typeface="Times New Roman"/>
                <a:ea typeface="Times New Roman"/>
                <a:cs typeface="Times New Roman"/>
                <a:sym typeface="Times New Roman"/>
              </a:rPr>
              <a:t>β</a:t>
            </a:r>
            <a:r>
              <a:rPr baseline="-25000" lang="en" sz="1000">
                <a:solidFill>
                  <a:srgbClr val="1A1A1A"/>
                </a:solidFill>
                <a:latin typeface="Times New Roman"/>
                <a:ea typeface="Times New Roman"/>
                <a:cs typeface="Times New Roman"/>
                <a:sym typeface="Times New Roman"/>
              </a:rPr>
              <a:t>1</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β</a:t>
            </a:r>
            <a:r>
              <a:rPr baseline="-25000" lang="en" sz="1000">
                <a:solidFill>
                  <a:srgbClr val="1A1A1A"/>
                </a:solidFill>
                <a:latin typeface="Times New Roman"/>
                <a:ea typeface="Times New Roman"/>
                <a:cs typeface="Times New Roman"/>
                <a:sym typeface="Times New Roman"/>
              </a:rPr>
              <a:t>2</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γL</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e		(2) L</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a:t>
            </a:r>
            <a:r>
              <a:rPr i="1" lang="en" sz="1000">
                <a:solidFill>
                  <a:srgbClr val="1A1A1A"/>
                </a:solidFill>
                <a:latin typeface="Times New Roman"/>
                <a:ea typeface="Times New Roman"/>
                <a:cs typeface="Times New Roman"/>
                <a:sym typeface="Times New Roman"/>
              </a:rPr>
              <a:t>c</a:t>
            </a:r>
            <a:r>
              <a:rPr lang="en" sz="1000">
                <a:solidFill>
                  <a:srgbClr val="1A1A1A"/>
                </a:solidFill>
                <a:latin typeface="Times New Roman"/>
                <a:ea typeface="Times New Roman"/>
                <a:cs typeface="Times New Roman"/>
                <a:sym typeface="Times New Roman"/>
              </a:rPr>
              <a:t>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u</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(3) Cov(u</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,e)</a:t>
            </a:r>
            <a:r>
              <a:rPr lang="en" sz="1000">
                <a:solidFill>
                  <a:srgbClr val="FF0000"/>
                </a:solidFill>
                <a:latin typeface="Times New Roman"/>
                <a:ea typeface="Times New Roman"/>
                <a:cs typeface="Times New Roman"/>
                <a:sym typeface="Times New Roman"/>
              </a:rPr>
              <a:t> = </a:t>
            </a:r>
            <a:r>
              <a:rPr lang="en" sz="1000">
                <a:solidFill>
                  <a:srgbClr val="1A1A1A"/>
                </a:solidFill>
                <a:latin typeface="Times New Roman"/>
                <a:ea typeface="Times New Roman"/>
                <a:cs typeface="Times New Roman"/>
                <a:sym typeface="Times New Roman"/>
              </a:rPr>
              <a:t>0</a:t>
            </a:r>
            <a:endParaRPr sz="1000">
              <a:solidFill>
                <a:srgbClr val="1A1A1A"/>
              </a:solidFill>
              <a:latin typeface="Times New Roman"/>
              <a:ea typeface="Times New Roman"/>
              <a:cs typeface="Times New Roman"/>
              <a:sym typeface="Times New Roman"/>
            </a:endParaRPr>
          </a:p>
          <a:p>
            <a:pPr indent="-292100" lvl="1" marL="914400" marR="0" rtl="0" algn="l">
              <a:lnSpc>
                <a:spcPct val="118000"/>
              </a:lnSpc>
              <a:spcBef>
                <a:spcPts val="800"/>
              </a:spcBef>
              <a:spcAft>
                <a:spcPts val="0"/>
              </a:spcAft>
              <a:buClr>
                <a:schemeClr val="dk1"/>
              </a:buClr>
              <a:buSzPts val="1000"/>
              <a:buFont typeface="Times New Roman"/>
              <a:buChar char="–"/>
            </a:pPr>
            <a:r>
              <a:rPr b="1" lang="en" sz="1000">
                <a:solidFill>
                  <a:srgbClr val="1A1A1A"/>
                </a:solidFill>
                <a:latin typeface="Times New Roman"/>
                <a:ea typeface="Times New Roman"/>
                <a:cs typeface="Times New Roman"/>
                <a:sym typeface="Times New Roman"/>
              </a:rPr>
              <a:t>No longer the issue of E[e | </a:t>
            </a:r>
            <a:r>
              <a:rPr b="1" lang="en" sz="1000">
                <a:solidFill>
                  <a:srgbClr val="1A1A1A"/>
                </a:solidFill>
                <a:latin typeface="Times New Roman"/>
                <a:ea typeface="Times New Roman"/>
                <a:cs typeface="Times New Roman"/>
                <a:sym typeface="Times New Roman"/>
              </a:rPr>
              <a:t>a</a:t>
            </a:r>
            <a:r>
              <a:rPr b="1" baseline="-25000" lang="en" sz="1000">
                <a:solidFill>
                  <a:srgbClr val="1A1A1A"/>
                </a:solidFill>
                <a:latin typeface="Times New Roman"/>
                <a:ea typeface="Times New Roman"/>
                <a:cs typeface="Times New Roman"/>
                <a:sym typeface="Times New Roman"/>
              </a:rPr>
              <a:t>t-1, </a:t>
            </a:r>
            <a:r>
              <a:rPr b="1" lang="en" sz="1000">
                <a:solidFill>
                  <a:srgbClr val="1A1A1A"/>
                </a:solidFill>
                <a:latin typeface="Times New Roman"/>
                <a:ea typeface="Times New Roman"/>
                <a:cs typeface="Times New Roman"/>
                <a:sym typeface="Times New Roman"/>
              </a:rPr>
              <a:t>a</a:t>
            </a:r>
            <a:r>
              <a:rPr b="1" baseline="-25000" lang="en" sz="1000">
                <a:solidFill>
                  <a:srgbClr val="1A1A1A"/>
                </a:solidFill>
                <a:latin typeface="Times New Roman"/>
                <a:ea typeface="Times New Roman"/>
                <a:cs typeface="Times New Roman"/>
                <a:sym typeface="Times New Roman"/>
              </a:rPr>
              <a:t>t,</a:t>
            </a:r>
            <a:r>
              <a:rPr b="1" lang="en" sz="1000">
                <a:solidFill>
                  <a:srgbClr val="1A1A1A"/>
                </a:solidFill>
                <a:latin typeface="Times New Roman"/>
                <a:ea typeface="Times New Roman"/>
                <a:cs typeface="Times New Roman"/>
                <a:sym typeface="Times New Roman"/>
              </a:rPr>
              <a:t>, L</a:t>
            </a:r>
            <a:r>
              <a:rPr b="1" baseline="-25000" lang="en" sz="1000">
                <a:solidFill>
                  <a:srgbClr val="1A1A1A"/>
                </a:solidFill>
                <a:latin typeface="Times New Roman"/>
                <a:ea typeface="Times New Roman"/>
                <a:cs typeface="Times New Roman"/>
                <a:sym typeface="Times New Roman"/>
              </a:rPr>
              <a:t>t</a:t>
            </a:r>
            <a:r>
              <a:rPr b="1" lang="en" sz="1000">
                <a:solidFill>
                  <a:srgbClr val="1A1A1A"/>
                </a:solidFill>
                <a:latin typeface="Times New Roman"/>
                <a:ea typeface="Times New Roman"/>
                <a:cs typeface="Times New Roman"/>
                <a:sym typeface="Times New Roman"/>
              </a:rPr>
              <a:t>] != 0 → </a:t>
            </a:r>
            <a:r>
              <a:rPr lang="en" sz="1000">
                <a:solidFill>
                  <a:srgbClr val="1A1A1A"/>
                </a:solidFill>
                <a:latin typeface="Times New Roman"/>
                <a:ea typeface="Times New Roman"/>
                <a:cs typeface="Times New Roman"/>
                <a:sym typeface="Times New Roman"/>
              </a:rPr>
              <a:t>We can estimate β</a:t>
            </a:r>
            <a:r>
              <a:rPr baseline="-25000" lang="en" sz="1000">
                <a:solidFill>
                  <a:srgbClr val="1A1A1A"/>
                </a:solidFill>
                <a:latin typeface="Times New Roman"/>
                <a:ea typeface="Times New Roman"/>
                <a:cs typeface="Times New Roman"/>
                <a:sym typeface="Times New Roman"/>
              </a:rPr>
              <a:t>1</a:t>
            </a:r>
            <a:r>
              <a:rPr lang="en" sz="1000">
                <a:solidFill>
                  <a:srgbClr val="1A1A1A"/>
                </a:solidFill>
                <a:latin typeface="Times New Roman"/>
                <a:ea typeface="Times New Roman"/>
                <a:cs typeface="Times New Roman"/>
                <a:sym typeface="Times New Roman"/>
              </a:rPr>
              <a:t>, β</a:t>
            </a:r>
            <a:r>
              <a:rPr baseline="-25000" lang="en" sz="1000">
                <a:solidFill>
                  <a:srgbClr val="1A1A1A"/>
                </a:solidFill>
                <a:latin typeface="Times New Roman"/>
                <a:ea typeface="Times New Roman"/>
                <a:cs typeface="Times New Roman"/>
                <a:sym typeface="Times New Roman"/>
              </a:rPr>
              <a:t>2</a:t>
            </a:r>
            <a:r>
              <a:rPr lang="en" sz="1000">
                <a:solidFill>
                  <a:srgbClr val="1A1A1A"/>
                </a:solidFill>
                <a:latin typeface="Times New Roman"/>
                <a:ea typeface="Times New Roman"/>
                <a:cs typeface="Times New Roman"/>
                <a:sym typeface="Times New Roman"/>
              </a:rPr>
              <a:t>, γ causally (Yay)</a:t>
            </a:r>
            <a:endParaRPr sz="1000">
              <a:solidFill>
                <a:srgbClr val="1A1A1A"/>
              </a:solidFill>
              <a:latin typeface="Times New Roman"/>
              <a:ea typeface="Times New Roman"/>
              <a:cs typeface="Times New Roman"/>
              <a:sym typeface="Times New Roman"/>
            </a:endParaRPr>
          </a:p>
          <a:p>
            <a:pPr indent="-292100" lvl="1" marL="914400" marR="0" rtl="0" algn="l">
              <a:lnSpc>
                <a:spcPct val="118000"/>
              </a:lnSpc>
              <a:spcBef>
                <a:spcPts val="800"/>
              </a:spcBef>
              <a:spcAft>
                <a:spcPts val="0"/>
              </a:spcAft>
              <a:buClr>
                <a:srgbClr val="1A1A1A"/>
              </a:buClr>
              <a:buSzPts val="1000"/>
              <a:buFont typeface="Times New Roman"/>
              <a:buChar char="–"/>
            </a:pPr>
            <a:r>
              <a:rPr b="1" lang="en" sz="1000">
                <a:solidFill>
                  <a:srgbClr val="1A1A1A"/>
                </a:solidFill>
                <a:latin typeface="Times New Roman"/>
                <a:ea typeface="Times New Roman"/>
                <a:cs typeface="Times New Roman"/>
                <a:sym typeface="Times New Roman"/>
              </a:rPr>
              <a:t>But an issue remains </a:t>
            </a:r>
            <a:r>
              <a:rPr lang="en" sz="1000">
                <a:solidFill>
                  <a:srgbClr val="1A1A1A"/>
                </a:solidFill>
                <a:latin typeface="Times New Roman"/>
                <a:ea typeface="Times New Roman"/>
                <a:cs typeface="Times New Roman"/>
                <a:sym typeface="Times New Roman"/>
              </a:rPr>
              <a:t>→ by controlling for L</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we are now only estimating the </a:t>
            </a:r>
            <a:r>
              <a:rPr i="1" lang="en" sz="1000">
                <a:solidFill>
                  <a:srgbClr val="1A1A1A"/>
                </a:solidFill>
                <a:latin typeface="Times New Roman"/>
                <a:ea typeface="Times New Roman"/>
                <a:cs typeface="Times New Roman"/>
                <a:sym typeface="Times New Roman"/>
              </a:rPr>
              <a:t>direct</a:t>
            </a:r>
            <a:r>
              <a:rPr lang="en" sz="1000">
                <a:solidFill>
                  <a:srgbClr val="1A1A1A"/>
                </a:solidFill>
                <a:latin typeface="Times New Roman"/>
                <a:ea typeface="Times New Roman"/>
                <a:cs typeface="Times New Roman"/>
                <a:sym typeface="Times New Roman"/>
              </a:rPr>
              <a:t> effect of 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on Y</a:t>
            </a:r>
            <a:endParaRPr sz="1000">
              <a:solidFill>
                <a:srgbClr val="1A1A1A"/>
              </a:solidFill>
              <a:latin typeface="Times New Roman"/>
              <a:ea typeface="Times New Roman"/>
              <a:cs typeface="Times New Roman"/>
              <a:sym typeface="Times New Roman"/>
            </a:endParaRPr>
          </a:p>
          <a:p>
            <a:pPr indent="-292100" lvl="2" marL="1371600" marR="0" rtl="0" algn="l">
              <a:lnSpc>
                <a:spcPct val="118000"/>
              </a:lnSpc>
              <a:spcBef>
                <a:spcPts val="800"/>
              </a:spcBef>
              <a:spcAft>
                <a:spcPts val="0"/>
              </a:spcAft>
              <a:buClr>
                <a:srgbClr val="1A1A1A"/>
              </a:buClr>
              <a:buSzPts val="1000"/>
              <a:buFont typeface="Times New Roman"/>
              <a:buChar char="■"/>
            </a:pPr>
            <a:r>
              <a:rPr lang="en" sz="1000">
                <a:solidFill>
                  <a:srgbClr val="1A1A1A"/>
                </a:solidFill>
                <a:latin typeface="Times New Roman"/>
                <a:ea typeface="Times New Roman"/>
                <a:cs typeface="Times New Roman"/>
                <a:sym typeface="Times New Roman"/>
              </a:rPr>
              <a:t>Direct effect: 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 Y (β</a:t>
            </a:r>
            <a:r>
              <a:rPr baseline="-25000" lang="en" sz="1000">
                <a:solidFill>
                  <a:srgbClr val="1A1A1A"/>
                </a:solidFill>
                <a:latin typeface="Times New Roman"/>
                <a:ea typeface="Times New Roman"/>
                <a:cs typeface="Times New Roman"/>
                <a:sym typeface="Times New Roman"/>
              </a:rPr>
              <a:t>1</a:t>
            </a:r>
            <a:r>
              <a:rPr lang="en" sz="1000">
                <a:solidFill>
                  <a:srgbClr val="1A1A1A"/>
                </a:solidFill>
                <a:latin typeface="Times New Roman"/>
                <a:ea typeface="Times New Roman"/>
                <a:cs typeface="Times New Roman"/>
                <a:sym typeface="Times New Roman"/>
              </a:rPr>
              <a:t>)</a:t>
            </a:r>
            <a:endParaRPr sz="1000">
              <a:solidFill>
                <a:srgbClr val="1A1A1A"/>
              </a:solidFill>
              <a:latin typeface="Times New Roman"/>
              <a:ea typeface="Times New Roman"/>
              <a:cs typeface="Times New Roman"/>
              <a:sym typeface="Times New Roman"/>
            </a:endParaRPr>
          </a:p>
          <a:p>
            <a:pPr indent="-292100" lvl="2" marL="1371600" marR="0" rtl="0" algn="l">
              <a:lnSpc>
                <a:spcPct val="118000"/>
              </a:lnSpc>
              <a:spcBef>
                <a:spcPts val="800"/>
              </a:spcBef>
              <a:spcAft>
                <a:spcPts val="0"/>
              </a:spcAft>
              <a:buClr>
                <a:srgbClr val="1A1A1A"/>
              </a:buClr>
              <a:buSzPts val="1000"/>
              <a:buFont typeface="Times New Roman"/>
              <a:buChar char="■"/>
            </a:pPr>
            <a:r>
              <a:rPr lang="en" sz="1000">
                <a:solidFill>
                  <a:srgbClr val="1A1A1A"/>
                </a:solidFill>
                <a:latin typeface="Times New Roman"/>
                <a:ea typeface="Times New Roman"/>
                <a:cs typeface="Times New Roman"/>
                <a:sym typeface="Times New Roman"/>
              </a:rPr>
              <a:t>Indirect effect: a</a:t>
            </a:r>
            <a:r>
              <a:rPr baseline="-25000" lang="en" sz="1000">
                <a:solidFill>
                  <a:srgbClr val="1A1A1A"/>
                </a:solidFill>
                <a:latin typeface="Times New Roman"/>
                <a:ea typeface="Times New Roman"/>
                <a:cs typeface="Times New Roman"/>
                <a:sym typeface="Times New Roman"/>
              </a:rPr>
              <a:t>t-1</a:t>
            </a:r>
            <a:r>
              <a:rPr lang="en" sz="1000">
                <a:solidFill>
                  <a:srgbClr val="1A1A1A"/>
                </a:solidFill>
                <a:latin typeface="Times New Roman"/>
                <a:ea typeface="Times New Roman"/>
                <a:cs typeface="Times New Roman"/>
                <a:sym typeface="Times New Roman"/>
              </a:rPr>
              <a:t> → L</a:t>
            </a:r>
            <a:r>
              <a:rPr baseline="-25000" lang="en" sz="1000">
                <a:solidFill>
                  <a:srgbClr val="1A1A1A"/>
                </a:solidFill>
                <a:latin typeface="Times New Roman"/>
                <a:ea typeface="Times New Roman"/>
                <a:cs typeface="Times New Roman"/>
                <a:sym typeface="Times New Roman"/>
              </a:rPr>
              <a:t>t</a:t>
            </a:r>
            <a:r>
              <a:rPr lang="en" sz="1000">
                <a:solidFill>
                  <a:srgbClr val="1A1A1A"/>
                </a:solidFill>
                <a:latin typeface="Times New Roman"/>
                <a:ea typeface="Times New Roman"/>
                <a:cs typeface="Times New Roman"/>
                <a:sym typeface="Times New Roman"/>
              </a:rPr>
              <a:t> → Y (γ</a:t>
            </a:r>
            <a:r>
              <a:rPr i="1" lang="en" sz="1000">
                <a:solidFill>
                  <a:srgbClr val="1A1A1A"/>
                </a:solidFill>
                <a:latin typeface="Times New Roman"/>
                <a:ea typeface="Times New Roman"/>
                <a:cs typeface="Times New Roman"/>
                <a:sym typeface="Times New Roman"/>
              </a:rPr>
              <a:t>c)</a:t>
            </a:r>
            <a:endParaRPr sz="1000">
              <a:solidFill>
                <a:srgbClr val="1A1A1A"/>
              </a:solidFill>
              <a:latin typeface="Times New Roman"/>
              <a:ea typeface="Times New Roman"/>
              <a:cs typeface="Times New Roman"/>
              <a:sym typeface="Times New Roman"/>
            </a:endParaRPr>
          </a:p>
          <a:p>
            <a:pPr indent="-292100" lvl="2" marL="1371600" marR="0" rtl="0" algn="l">
              <a:lnSpc>
                <a:spcPct val="118000"/>
              </a:lnSpc>
              <a:spcBef>
                <a:spcPts val="800"/>
              </a:spcBef>
              <a:spcAft>
                <a:spcPts val="0"/>
              </a:spcAft>
              <a:buClr>
                <a:srgbClr val="1A1A1A"/>
              </a:buClr>
              <a:buSzPts val="1000"/>
              <a:buFont typeface="Times New Roman"/>
              <a:buChar char="■"/>
            </a:pPr>
            <a:r>
              <a:rPr lang="en" sz="1000">
                <a:solidFill>
                  <a:srgbClr val="1A1A1A"/>
                </a:solidFill>
                <a:latin typeface="Times New Roman"/>
                <a:ea typeface="Times New Roman"/>
                <a:cs typeface="Times New Roman"/>
                <a:sym typeface="Times New Roman"/>
              </a:rPr>
              <a:t>Total effect: (β</a:t>
            </a:r>
            <a:r>
              <a:rPr baseline="-25000" lang="en" sz="1000">
                <a:solidFill>
                  <a:srgbClr val="1A1A1A"/>
                </a:solidFill>
                <a:latin typeface="Times New Roman"/>
                <a:ea typeface="Times New Roman"/>
                <a:cs typeface="Times New Roman"/>
                <a:sym typeface="Times New Roman"/>
              </a:rPr>
              <a:t>1</a:t>
            </a:r>
            <a:r>
              <a:rPr lang="en" sz="1000">
                <a:solidFill>
                  <a:srgbClr val="1A1A1A"/>
                </a:solidFill>
                <a:latin typeface="Times New Roman"/>
                <a:ea typeface="Times New Roman"/>
                <a:cs typeface="Times New Roman"/>
                <a:sym typeface="Times New Roman"/>
              </a:rPr>
              <a:t> + γ</a:t>
            </a:r>
            <a:r>
              <a:rPr i="1" lang="en" sz="1000">
                <a:solidFill>
                  <a:srgbClr val="1A1A1A"/>
                </a:solidFill>
                <a:latin typeface="Times New Roman"/>
                <a:ea typeface="Times New Roman"/>
                <a:cs typeface="Times New Roman"/>
                <a:sym typeface="Times New Roman"/>
              </a:rPr>
              <a:t>c</a:t>
            </a:r>
            <a:r>
              <a:rPr lang="en" sz="1000">
                <a:solidFill>
                  <a:srgbClr val="1A1A1A"/>
                </a:solidFill>
                <a:latin typeface="Times New Roman"/>
                <a:ea typeface="Times New Roman"/>
                <a:cs typeface="Times New Roman"/>
                <a:sym typeface="Times New Roman"/>
              </a:rPr>
              <a:t>)</a:t>
            </a:r>
            <a:br>
              <a:rPr lang="en" sz="1000">
                <a:solidFill>
                  <a:srgbClr val="1A1A1A"/>
                </a:solidFill>
                <a:latin typeface="Times New Roman"/>
                <a:ea typeface="Times New Roman"/>
                <a:cs typeface="Times New Roman"/>
                <a:sym typeface="Times New Roman"/>
              </a:rPr>
            </a:br>
            <a:endParaRPr sz="1100">
              <a:solidFill>
                <a:srgbClr val="1A1A1A"/>
              </a:solidFill>
              <a:latin typeface="Times New Roman"/>
              <a:ea typeface="Times New Roman"/>
              <a:cs typeface="Times New Roman"/>
              <a:sym typeface="Times New Roman"/>
            </a:endParaRPr>
          </a:p>
          <a:p>
            <a:pPr indent="-298450" lvl="0" marL="457200" rtl="0" algn="l">
              <a:lnSpc>
                <a:spcPct val="118000"/>
              </a:lnSpc>
              <a:spcBef>
                <a:spcPts val="0"/>
              </a:spcBef>
              <a:spcAft>
                <a:spcPts val="0"/>
              </a:spcAft>
              <a:buClr>
                <a:srgbClr val="1A1A1A"/>
              </a:buClr>
              <a:buSzPts val="1100"/>
              <a:buFont typeface="Times New Roman"/>
              <a:buChar char="▸"/>
            </a:pPr>
            <a:r>
              <a:rPr lang="en" sz="1100">
                <a:solidFill>
                  <a:srgbClr val="1A1A1A"/>
                </a:solidFill>
                <a:latin typeface="Times New Roman"/>
                <a:ea typeface="Times New Roman"/>
                <a:cs typeface="Times New Roman"/>
                <a:sym typeface="Times New Roman"/>
              </a:rPr>
              <a:t>See Handbook, Chapter 1.5.1</a:t>
            </a:r>
            <a:endParaRPr sz="1100">
              <a:solidFill>
                <a:srgbClr val="1A1A1A"/>
              </a:solidFill>
              <a:latin typeface="Times New Roman"/>
              <a:ea typeface="Times New Roman"/>
              <a:cs typeface="Times New Roman"/>
              <a:sym typeface="Times New Roman"/>
            </a:endParaRPr>
          </a:p>
        </p:txBody>
      </p:sp>
      <p:pic>
        <p:nvPicPr>
          <p:cNvPr id="759" name="Google Shape;759;p103" title="mediator_kras.png"/>
          <p:cNvPicPr preferRelativeResize="0"/>
          <p:nvPr/>
        </p:nvPicPr>
        <p:blipFill>
          <a:blip r:embed="rId4">
            <a:alphaModFix/>
          </a:blip>
          <a:stretch>
            <a:fillRect/>
          </a:stretch>
        </p:blipFill>
        <p:spPr>
          <a:xfrm>
            <a:off x="5037075" y="2614950"/>
            <a:ext cx="4039201" cy="2333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64" name="Shape 764"/>
        <p:cNvGrpSpPr/>
        <p:nvPr/>
      </p:nvGrpSpPr>
      <p:grpSpPr>
        <a:xfrm>
          <a:off x="0" y="0"/>
          <a:ext cx="0" cy="0"/>
          <a:chOff x="0" y="0"/>
          <a:chExt cx="0" cy="0"/>
        </a:xfrm>
      </p:grpSpPr>
      <p:sp>
        <p:nvSpPr>
          <p:cNvPr id="765" name="Google Shape;765;p104"/>
          <p:cNvSpPr/>
          <p:nvPr/>
        </p:nvSpPr>
        <p:spPr>
          <a:xfrm>
            <a:off x="514350" y="377190"/>
            <a:ext cx="2400300" cy="15087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B3B63"/>
              </a:buClr>
              <a:buSzPts val="9800"/>
              <a:buFont typeface="Times New Roman"/>
              <a:buNone/>
            </a:pPr>
            <a:r>
              <a:rPr b="1" i="0" lang="en" sz="9800" u="none" cap="none" strike="noStrike">
                <a:solidFill>
                  <a:srgbClr val="2B3B63"/>
                </a:solidFill>
                <a:latin typeface="Times New Roman"/>
                <a:ea typeface="Times New Roman"/>
                <a:cs typeface="Times New Roman"/>
                <a:sym typeface="Times New Roman"/>
              </a:rPr>
              <a:t>5</a:t>
            </a:r>
            <a:endParaRPr b="0" i="0" sz="9800" u="none" cap="none" strike="noStrike">
              <a:solidFill>
                <a:schemeClr val="dk1"/>
              </a:solidFill>
              <a:latin typeface="Calibri"/>
              <a:ea typeface="Calibri"/>
              <a:cs typeface="Calibri"/>
              <a:sym typeface="Calibri"/>
            </a:endParaRPr>
          </a:p>
        </p:txBody>
      </p:sp>
      <p:sp>
        <p:nvSpPr>
          <p:cNvPr id="766" name="Google Shape;766;p104"/>
          <p:cNvSpPr/>
          <p:nvPr/>
        </p:nvSpPr>
        <p:spPr>
          <a:xfrm>
            <a:off x="617220" y="2160270"/>
            <a:ext cx="740664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600"/>
              <a:buFont typeface="Times New Roman"/>
              <a:buNone/>
            </a:pPr>
            <a:r>
              <a:rPr b="1" i="0" lang="en" sz="2600" u="none" cap="none" strike="noStrike">
                <a:solidFill>
                  <a:srgbClr val="FFFFFF"/>
                </a:solidFill>
                <a:latin typeface="Times New Roman"/>
                <a:ea typeface="Times New Roman"/>
                <a:cs typeface="Times New Roman"/>
                <a:sym typeface="Times New Roman"/>
              </a:rPr>
              <a:t>The Single Time Point Model</a:t>
            </a:r>
            <a:endParaRPr b="0" i="0" sz="2600" u="none" cap="none" strike="noStrike">
              <a:solidFill>
                <a:schemeClr val="dk1"/>
              </a:solidFill>
              <a:latin typeface="Calibri"/>
              <a:ea typeface="Calibri"/>
              <a:cs typeface="Calibri"/>
              <a:sym typeface="Calibri"/>
            </a:endParaRPr>
          </a:p>
        </p:txBody>
      </p:sp>
      <p:cxnSp>
        <p:nvCxnSpPr>
          <p:cNvPr id="767" name="Google Shape;767;p104"/>
          <p:cNvCxnSpPr/>
          <p:nvPr/>
        </p:nvCxnSpPr>
        <p:spPr>
          <a:xfrm>
            <a:off x="651510" y="2846070"/>
            <a:ext cx="1645920" cy="0"/>
          </a:xfrm>
          <a:prstGeom prst="straightConnector1">
            <a:avLst/>
          </a:prstGeom>
          <a:noFill/>
          <a:ln cap="flat" cmpd="sng" w="12700">
            <a:solidFill>
              <a:srgbClr val="5D6F9E"/>
            </a:solidFill>
            <a:prstDash val="solid"/>
            <a:round/>
            <a:headEnd len="sm" w="sm" type="none"/>
            <a:tailEnd len="sm" w="sm" type="none"/>
          </a:ln>
        </p:spPr>
      </p:cxnSp>
      <p:sp>
        <p:nvSpPr>
          <p:cNvPr id="768" name="Google Shape;768;p104"/>
          <p:cNvSpPr/>
          <p:nvPr/>
        </p:nvSpPr>
        <p:spPr>
          <a:xfrm>
            <a:off x="651510" y="3017520"/>
            <a:ext cx="5486400" cy="13716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5.1  Standardization: g-computation without simulation</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5.2  Worked example: anthracycline and 24-month survival</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5.3  ATE, ATT, and ATU from the same predictions</a:t>
            </a:r>
            <a:endParaRPr b="0" i="0" sz="1100" u="none" cap="none" strike="noStrike">
              <a:solidFill>
                <a:schemeClr val="dk1"/>
              </a:solidFill>
              <a:latin typeface="Calibri"/>
              <a:ea typeface="Calibri"/>
              <a:cs typeface="Calibri"/>
              <a:sym typeface="Calibri"/>
            </a:endParaRPr>
          </a:p>
          <a:p>
            <a:pPr indent="0" lvl="0" marL="0" marR="0" rtl="0" algn="l">
              <a:lnSpc>
                <a:spcPct val="120000"/>
              </a:lnSpc>
              <a:spcBef>
                <a:spcPts val="500"/>
              </a:spcBef>
              <a:spcAft>
                <a:spcPts val="0"/>
              </a:spcAft>
              <a:buClr>
                <a:srgbClr val="AEB9D6"/>
              </a:buClr>
              <a:buSzPts val="1100"/>
              <a:buFont typeface="Times New Roman"/>
              <a:buNone/>
            </a:pPr>
            <a:r>
              <a:rPr b="0" i="1" lang="en" sz="1100" u="none" cap="none" strike="noStrike">
                <a:solidFill>
                  <a:srgbClr val="AEB9D6"/>
                </a:solidFill>
                <a:latin typeface="Times New Roman"/>
                <a:ea typeface="Times New Roman"/>
                <a:cs typeface="Times New Roman"/>
                <a:sym typeface="Times New Roman"/>
              </a:rPr>
              <a:t>5.4  The same example as a survival curve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3" name="Shape 773"/>
        <p:cNvGrpSpPr/>
        <p:nvPr/>
      </p:nvGrpSpPr>
      <p:grpSpPr>
        <a:xfrm>
          <a:off x="0" y="0"/>
          <a:ext cx="0" cy="0"/>
          <a:chOff x="0" y="0"/>
          <a:chExt cx="0" cy="0"/>
        </a:xfrm>
      </p:grpSpPr>
      <p:sp>
        <p:nvSpPr>
          <p:cNvPr id="774" name="Google Shape;774;p105"/>
          <p:cNvSpPr/>
          <p:nvPr/>
        </p:nvSpPr>
        <p:spPr>
          <a:xfrm>
            <a:off x="480060" y="240030"/>
            <a:ext cx="68580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5. THE SINGLE TIME POINT MODEL</a:t>
            </a:r>
            <a:endParaRPr b="0" i="0" sz="800" u="none" cap="none" strike="noStrike">
              <a:solidFill>
                <a:schemeClr val="dk1"/>
              </a:solidFill>
              <a:latin typeface="Calibri"/>
              <a:ea typeface="Calibri"/>
              <a:cs typeface="Calibri"/>
              <a:sym typeface="Calibri"/>
            </a:endParaRPr>
          </a:p>
        </p:txBody>
      </p:sp>
      <p:sp>
        <p:nvSpPr>
          <p:cNvPr id="775" name="Google Shape;775;p105"/>
          <p:cNvSpPr/>
          <p:nvPr/>
        </p:nvSpPr>
        <p:spPr>
          <a:xfrm>
            <a:off x="480060" y="466344"/>
            <a:ext cx="81610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i="0" lang="en" sz="1900" u="none" cap="none" strike="noStrike">
                <a:solidFill>
                  <a:srgbClr val="7A2E2E"/>
                </a:solidFill>
                <a:latin typeface="Times New Roman"/>
                <a:ea typeface="Times New Roman"/>
                <a:cs typeface="Times New Roman"/>
                <a:sym typeface="Times New Roman"/>
              </a:rPr>
              <a:t>5.</a:t>
            </a:r>
            <a:r>
              <a:rPr b="1" lang="en" sz="1900">
                <a:solidFill>
                  <a:srgbClr val="7A2E2E"/>
                </a:solidFill>
                <a:latin typeface="Times New Roman"/>
                <a:ea typeface="Times New Roman"/>
                <a:cs typeface="Times New Roman"/>
                <a:sym typeface="Times New Roman"/>
              </a:rPr>
              <a:t>1</a:t>
            </a:r>
            <a:r>
              <a:rPr b="1" i="0" lang="en" sz="1900" u="none" cap="none" strike="noStrike">
                <a:solidFill>
                  <a:srgbClr val="7A2E2E"/>
                </a:solidFill>
                <a:latin typeface="Times New Roman"/>
                <a:ea typeface="Times New Roman"/>
                <a:cs typeface="Times New Roman"/>
                <a:sym typeface="Times New Roman"/>
              </a:rPr>
              <a:t>  </a:t>
            </a:r>
            <a:r>
              <a:rPr b="1" i="0" lang="en" sz="1900" u="none" cap="none" strike="noStrike">
                <a:solidFill>
                  <a:srgbClr val="1B2A4A"/>
                </a:solidFill>
                <a:latin typeface="Times New Roman"/>
                <a:ea typeface="Times New Roman"/>
                <a:cs typeface="Times New Roman"/>
                <a:sym typeface="Times New Roman"/>
              </a:rPr>
              <a:t>Worked Example: Anthracycline and 24-Month Survival</a:t>
            </a:r>
            <a:endParaRPr b="0" i="0" sz="1900" u="none" cap="none" strike="noStrike">
              <a:solidFill>
                <a:schemeClr val="dk1"/>
              </a:solidFill>
              <a:latin typeface="Calibri"/>
              <a:ea typeface="Calibri"/>
              <a:cs typeface="Calibri"/>
              <a:sym typeface="Calibri"/>
            </a:endParaRPr>
          </a:p>
        </p:txBody>
      </p:sp>
      <p:cxnSp>
        <p:nvCxnSpPr>
          <p:cNvPr id="776" name="Google Shape;776;p105"/>
          <p:cNvCxnSpPr/>
          <p:nvPr/>
        </p:nvCxnSpPr>
        <p:spPr>
          <a:xfrm>
            <a:off x="480060" y="905256"/>
            <a:ext cx="8181594" cy="0"/>
          </a:xfrm>
          <a:prstGeom prst="straightConnector1">
            <a:avLst/>
          </a:prstGeom>
          <a:noFill/>
          <a:ln cap="flat" cmpd="sng" w="15875">
            <a:solidFill>
              <a:srgbClr val="1B2A4A"/>
            </a:solidFill>
            <a:prstDash val="solid"/>
            <a:round/>
            <a:headEnd len="sm" w="sm" type="none"/>
            <a:tailEnd len="sm" w="sm" type="none"/>
          </a:ln>
        </p:spPr>
      </p:cxnSp>
      <p:cxnSp>
        <p:nvCxnSpPr>
          <p:cNvPr id="777" name="Google Shape;777;p105"/>
          <p:cNvCxnSpPr/>
          <p:nvPr/>
        </p:nvCxnSpPr>
        <p:spPr>
          <a:xfrm>
            <a:off x="480060" y="4766310"/>
            <a:ext cx="8181594" cy="0"/>
          </a:xfrm>
          <a:prstGeom prst="straightConnector1">
            <a:avLst/>
          </a:prstGeom>
          <a:noFill/>
          <a:ln cap="flat" cmpd="sng" w="9525">
            <a:solidFill>
              <a:srgbClr val="C7CCDA"/>
            </a:solidFill>
            <a:prstDash val="solid"/>
            <a:round/>
            <a:headEnd len="sm" w="sm" type="none"/>
            <a:tailEnd len="sm" w="sm" type="none"/>
          </a:ln>
        </p:spPr>
      </p:cxnSp>
      <p:sp>
        <p:nvSpPr>
          <p:cNvPr id="778" name="Google Shape;778;p105"/>
          <p:cNvSpPr/>
          <p:nvPr/>
        </p:nvSpPr>
        <p:spPr>
          <a:xfrm>
            <a:off x="480060" y="4828032"/>
            <a:ext cx="27432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779" name="Google Shape;779;p105"/>
          <p:cNvSpPr/>
          <p:nvPr/>
        </p:nvSpPr>
        <p:spPr>
          <a:xfrm>
            <a:off x="2880360" y="4828032"/>
            <a:ext cx="342900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5. The Single Time Point Model</a:t>
            </a:r>
            <a:endParaRPr b="0" i="0" sz="700" u="none" cap="none" strike="noStrike">
              <a:solidFill>
                <a:schemeClr val="dk1"/>
              </a:solidFill>
              <a:latin typeface="Calibri"/>
              <a:ea typeface="Calibri"/>
              <a:cs typeface="Calibri"/>
              <a:sym typeface="Calibri"/>
            </a:endParaRPr>
          </a:p>
        </p:txBody>
      </p:sp>
      <p:sp>
        <p:nvSpPr>
          <p:cNvPr id="780" name="Google Shape;780;p105"/>
          <p:cNvSpPr/>
          <p:nvPr/>
        </p:nvSpPr>
        <p:spPr>
          <a:xfrm>
            <a:off x="8229600" y="4828032"/>
            <a:ext cx="432054"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24</a:t>
            </a:r>
            <a:endParaRPr b="0" i="0" sz="700" u="none" cap="none" strike="noStrike">
              <a:solidFill>
                <a:schemeClr val="dk1"/>
              </a:solidFill>
              <a:latin typeface="Calibri"/>
              <a:ea typeface="Calibri"/>
              <a:cs typeface="Calibri"/>
              <a:sym typeface="Calibri"/>
            </a:endParaRPr>
          </a:p>
        </p:txBody>
      </p:sp>
      <p:sp>
        <p:nvSpPr>
          <p:cNvPr id="781" name="Google Shape;781;p105"/>
          <p:cNvSpPr/>
          <p:nvPr/>
        </p:nvSpPr>
        <p:spPr>
          <a:xfrm>
            <a:off x="480060" y="1131570"/>
            <a:ext cx="8161020" cy="3634740"/>
          </a:xfrm>
          <a:prstGeom prst="rect">
            <a:avLst/>
          </a:prstGeom>
          <a:noFill/>
          <a:ln>
            <a:noFill/>
          </a:ln>
        </p:spPr>
        <p:txBody>
          <a:bodyPr anchorCtr="0" anchor="t" bIns="34275" lIns="68575" spcFirstLastPara="1" rIns="68575" wrap="square" tIns="34275">
            <a:noAutofit/>
          </a:bodyPr>
          <a:lstStyle/>
          <a:p>
            <a:pPr indent="-146050" lvl="0" marL="152400" marR="0" rtl="0" algn="l">
              <a:lnSpc>
                <a:spcPct val="118000"/>
              </a:lnSpc>
              <a:spcBef>
                <a:spcPts val="0"/>
              </a:spcBef>
              <a:spcAft>
                <a:spcPts val="0"/>
              </a:spcAft>
              <a:buClr>
                <a:srgbClr val="1A1A1A"/>
              </a:buClr>
              <a:buSzPts val="1100"/>
              <a:buFont typeface="Times New Roman"/>
              <a:buChar char="▸"/>
            </a:pPr>
            <a:r>
              <a:rPr lang="en" sz="1100">
                <a:solidFill>
                  <a:srgbClr val="1A1A1A"/>
                </a:solidFill>
                <a:latin typeface="Times New Roman"/>
                <a:ea typeface="Times New Roman"/>
                <a:cs typeface="Times New Roman"/>
                <a:sym typeface="Times New Roman"/>
              </a:rPr>
              <a:t>Y = alive at 24 months (yes/no)</a:t>
            </a:r>
            <a:endParaRPr sz="1100">
              <a:solidFill>
                <a:srgbClr val="1A1A1A"/>
              </a:solidFill>
              <a:latin typeface="Times New Roman"/>
              <a:ea typeface="Times New Roman"/>
              <a:cs typeface="Times New Roman"/>
              <a:sym typeface="Times New Roman"/>
            </a:endParaRPr>
          </a:p>
          <a:p>
            <a:pPr indent="-146050" lvl="0" marL="152400" marR="0" rtl="0" algn="l">
              <a:lnSpc>
                <a:spcPct val="118000"/>
              </a:lnSpc>
              <a:spcBef>
                <a:spcPts val="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D = anthracycline-containing 1L c</a:t>
            </a:r>
            <a:r>
              <a:rPr lang="en" sz="1100">
                <a:solidFill>
                  <a:srgbClr val="1A1A1A"/>
                </a:solidFill>
                <a:latin typeface="Times New Roman"/>
                <a:ea typeface="Times New Roman"/>
                <a:cs typeface="Times New Roman"/>
                <a:sym typeface="Times New Roman"/>
              </a:rPr>
              <a:t>hemo </a:t>
            </a:r>
            <a:r>
              <a:rPr b="0" i="0" lang="en" sz="1100" u="none" cap="none" strike="noStrike">
                <a:solidFill>
                  <a:srgbClr val="1A1A1A"/>
                </a:solidFill>
                <a:latin typeface="Times New Roman"/>
                <a:ea typeface="Times New Roman"/>
                <a:cs typeface="Times New Roman"/>
                <a:sym typeface="Times New Roman"/>
              </a:rPr>
              <a:t>regimen (yes/no); </a:t>
            </a:r>
            <a:r>
              <a:rPr lang="en" sz="1100">
                <a:solidFill>
                  <a:srgbClr val="1A1A1A"/>
                </a:solidFill>
                <a:latin typeface="Times New Roman"/>
                <a:ea typeface="Times New Roman"/>
                <a:cs typeface="Times New Roman"/>
                <a:sym typeface="Times New Roman"/>
              </a:rPr>
              <a:t>[no = non-</a:t>
            </a:r>
            <a:r>
              <a:rPr lang="en" sz="1100">
                <a:solidFill>
                  <a:srgbClr val="1A1A1A"/>
                </a:solidFill>
                <a:latin typeface="Times New Roman"/>
                <a:ea typeface="Times New Roman"/>
                <a:cs typeface="Times New Roman"/>
                <a:sym typeface="Times New Roman"/>
              </a:rPr>
              <a:t>anthracycline</a:t>
            </a:r>
            <a:r>
              <a:rPr lang="en" sz="1100">
                <a:solidFill>
                  <a:srgbClr val="1A1A1A"/>
                </a:solidFill>
                <a:latin typeface="Times New Roman"/>
                <a:ea typeface="Times New Roman"/>
                <a:cs typeface="Times New Roman"/>
                <a:sym typeface="Times New Roman"/>
              </a:rPr>
              <a:t>-containing 1L chemo regimen]; made once at beginning</a:t>
            </a:r>
            <a:endParaRPr b="0" i="0" sz="1100" u="none" cap="none" strike="noStrike">
              <a:solidFill>
                <a:srgbClr val="1A1A1A"/>
              </a:solidFill>
              <a:latin typeface="Times New Roman"/>
              <a:ea typeface="Times New Roman"/>
              <a:cs typeface="Times New Roman"/>
              <a:sym typeface="Times New Roman"/>
            </a:endParaRPr>
          </a:p>
          <a:p>
            <a:pPr indent="-146050" lvl="0" marL="152400" marR="0" rtl="0" algn="l">
              <a:lnSpc>
                <a:spcPct val="118000"/>
              </a:lnSpc>
              <a:spcBef>
                <a:spcPts val="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L</a:t>
            </a:r>
            <a:r>
              <a:rPr baseline="-25000" lang="en" sz="1100">
                <a:solidFill>
                  <a:srgbClr val="1A1A1A"/>
                </a:solidFill>
                <a:latin typeface="Times New Roman"/>
                <a:ea typeface="Times New Roman"/>
                <a:cs typeface="Times New Roman"/>
                <a:sym typeface="Times New Roman"/>
              </a:rPr>
              <a:t>0</a:t>
            </a:r>
            <a:r>
              <a:rPr b="0" i="0" lang="en" sz="1100" u="none" cap="none" strike="noStrike">
                <a:solidFill>
                  <a:srgbClr val="1A1A1A"/>
                </a:solidFill>
                <a:latin typeface="Times New Roman"/>
                <a:ea typeface="Times New Roman"/>
                <a:cs typeface="Times New Roman"/>
                <a:sym typeface="Times New Roman"/>
              </a:rPr>
              <a:t> = </a:t>
            </a:r>
            <a:r>
              <a:rPr lang="en" sz="1100">
                <a:solidFill>
                  <a:srgbClr val="1A1A1A"/>
                </a:solidFill>
                <a:latin typeface="Times New Roman"/>
                <a:ea typeface="Times New Roman"/>
                <a:cs typeface="Times New Roman"/>
                <a:sym typeface="Times New Roman"/>
              </a:rPr>
              <a:t>pre-index</a:t>
            </a:r>
            <a:r>
              <a:rPr b="0" i="0" lang="en" sz="1100" u="none" cap="none" strike="noStrike">
                <a:solidFill>
                  <a:srgbClr val="1A1A1A"/>
                </a:solidFill>
                <a:latin typeface="Times New Roman"/>
                <a:ea typeface="Times New Roman"/>
                <a:cs typeface="Times New Roman"/>
                <a:sym typeface="Times New Roman"/>
              </a:rPr>
              <a:t> grade 3+ neutropenia status; </a:t>
            </a:r>
            <a:endParaRPr sz="1100">
              <a:solidFill>
                <a:srgbClr val="1A1A1A"/>
              </a:solidFill>
              <a:latin typeface="Times New Roman"/>
              <a:ea typeface="Times New Roman"/>
              <a:cs typeface="Times New Roman"/>
              <a:sym typeface="Times New Roman"/>
            </a:endParaRPr>
          </a:p>
          <a:p>
            <a:pPr indent="-146050" lvl="0" marL="152400" marR="0" rtl="0" algn="l">
              <a:lnSpc>
                <a:spcPct val="118000"/>
              </a:lnSpc>
              <a:spcBef>
                <a:spcPts val="0"/>
              </a:spcBef>
              <a:spcAft>
                <a:spcPts val="0"/>
              </a:spcAft>
              <a:buClr>
                <a:srgbClr val="1A1A1A"/>
              </a:buClr>
              <a:buSzPts val="1100"/>
              <a:buFont typeface="Times New Roman"/>
              <a:buChar char="▸"/>
            </a:pPr>
            <a:r>
              <a:rPr lang="en" sz="1100">
                <a:solidFill>
                  <a:srgbClr val="1A1A1A"/>
                </a:solidFill>
                <a:latin typeface="Times New Roman"/>
                <a:ea typeface="Times New Roman"/>
                <a:cs typeface="Times New Roman"/>
                <a:sym typeface="Times New Roman"/>
              </a:rPr>
              <a:t>X</a:t>
            </a:r>
            <a:r>
              <a:rPr baseline="-25000" lang="en" sz="1100">
                <a:solidFill>
                  <a:srgbClr val="1A1A1A"/>
                </a:solidFill>
                <a:latin typeface="Times New Roman"/>
                <a:ea typeface="Times New Roman"/>
                <a:cs typeface="Times New Roman"/>
                <a:sym typeface="Times New Roman"/>
              </a:rPr>
              <a:t>0</a:t>
            </a:r>
            <a:r>
              <a:rPr lang="en" sz="1100">
                <a:solidFill>
                  <a:srgbClr val="1A1A1A"/>
                </a:solidFill>
                <a:latin typeface="Times New Roman"/>
                <a:ea typeface="Times New Roman"/>
                <a:cs typeface="Times New Roman"/>
                <a:sym typeface="Times New Roman"/>
              </a:rPr>
              <a:t> = time invariant baseline characteristics</a:t>
            </a:r>
            <a:endParaRPr b="0" i="0" sz="1100" u="none" cap="none" strike="noStrike">
              <a:solidFill>
                <a:schemeClr val="dk1"/>
              </a:solidFill>
              <a:latin typeface="Calibri"/>
              <a:ea typeface="Calibri"/>
              <a:cs typeface="Calibri"/>
              <a:sym typeface="Calibri"/>
            </a:endParaRPr>
          </a:p>
          <a:p>
            <a:pPr indent="-146050" lvl="0" marL="152400" marR="0" rtl="0" algn="l">
              <a:lnSpc>
                <a:spcPct val="118000"/>
              </a:lnSpc>
              <a:spcBef>
                <a:spcPts val="9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Identifying assumption — the point-treatment CIA:</a:t>
            </a:r>
            <a:r>
              <a:rPr lang="en" sz="1100">
                <a:solidFill>
                  <a:schemeClr val="dk1"/>
                </a:solidFill>
                <a:latin typeface="Calibri"/>
                <a:ea typeface="Calibri"/>
                <a:cs typeface="Calibri"/>
                <a:sym typeface="Calibri"/>
              </a:rPr>
              <a:t> </a:t>
            </a:r>
            <a:r>
              <a:rPr b="0" i="1" lang="en" sz="1200" u="none" cap="none" strike="noStrike">
                <a:solidFill>
                  <a:srgbClr val="1B2A4A"/>
                </a:solidFill>
                <a:latin typeface="Times New Roman"/>
                <a:ea typeface="Times New Roman"/>
                <a:cs typeface="Times New Roman"/>
                <a:sym typeface="Times New Roman"/>
              </a:rPr>
              <a:t>E[e | D, X</a:t>
            </a:r>
            <a:r>
              <a:rPr baseline="-25000" i="1" lang="en" sz="1200">
                <a:solidFill>
                  <a:srgbClr val="1B2A4A"/>
                </a:solidFill>
                <a:latin typeface="Times New Roman"/>
                <a:ea typeface="Times New Roman"/>
                <a:cs typeface="Times New Roman"/>
                <a:sym typeface="Times New Roman"/>
              </a:rPr>
              <a:t>0</a:t>
            </a:r>
            <a:r>
              <a:rPr b="0" i="1" lang="en" sz="1200" u="none" cap="none" strike="noStrike">
                <a:solidFill>
                  <a:srgbClr val="1B2A4A"/>
                </a:solidFill>
                <a:latin typeface="Times New Roman"/>
                <a:ea typeface="Times New Roman"/>
                <a:cs typeface="Times New Roman"/>
                <a:sym typeface="Times New Roman"/>
              </a:rPr>
              <a:t>, L</a:t>
            </a:r>
            <a:r>
              <a:rPr baseline="-25000" i="1" lang="en" sz="1200">
                <a:solidFill>
                  <a:srgbClr val="1B2A4A"/>
                </a:solidFill>
                <a:latin typeface="Times New Roman"/>
                <a:ea typeface="Times New Roman"/>
                <a:cs typeface="Times New Roman"/>
                <a:sym typeface="Times New Roman"/>
              </a:rPr>
              <a:t>0</a:t>
            </a:r>
            <a:r>
              <a:rPr b="0" i="1" lang="en" sz="1200" u="none" cap="none" strike="noStrike">
                <a:solidFill>
                  <a:srgbClr val="1B2A4A"/>
                </a:solidFill>
                <a:latin typeface="Times New Roman"/>
                <a:ea typeface="Times New Roman"/>
                <a:cs typeface="Times New Roman"/>
                <a:sym typeface="Times New Roman"/>
              </a:rPr>
              <a:t>]  =  0</a:t>
            </a:r>
            <a:endParaRPr b="0" i="0" sz="1100" u="none" cap="none" strike="noStrike">
              <a:solidFill>
                <a:schemeClr val="dk1"/>
              </a:solidFill>
              <a:latin typeface="Calibri"/>
              <a:ea typeface="Calibri"/>
              <a:cs typeface="Calibri"/>
              <a:sym typeface="Calibri"/>
            </a:endParaRPr>
          </a:p>
          <a:p>
            <a:pPr indent="-247650" lvl="1" marL="495300" marR="0" rtl="0" algn="l">
              <a:lnSpc>
                <a:spcPct val="118000"/>
              </a:lnSpc>
              <a:spcBef>
                <a:spcPts val="500"/>
              </a:spcBef>
              <a:spcAft>
                <a:spcPts val="0"/>
              </a:spcAft>
              <a:buClr>
                <a:srgbClr val="1A1A1A"/>
              </a:buClr>
              <a:buSzPts val="1100"/>
              <a:buFont typeface="Times New Roman"/>
              <a:buChar char="–"/>
            </a:pPr>
            <a:r>
              <a:rPr b="0" i="0" lang="en" sz="1100" u="none" cap="none" strike="noStrike">
                <a:solidFill>
                  <a:srgbClr val="1A1A1A"/>
                </a:solidFill>
                <a:latin typeface="Times New Roman"/>
                <a:ea typeface="Times New Roman"/>
                <a:cs typeface="Times New Roman"/>
                <a:sym typeface="Times New Roman"/>
              </a:rPr>
              <a:t>Conditioning on baseline covariates and baseline neutropenia makes D as good as randomly assigned</a:t>
            </a:r>
            <a:r>
              <a:rPr lang="en" sz="1100">
                <a:solidFill>
                  <a:srgbClr val="1A1A1A"/>
                </a:solidFill>
                <a:latin typeface="Times New Roman"/>
                <a:ea typeface="Times New Roman"/>
                <a:cs typeface="Times New Roman"/>
                <a:sym typeface="Times New Roman"/>
              </a:rPr>
              <a:t> (Is this true? Probably not…)</a:t>
            </a:r>
            <a:endParaRPr sz="1100">
              <a:solidFill>
                <a:srgbClr val="1A1A1A"/>
              </a:solidFill>
              <a:latin typeface="Times New Roman"/>
              <a:ea typeface="Times New Roman"/>
              <a:cs typeface="Times New Roman"/>
              <a:sym typeface="Times New Roman"/>
            </a:endParaRPr>
          </a:p>
          <a:p>
            <a:pPr indent="0" lvl="0" marL="0" marR="0" rtl="0" algn="l">
              <a:lnSpc>
                <a:spcPct val="118000"/>
              </a:lnSpc>
              <a:spcBef>
                <a:spcPts val="500"/>
              </a:spcBef>
              <a:spcAft>
                <a:spcPts val="0"/>
              </a:spcAft>
              <a:buNone/>
            </a:pPr>
            <a:r>
              <a:t/>
            </a:r>
            <a:endParaRPr sz="1100">
              <a:solidFill>
                <a:srgbClr val="1A1A1A"/>
              </a:solidFill>
              <a:latin typeface="Times New Roman"/>
              <a:ea typeface="Times New Roman"/>
              <a:cs typeface="Times New Roman"/>
              <a:sym typeface="Times New Roman"/>
            </a:endParaRPr>
          </a:p>
          <a:p>
            <a:pPr indent="0" lvl="0" marL="0" marR="0" rtl="0" algn="l">
              <a:lnSpc>
                <a:spcPct val="118000"/>
              </a:lnSpc>
              <a:spcBef>
                <a:spcPts val="500"/>
              </a:spcBef>
              <a:spcAft>
                <a:spcPts val="0"/>
              </a:spcAft>
              <a:buNone/>
            </a:pPr>
            <a:r>
              <a:t/>
            </a:r>
            <a:endParaRPr sz="1100">
              <a:solidFill>
                <a:srgbClr val="1A1A1A"/>
              </a:solidFill>
              <a:latin typeface="Times New Roman"/>
              <a:ea typeface="Times New Roman"/>
              <a:cs typeface="Times New Roman"/>
              <a:sym typeface="Times New Roman"/>
            </a:endParaRPr>
          </a:p>
          <a:p>
            <a:pPr indent="0" lvl="0" marL="0" marR="0" rtl="0" algn="l">
              <a:lnSpc>
                <a:spcPct val="118000"/>
              </a:lnSpc>
              <a:spcBef>
                <a:spcPts val="500"/>
              </a:spcBef>
              <a:spcAft>
                <a:spcPts val="0"/>
              </a:spcAft>
              <a:buNone/>
            </a:pPr>
            <a:r>
              <a:rPr b="1" lang="en" sz="1200">
                <a:solidFill>
                  <a:srgbClr val="7A2E2E"/>
                </a:solidFill>
                <a:latin typeface="Times New Roman"/>
                <a:ea typeface="Times New Roman"/>
                <a:cs typeface="Times New Roman"/>
                <a:sym typeface="Times New Roman"/>
              </a:rPr>
              <a:t>Let’s work through an example – open positron / RStudio and paste in .R file</a:t>
            </a:r>
            <a:endParaRPr sz="1100">
              <a:solidFill>
                <a:srgbClr val="1A1A1A"/>
              </a:solidFill>
              <a:latin typeface="Times New Roman"/>
              <a:ea typeface="Times New Roman"/>
              <a:cs typeface="Times New Roman"/>
              <a:sym typeface="Times New Roman"/>
            </a:endParaRPr>
          </a:p>
          <a:p>
            <a:pPr indent="0" lvl="0" marL="0" marR="0" rtl="0" algn="l">
              <a:lnSpc>
                <a:spcPct val="118000"/>
              </a:lnSpc>
              <a:spcBef>
                <a:spcPts val="1200"/>
              </a:spcBef>
              <a:spcAft>
                <a:spcPts val="0"/>
              </a:spcAft>
              <a:buClr>
                <a:srgbClr val="1B2A4A"/>
              </a:buClr>
              <a:buSzPts val="1200"/>
              <a:buFont typeface="Times New Roman"/>
              <a:buNone/>
            </a:pPr>
            <a:r>
              <a:t/>
            </a:r>
            <a:endParaRPr sz="1100">
              <a:solidFill>
                <a:srgbClr val="1A1A1A"/>
              </a:solidFill>
              <a:latin typeface="Times New Roman"/>
              <a:ea typeface="Times New Roman"/>
              <a:cs typeface="Times New Roman"/>
              <a:sym typeface="Times New Roman"/>
            </a:endParaRPr>
          </a:p>
          <a:p>
            <a:pPr indent="0" lvl="0" marL="0" marR="0" rtl="0" algn="l">
              <a:lnSpc>
                <a:spcPct val="118000"/>
              </a:lnSpc>
              <a:spcBef>
                <a:spcPts val="1200"/>
              </a:spcBef>
              <a:spcAft>
                <a:spcPts val="0"/>
              </a:spcAft>
              <a:buClr>
                <a:srgbClr val="1B2A4A"/>
              </a:buClr>
              <a:buSzPts val="1200"/>
              <a:buFont typeface="Times New Roman"/>
              <a:buNone/>
            </a:pPr>
            <a:r>
              <a:t/>
            </a:r>
            <a:endParaRPr sz="1100">
              <a:solidFill>
                <a:srgbClr val="1A1A1A"/>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86" name="Shape 786"/>
        <p:cNvGrpSpPr/>
        <p:nvPr/>
      </p:nvGrpSpPr>
      <p:grpSpPr>
        <a:xfrm>
          <a:off x="0" y="0"/>
          <a:ext cx="0" cy="0"/>
          <a:chOff x="0" y="0"/>
          <a:chExt cx="0" cy="0"/>
        </a:xfrm>
      </p:grpSpPr>
      <p:sp>
        <p:nvSpPr>
          <p:cNvPr id="787" name="Google Shape;787;p106"/>
          <p:cNvSpPr/>
          <p:nvPr/>
        </p:nvSpPr>
        <p:spPr>
          <a:xfrm>
            <a:off x="514350" y="377190"/>
            <a:ext cx="2400300" cy="15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B3B63"/>
              </a:buClr>
              <a:buSzPts val="9800"/>
              <a:buFont typeface="Times New Roman"/>
              <a:buNone/>
            </a:pPr>
            <a:r>
              <a:rPr b="1" lang="en" sz="9800">
                <a:solidFill>
                  <a:srgbClr val="2B3B63"/>
                </a:solidFill>
                <a:latin typeface="Times New Roman"/>
                <a:ea typeface="Times New Roman"/>
                <a:cs typeface="Times New Roman"/>
                <a:sym typeface="Times New Roman"/>
              </a:rPr>
              <a:t>6</a:t>
            </a:r>
            <a:endParaRPr b="0" i="0" sz="9800" u="none" cap="none" strike="noStrike">
              <a:solidFill>
                <a:schemeClr val="dk1"/>
              </a:solidFill>
              <a:latin typeface="Calibri"/>
              <a:ea typeface="Calibri"/>
              <a:cs typeface="Calibri"/>
              <a:sym typeface="Calibri"/>
            </a:endParaRPr>
          </a:p>
        </p:txBody>
      </p:sp>
      <p:sp>
        <p:nvSpPr>
          <p:cNvPr id="788" name="Google Shape;788;p106"/>
          <p:cNvSpPr/>
          <p:nvPr/>
        </p:nvSpPr>
        <p:spPr>
          <a:xfrm>
            <a:off x="617220" y="2160270"/>
            <a:ext cx="74067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600"/>
              <a:buFont typeface="Times New Roman"/>
              <a:buNone/>
            </a:pPr>
            <a:r>
              <a:rPr b="1" i="0" lang="en" sz="2600" u="none" cap="none" strike="noStrike">
                <a:solidFill>
                  <a:srgbClr val="FFFFFF"/>
                </a:solidFill>
                <a:latin typeface="Times New Roman"/>
                <a:ea typeface="Times New Roman"/>
                <a:cs typeface="Times New Roman"/>
                <a:sym typeface="Times New Roman"/>
              </a:rPr>
              <a:t>The </a:t>
            </a:r>
            <a:r>
              <a:rPr b="1" lang="en" sz="2600">
                <a:solidFill>
                  <a:srgbClr val="FFFFFF"/>
                </a:solidFill>
                <a:latin typeface="Times New Roman"/>
                <a:ea typeface="Times New Roman"/>
                <a:cs typeface="Times New Roman"/>
                <a:sym typeface="Times New Roman"/>
              </a:rPr>
              <a:t>Multiple</a:t>
            </a:r>
            <a:r>
              <a:rPr b="1" i="0" lang="en" sz="2600" u="none" cap="none" strike="noStrike">
                <a:solidFill>
                  <a:srgbClr val="FFFFFF"/>
                </a:solidFill>
                <a:latin typeface="Times New Roman"/>
                <a:ea typeface="Times New Roman"/>
                <a:cs typeface="Times New Roman"/>
                <a:sym typeface="Times New Roman"/>
              </a:rPr>
              <a:t> Time Point Model</a:t>
            </a:r>
            <a:endParaRPr b="0" i="0" sz="2600" u="none" cap="none" strike="noStrike">
              <a:solidFill>
                <a:schemeClr val="dk1"/>
              </a:solidFill>
              <a:latin typeface="Calibri"/>
              <a:ea typeface="Calibri"/>
              <a:cs typeface="Calibri"/>
              <a:sym typeface="Calibri"/>
            </a:endParaRPr>
          </a:p>
        </p:txBody>
      </p:sp>
      <p:cxnSp>
        <p:nvCxnSpPr>
          <p:cNvPr id="789" name="Google Shape;789;p106"/>
          <p:cNvCxnSpPr/>
          <p:nvPr/>
        </p:nvCxnSpPr>
        <p:spPr>
          <a:xfrm>
            <a:off x="651510" y="2846070"/>
            <a:ext cx="1645800" cy="0"/>
          </a:xfrm>
          <a:prstGeom prst="straightConnector1">
            <a:avLst/>
          </a:prstGeom>
          <a:noFill/>
          <a:ln cap="flat" cmpd="sng" w="12700">
            <a:solidFill>
              <a:srgbClr val="5D6F9E"/>
            </a:solidFill>
            <a:prstDash val="solid"/>
            <a:round/>
            <a:headEnd len="sm" w="sm" type="none"/>
            <a:tailEnd len="sm" w="sm" type="none"/>
          </a:ln>
        </p:spPr>
      </p:cxnSp>
      <p:sp>
        <p:nvSpPr>
          <p:cNvPr id="790" name="Google Shape;790;p106"/>
          <p:cNvSpPr/>
          <p:nvPr/>
        </p:nvSpPr>
        <p:spPr>
          <a:xfrm>
            <a:off x="651510" y="3017520"/>
            <a:ext cx="5486400" cy="13716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AEB9D6"/>
              </a:buClr>
              <a:buSzPts val="1100"/>
              <a:buFont typeface="Times New Roman"/>
              <a:buNone/>
            </a:pPr>
            <a:r>
              <a:rPr i="1" lang="en" sz="1100">
                <a:solidFill>
                  <a:srgbClr val="AEB9D6"/>
                </a:solidFill>
                <a:latin typeface="Times New Roman"/>
                <a:ea typeface="Times New Roman"/>
                <a:cs typeface="Times New Roman"/>
                <a:sym typeface="Times New Roman"/>
              </a:rPr>
              <a:t>6</a:t>
            </a:r>
            <a:r>
              <a:rPr b="0" i="1" lang="en" sz="1100" u="none" cap="none" strike="noStrike">
                <a:solidFill>
                  <a:srgbClr val="AEB9D6"/>
                </a:solidFill>
                <a:latin typeface="Times New Roman"/>
                <a:ea typeface="Times New Roman"/>
                <a:cs typeface="Times New Roman"/>
                <a:sym typeface="Times New Roman"/>
              </a:rPr>
              <a:t>.1  g-computation with</a:t>
            </a:r>
            <a:r>
              <a:rPr i="1" lang="en" sz="1100">
                <a:solidFill>
                  <a:srgbClr val="AEB9D6"/>
                </a:solidFill>
                <a:latin typeface="Times New Roman"/>
                <a:ea typeface="Times New Roman"/>
                <a:cs typeface="Times New Roman"/>
                <a:sym typeface="Times New Roman"/>
              </a:rPr>
              <a:t> monte carlo </a:t>
            </a:r>
            <a:r>
              <a:rPr b="0" i="1" lang="en" sz="1100" u="none" cap="none" strike="noStrike">
                <a:solidFill>
                  <a:srgbClr val="AEB9D6"/>
                </a:solidFill>
                <a:latin typeface="Times New Roman"/>
                <a:ea typeface="Times New Roman"/>
                <a:cs typeface="Times New Roman"/>
                <a:sym typeface="Times New Roman"/>
              </a:rPr>
              <a:t>simulation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5" name="Shape 795"/>
        <p:cNvGrpSpPr/>
        <p:nvPr/>
      </p:nvGrpSpPr>
      <p:grpSpPr>
        <a:xfrm>
          <a:off x="0" y="0"/>
          <a:ext cx="0" cy="0"/>
          <a:chOff x="0" y="0"/>
          <a:chExt cx="0" cy="0"/>
        </a:xfrm>
      </p:grpSpPr>
      <p:sp>
        <p:nvSpPr>
          <p:cNvPr id="796" name="Google Shape;796;p107"/>
          <p:cNvSpPr/>
          <p:nvPr/>
        </p:nvSpPr>
        <p:spPr>
          <a:xfrm>
            <a:off x="480060" y="240030"/>
            <a:ext cx="68580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5. THE SINGLE TIME POINT MODEL</a:t>
            </a:r>
            <a:endParaRPr b="0" i="0" sz="800" u="none" cap="none" strike="noStrike">
              <a:solidFill>
                <a:schemeClr val="dk1"/>
              </a:solidFill>
              <a:latin typeface="Calibri"/>
              <a:ea typeface="Calibri"/>
              <a:cs typeface="Calibri"/>
              <a:sym typeface="Calibri"/>
            </a:endParaRPr>
          </a:p>
        </p:txBody>
      </p:sp>
      <p:sp>
        <p:nvSpPr>
          <p:cNvPr id="797" name="Google Shape;797;p107"/>
          <p:cNvSpPr/>
          <p:nvPr/>
        </p:nvSpPr>
        <p:spPr>
          <a:xfrm>
            <a:off x="480060" y="466344"/>
            <a:ext cx="8160900" cy="41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lang="en" sz="1900">
                <a:solidFill>
                  <a:srgbClr val="7A2E2E"/>
                </a:solidFill>
                <a:latin typeface="Times New Roman"/>
                <a:ea typeface="Times New Roman"/>
                <a:cs typeface="Times New Roman"/>
                <a:sym typeface="Times New Roman"/>
              </a:rPr>
              <a:t>6.1</a:t>
            </a:r>
            <a:r>
              <a:rPr b="1" i="0" lang="en" sz="1900" u="none" cap="none" strike="noStrike">
                <a:solidFill>
                  <a:srgbClr val="7A2E2E"/>
                </a:solidFill>
                <a:latin typeface="Times New Roman"/>
                <a:ea typeface="Times New Roman"/>
                <a:cs typeface="Times New Roman"/>
                <a:sym typeface="Times New Roman"/>
              </a:rPr>
              <a:t>  </a:t>
            </a:r>
            <a:r>
              <a:rPr b="1" i="0" lang="en" sz="1900" u="none" cap="none" strike="noStrike">
                <a:solidFill>
                  <a:srgbClr val="1B2A4A"/>
                </a:solidFill>
                <a:latin typeface="Times New Roman"/>
                <a:ea typeface="Times New Roman"/>
                <a:cs typeface="Times New Roman"/>
                <a:sym typeface="Times New Roman"/>
              </a:rPr>
              <a:t>Worked Example: </a:t>
            </a:r>
            <a:r>
              <a:rPr b="1" lang="en" sz="1900">
                <a:solidFill>
                  <a:srgbClr val="1B2A4A"/>
                </a:solidFill>
                <a:latin typeface="Times New Roman"/>
                <a:ea typeface="Times New Roman"/>
                <a:cs typeface="Times New Roman"/>
                <a:sym typeface="Times New Roman"/>
              </a:rPr>
              <a:t>Neutropenia and Dosing </a:t>
            </a:r>
            <a:endParaRPr b="0" i="0" sz="1900" u="none" cap="none" strike="noStrike">
              <a:solidFill>
                <a:schemeClr val="dk1"/>
              </a:solidFill>
              <a:latin typeface="Calibri"/>
              <a:ea typeface="Calibri"/>
              <a:cs typeface="Calibri"/>
              <a:sym typeface="Calibri"/>
            </a:endParaRPr>
          </a:p>
        </p:txBody>
      </p:sp>
      <p:cxnSp>
        <p:nvCxnSpPr>
          <p:cNvPr id="798" name="Google Shape;798;p107"/>
          <p:cNvCxnSpPr/>
          <p:nvPr/>
        </p:nvCxnSpPr>
        <p:spPr>
          <a:xfrm>
            <a:off x="480060" y="905256"/>
            <a:ext cx="8181600" cy="0"/>
          </a:xfrm>
          <a:prstGeom prst="straightConnector1">
            <a:avLst/>
          </a:prstGeom>
          <a:noFill/>
          <a:ln cap="flat" cmpd="sng" w="15875">
            <a:solidFill>
              <a:srgbClr val="1B2A4A"/>
            </a:solidFill>
            <a:prstDash val="solid"/>
            <a:round/>
            <a:headEnd len="sm" w="sm" type="none"/>
            <a:tailEnd len="sm" w="sm" type="none"/>
          </a:ln>
        </p:spPr>
      </p:cxnSp>
      <p:cxnSp>
        <p:nvCxnSpPr>
          <p:cNvPr id="799" name="Google Shape;799;p107"/>
          <p:cNvCxnSpPr/>
          <p:nvPr/>
        </p:nvCxnSpPr>
        <p:spPr>
          <a:xfrm>
            <a:off x="480060" y="4766310"/>
            <a:ext cx="8181600" cy="0"/>
          </a:xfrm>
          <a:prstGeom prst="straightConnector1">
            <a:avLst/>
          </a:prstGeom>
          <a:noFill/>
          <a:ln cap="flat" cmpd="sng" w="9525">
            <a:solidFill>
              <a:srgbClr val="C7CCDA"/>
            </a:solidFill>
            <a:prstDash val="solid"/>
            <a:round/>
            <a:headEnd len="sm" w="sm" type="none"/>
            <a:tailEnd len="sm" w="sm" type="none"/>
          </a:ln>
        </p:spPr>
      </p:cxnSp>
      <p:sp>
        <p:nvSpPr>
          <p:cNvPr id="800" name="Google Shape;800;p107"/>
          <p:cNvSpPr/>
          <p:nvPr/>
        </p:nvSpPr>
        <p:spPr>
          <a:xfrm>
            <a:off x="480060" y="4828032"/>
            <a:ext cx="274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801" name="Google Shape;801;p107"/>
          <p:cNvSpPr/>
          <p:nvPr/>
        </p:nvSpPr>
        <p:spPr>
          <a:xfrm>
            <a:off x="2880360" y="4828032"/>
            <a:ext cx="3429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5. The Single Time Point Model</a:t>
            </a:r>
            <a:endParaRPr b="0" i="0" sz="700" u="none" cap="none" strike="noStrike">
              <a:solidFill>
                <a:schemeClr val="dk1"/>
              </a:solidFill>
              <a:latin typeface="Calibri"/>
              <a:ea typeface="Calibri"/>
              <a:cs typeface="Calibri"/>
              <a:sym typeface="Calibri"/>
            </a:endParaRPr>
          </a:p>
        </p:txBody>
      </p:sp>
      <p:sp>
        <p:nvSpPr>
          <p:cNvPr id="802" name="Google Shape;802;p107"/>
          <p:cNvSpPr/>
          <p:nvPr/>
        </p:nvSpPr>
        <p:spPr>
          <a:xfrm>
            <a:off x="8229600" y="4828032"/>
            <a:ext cx="4320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24</a:t>
            </a:r>
            <a:endParaRPr b="0" i="0" sz="700" u="none" cap="none" strike="noStrike">
              <a:solidFill>
                <a:schemeClr val="dk1"/>
              </a:solidFill>
              <a:latin typeface="Calibri"/>
              <a:ea typeface="Calibri"/>
              <a:cs typeface="Calibri"/>
              <a:sym typeface="Calibri"/>
            </a:endParaRPr>
          </a:p>
        </p:txBody>
      </p:sp>
      <p:sp>
        <p:nvSpPr>
          <p:cNvPr id="803" name="Google Shape;803;p107"/>
          <p:cNvSpPr/>
          <p:nvPr/>
        </p:nvSpPr>
        <p:spPr>
          <a:xfrm>
            <a:off x="480060" y="1131570"/>
            <a:ext cx="8160900" cy="3634800"/>
          </a:xfrm>
          <a:prstGeom prst="rect">
            <a:avLst/>
          </a:prstGeom>
          <a:noFill/>
          <a:ln>
            <a:noFill/>
          </a:ln>
        </p:spPr>
        <p:txBody>
          <a:bodyPr anchorCtr="0" anchor="t" bIns="34275" lIns="68575" spcFirstLastPara="1" rIns="68575" wrap="square" tIns="34275">
            <a:noAutofit/>
          </a:bodyPr>
          <a:lstStyle/>
          <a:p>
            <a:pPr indent="-158750" lvl="0" marL="1524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Y = death (hazard) in interval t (Y ~ survival at 24m is </a:t>
            </a:r>
            <a:r>
              <a:rPr lang="en" sz="1300">
                <a:solidFill>
                  <a:srgbClr val="1A1A1A"/>
                </a:solidFill>
                <a:latin typeface="Times New Roman"/>
                <a:ea typeface="Times New Roman"/>
                <a:cs typeface="Times New Roman"/>
                <a:sym typeface="Times New Roman"/>
              </a:rPr>
              <a:t>estimated</a:t>
            </a:r>
            <a:r>
              <a:rPr lang="en" sz="1300">
                <a:solidFill>
                  <a:srgbClr val="1A1A1A"/>
                </a:solidFill>
                <a:latin typeface="Times New Roman"/>
                <a:ea typeface="Times New Roman"/>
                <a:cs typeface="Times New Roman"/>
                <a:sym typeface="Times New Roman"/>
              </a:rPr>
              <a:t> at the end)</a:t>
            </a:r>
            <a:endParaRPr sz="1300">
              <a:solidFill>
                <a:srgbClr val="1A1A1A"/>
              </a:solidFill>
              <a:latin typeface="Times New Roman"/>
              <a:ea typeface="Times New Roman"/>
              <a:cs typeface="Times New Roman"/>
              <a:sym typeface="Times New Roman"/>
            </a:endParaRPr>
          </a:p>
          <a:p>
            <a:pPr indent="-158750" lvl="0" marL="1524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āₜ = the full chemo-dosing history through interval t (Dummy variable: aₜ ∈ {0,1})</a:t>
            </a:r>
            <a:endParaRPr sz="1300">
              <a:solidFill>
                <a:srgbClr val="1A1A1A"/>
              </a:solidFill>
              <a:latin typeface="Times New Roman"/>
              <a:ea typeface="Times New Roman"/>
              <a:cs typeface="Times New Roman"/>
              <a:sym typeface="Times New Roman"/>
            </a:endParaRPr>
          </a:p>
          <a:p>
            <a:pPr indent="-158750" lvl="0" marL="1524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L̄ₜ = the full grade 3+ neutropenia history through interval t (also a dummy variable)</a:t>
            </a:r>
            <a:endParaRPr sz="1300">
              <a:solidFill>
                <a:srgbClr val="1A1A1A"/>
              </a:solidFill>
              <a:latin typeface="Times New Roman"/>
              <a:ea typeface="Times New Roman"/>
              <a:cs typeface="Times New Roman"/>
              <a:sym typeface="Times New Roman"/>
            </a:endParaRPr>
          </a:p>
          <a:p>
            <a:pPr indent="-158750" lvl="0" marL="1524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X₀ = time-invariant baseline characteristics (L₀, sex, race, region, ECOG, subtype, year of 1L start) — includes baseline neutropenia, fixed at t = 0</a:t>
            </a:r>
            <a:endParaRPr sz="1300">
              <a:solidFill>
                <a:srgbClr val="1A1A1A"/>
              </a:solidFill>
              <a:latin typeface="Times New Roman"/>
              <a:ea typeface="Times New Roman"/>
              <a:cs typeface="Times New Roman"/>
              <a:sym typeface="Times New Roman"/>
            </a:endParaRPr>
          </a:p>
          <a:p>
            <a:pPr indent="0" lvl="0" marL="0" marR="0" rtl="0" algn="l">
              <a:lnSpc>
                <a:spcPct val="118000"/>
              </a:lnSpc>
              <a:spcBef>
                <a:spcPts val="0"/>
              </a:spcBef>
              <a:spcAft>
                <a:spcPts val="0"/>
              </a:spcAft>
              <a:buNone/>
            </a:pPr>
            <a:r>
              <a:t/>
            </a:r>
            <a:endParaRPr sz="1300">
              <a:solidFill>
                <a:srgbClr val="1A1A1A"/>
              </a:solidFill>
              <a:latin typeface="Times New Roman"/>
              <a:ea typeface="Times New Roman"/>
              <a:cs typeface="Times New Roman"/>
              <a:sym typeface="Times New Roman"/>
            </a:endParaRPr>
          </a:p>
          <a:p>
            <a:pPr indent="-158750" lvl="0" marL="15240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Again, there is nothing other than baseline controls that suggests the E[eₜ | āₜ, L̄ₜ, X₀] = 0 [∀ t], so this unlikely to be causal.</a:t>
            </a:r>
            <a:endParaRPr sz="1300">
              <a:solidFill>
                <a:srgbClr val="1A1A1A"/>
              </a:solidFill>
              <a:latin typeface="Times New Roman"/>
              <a:ea typeface="Times New Roman"/>
              <a:cs typeface="Times New Roman"/>
              <a:sym typeface="Times New Roman"/>
            </a:endParaRPr>
          </a:p>
          <a:p>
            <a:pPr indent="0" lvl="0" marL="0" marR="0" rtl="0" algn="l">
              <a:lnSpc>
                <a:spcPct val="118000"/>
              </a:lnSpc>
              <a:spcBef>
                <a:spcPts val="0"/>
              </a:spcBef>
              <a:spcAft>
                <a:spcPts val="0"/>
              </a:spcAft>
              <a:buNone/>
            </a:pPr>
            <a:r>
              <a:t/>
            </a:r>
            <a:endParaRPr sz="1300">
              <a:solidFill>
                <a:srgbClr val="1A1A1A"/>
              </a:solidFill>
              <a:latin typeface="Times New Roman"/>
              <a:ea typeface="Times New Roman"/>
              <a:cs typeface="Times New Roman"/>
              <a:sym typeface="Times New Roman"/>
            </a:endParaRPr>
          </a:p>
          <a:p>
            <a:pPr indent="0" lvl="0" marL="457200" marR="0" rtl="0" algn="l">
              <a:lnSpc>
                <a:spcPct val="118000"/>
              </a:lnSpc>
              <a:spcBef>
                <a:spcPts val="0"/>
              </a:spcBef>
              <a:spcAft>
                <a:spcPts val="0"/>
              </a:spcAft>
              <a:buNone/>
            </a:pPr>
            <a:r>
              <a:rPr b="1" lang="en" sz="1200">
                <a:solidFill>
                  <a:srgbClr val="7A2E2E"/>
                </a:solidFill>
                <a:latin typeface="Times New Roman"/>
                <a:ea typeface="Times New Roman"/>
                <a:cs typeface="Times New Roman"/>
                <a:sym typeface="Times New Roman"/>
              </a:rPr>
              <a:t>Let's work through an example — open positron/RStudio and paste in second .R file.</a:t>
            </a:r>
            <a:endParaRPr sz="1300">
              <a:solidFill>
                <a:schemeClr val="dk1"/>
              </a:solidFill>
            </a:endParaRPr>
          </a:p>
          <a:p>
            <a:pPr indent="0" lvl="0" marL="0" marR="0" rtl="0" algn="l">
              <a:lnSpc>
                <a:spcPct val="118000"/>
              </a:lnSpc>
              <a:spcBef>
                <a:spcPts val="1200"/>
              </a:spcBef>
              <a:spcAft>
                <a:spcPts val="0"/>
              </a:spcAft>
              <a:buClr>
                <a:srgbClr val="1B2A4A"/>
              </a:buClr>
              <a:buSzPts val="1200"/>
              <a:buFont typeface="Times New Roman"/>
              <a:buNone/>
            </a:pPr>
            <a:r>
              <a:t/>
            </a:r>
            <a:endParaRPr sz="1300">
              <a:solidFill>
                <a:srgbClr val="1A1A1A"/>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8" name="Shape 808"/>
        <p:cNvGrpSpPr/>
        <p:nvPr/>
      </p:nvGrpSpPr>
      <p:grpSpPr>
        <a:xfrm>
          <a:off x="0" y="0"/>
          <a:ext cx="0" cy="0"/>
          <a:chOff x="0" y="0"/>
          <a:chExt cx="0" cy="0"/>
        </a:xfrm>
      </p:grpSpPr>
      <p:sp>
        <p:nvSpPr>
          <p:cNvPr id="809" name="Google Shape;809;p108"/>
          <p:cNvSpPr/>
          <p:nvPr/>
        </p:nvSpPr>
        <p:spPr>
          <a:xfrm>
            <a:off x="480060" y="240030"/>
            <a:ext cx="68580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800"/>
              <a:buFont typeface="Times New Roman"/>
              <a:buNone/>
            </a:pPr>
            <a:r>
              <a:rPr b="0" i="0" lang="en" sz="800" u="none" cap="none" strike="noStrike">
                <a:solidFill>
                  <a:srgbClr val="5B5F6B"/>
                </a:solidFill>
                <a:latin typeface="Times New Roman"/>
                <a:ea typeface="Times New Roman"/>
                <a:cs typeface="Times New Roman"/>
                <a:sym typeface="Times New Roman"/>
              </a:rPr>
              <a:t>5. THE SINGLE TIME POINT MODEL</a:t>
            </a:r>
            <a:endParaRPr b="0" i="0" sz="800" u="none" cap="none" strike="noStrike">
              <a:solidFill>
                <a:schemeClr val="dk1"/>
              </a:solidFill>
              <a:latin typeface="Calibri"/>
              <a:ea typeface="Calibri"/>
              <a:cs typeface="Calibri"/>
              <a:sym typeface="Calibri"/>
            </a:endParaRPr>
          </a:p>
        </p:txBody>
      </p:sp>
      <p:sp>
        <p:nvSpPr>
          <p:cNvPr id="810" name="Google Shape;810;p108"/>
          <p:cNvSpPr/>
          <p:nvPr/>
        </p:nvSpPr>
        <p:spPr>
          <a:xfrm>
            <a:off x="480060" y="466344"/>
            <a:ext cx="8160900" cy="41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2E2E"/>
              </a:buClr>
              <a:buSzPts val="1900"/>
              <a:buFont typeface="Times New Roman"/>
              <a:buNone/>
            </a:pPr>
            <a:r>
              <a:rPr b="1" lang="en" sz="1900">
                <a:solidFill>
                  <a:srgbClr val="7A2E2E"/>
                </a:solidFill>
                <a:latin typeface="Times New Roman"/>
                <a:ea typeface="Times New Roman"/>
                <a:cs typeface="Times New Roman"/>
                <a:sym typeface="Times New Roman"/>
              </a:rPr>
              <a:t>6.1</a:t>
            </a:r>
            <a:r>
              <a:rPr b="1" i="0" lang="en" sz="1900" u="none" cap="none" strike="noStrike">
                <a:solidFill>
                  <a:srgbClr val="7A2E2E"/>
                </a:solidFill>
                <a:latin typeface="Times New Roman"/>
                <a:ea typeface="Times New Roman"/>
                <a:cs typeface="Times New Roman"/>
                <a:sym typeface="Times New Roman"/>
              </a:rPr>
              <a:t>  </a:t>
            </a:r>
            <a:r>
              <a:rPr b="1" lang="en" sz="1900">
                <a:solidFill>
                  <a:srgbClr val="1B2A4A"/>
                </a:solidFill>
                <a:latin typeface="Times New Roman"/>
                <a:ea typeface="Times New Roman"/>
                <a:cs typeface="Times New Roman"/>
                <a:sym typeface="Times New Roman"/>
              </a:rPr>
              <a:t>G-Computation</a:t>
            </a:r>
            <a:r>
              <a:rPr b="1" i="0" lang="en" sz="1900" u="none" cap="none" strike="noStrike">
                <a:solidFill>
                  <a:srgbClr val="1B2A4A"/>
                </a:solidFill>
                <a:latin typeface="Times New Roman"/>
                <a:ea typeface="Times New Roman"/>
                <a:cs typeface="Times New Roman"/>
                <a:sym typeface="Times New Roman"/>
              </a:rPr>
              <a:t>: </a:t>
            </a:r>
            <a:r>
              <a:rPr b="1" lang="en" sz="1900">
                <a:solidFill>
                  <a:srgbClr val="1B2A4A"/>
                </a:solidFill>
                <a:latin typeface="Times New Roman"/>
                <a:ea typeface="Times New Roman"/>
                <a:cs typeface="Times New Roman"/>
                <a:sym typeface="Times New Roman"/>
              </a:rPr>
              <a:t>Simulate any counterfactual reality you’d like</a:t>
            </a:r>
            <a:endParaRPr b="0" i="0" sz="1900" u="none" cap="none" strike="noStrike">
              <a:solidFill>
                <a:schemeClr val="dk1"/>
              </a:solidFill>
              <a:latin typeface="Calibri"/>
              <a:ea typeface="Calibri"/>
              <a:cs typeface="Calibri"/>
              <a:sym typeface="Calibri"/>
            </a:endParaRPr>
          </a:p>
        </p:txBody>
      </p:sp>
      <p:cxnSp>
        <p:nvCxnSpPr>
          <p:cNvPr id="811" name="Google Shape;811;p108"/>
          <p:cNvCxnSpPr/>
          <p:nvPr/>
        </p:nvCxnSpPr>
        <p:spPr>
          <a:xfrm>
            <a:off x="480060" y="905256"/>
            <a:ext cx="8181600" cy="0"/>
          </a:xfrm>
          <a:prstGeom prst="straightConnector1">
            <a:avLst/>
          </a:prstGeom>
          <a:noFill/>
          <a:ln cap="flat" cmpd="sng" w="15875">
            <a:solidFill>
              <a:srgbClr val="1B2A4A"/>
            </a:solidFill>
            <a:prstDash val="solid"/>
            <a:round/>
            <a:headEnd len="sm" w="sm" type="none"/>
            <a:tailEnd len="sm" w="sm" type="none"/>
          </a:ln>
        </p:spPr>
      </p:cxnSp>
      <p:cxnSp>
        <p:nvCxnSpPr>
          <p:cNvPr id="812" name="Google Shape;812;p108"/>
          <p:cNvCxnSpPr/>
          <p:nvPr/>
        </p:nvCxnSpPr>
        <p:spPr>
          <a:xfrm>
            <a:off x="480060" y="4766310"/>
            <a:ext cx="8181600" cy="0"/>
          </a:xfrm>
          <a:prstGeom prst="straightConnector1">
            <a:avLst/>
          </a:prstGeom>
          <a:noFill/>
          <a:ln cap="flat" cmpd="sng" w="9525">
            <a:solidFill>
              <a:srgbClr val="C7CCDA"/>
            </a:solidFill>
            <a:prstDash val="solid"/>
            <a:round/>
            <a:headEnd len="sm" w="sm" type="none"/>
            <a:tailEnd len="sm" w="sm" type="none"/>
          </a:ln>
        </p:spPr>
      </p:cxnSp>
      <p:sp>
        <p:nvSpPr>
          <p:cNvPr id="813" name="Google Shape;813;p108"/>
          <p:cNvSpPr/>
          <p:nvPr/>
        </p:nvSpPr>
        <p:spPr>
          <a:xfrm>
            <a:off x="480060" y="4828032"/>
            <a:ext cx="274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G-Computation</a:t>
            </a:r>
            <a:endParaRPr b="0" i="0" sz="700" u="none" cap="none" strike="noStrike">
              <a:solidFill>
                <a:schemeClr val="dk1"/>
              </a:solidFill>
              <a:latin typeface="Calibri"/>
              <a:ea typeface="Calibri"/>
              <a:cs typeface="Calibri"/>
              <a:sym typeface="Calibri"/>
            </a:endParaRPr>
          </a:p>
        </p:txBody>
      </p:sp>
      <p:sp>
        <p:nvSpPr>
          <p:cNvPr id="814" name="Google Shape;814;p108"/>
          <p:cNvSpPr/>
          <p:nvPr/>
        </p:nvSpPr>
        <p:spPr>
          <a:xfrm>
            <a:off x="2880360" y="4828032"/>
            <a:ext cx="3429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5. The Single Time Point Model</a:t>
            </a:r>
            <a:endParaRPr b="0" i="0" sz="700" u="none" cap="none" strike="noStrike">
              <a:solidFill>
                <a:schemeClr val="dk1"/>
              </a:solidFill>
              <a:latin typeface="Calibri"/>
              <a:ea typeface="Calibri"/>
              <a:cs typeface="Calibri"/>
              <a:sym typeface="Calibri"/>
            </a:endParaRPr>
          </a:p>
        </p:txBody>
      </p:sp>
      <p:sp>
        <p:nvSpPr>
          <p:cNvPr id="815" name="Google Shape;815;p108"/>
          <p:cNvSpPr/>
          <p:nvPr/>
        </p:nvSpPr>
        <p:spPr>
          <a:xfrm>
            <a:off x="8229600" y="4828032"/>
            <a:ext cx="4320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5F6B"/>
              </a:buClr>
              <a:buSzPts val="700"/>
              <a:buFont typeface="Times New Roman"/>
              <a:buNone/>
            </a:pPr>
            <a:r>
              <a:rPr b="0" i="0" lang="en" sz="700" u="none" cap="none" strike="noStrike">
                <a:solidFill>
                  <a:srgbClr val="5B5F6B"/>
                </a:solidFill>
                <a:latin typeface="Times New Roman"/>
                <a:ea typeface="Times New Roman"/>
                <a:cs typeface="Times New Roman"/>
                <a:sym typeface="Times New Roman"/>
              </a:rPr>
              <a:t>24</a:t>
            </a:r>
            <a:endParaRPr b="0" i="0" sz="700" u="none" cap="none" strike="noStrike">
              <a:solidFill>
                <a:schemeClr val="dk1"/>
              </a:solidFill>
              <a:latin typeface="Calibri"/>
              <a:ea typeface="Calibri"/>
              <a:cs typeface="Calibri"/>
              <a:sym typeface="Calibri"/>
            </a:endParaRPr>
          </a:p>
        </p:txBody>
      </p:sp>
      <p:sp>
        <p:nvSpPr>
          <p:cNvPr id="816" name="Google Shape;816;p108"/>
          <p:cNvSpPr/>
          <p:nvPr/>
        </p:nvSpPr>
        <p:spPr>
          <a:xfrm>
            <a:off x="480060" y="1131570"/>
            <a:ext cx="8160900" cy="3634800"/>
          </a:xfrm>
          <a:prstGeom prst="rect">
            <a:avLst/>
          </a:prstGeom>
          <a:noFill/>
          <a:ln>
            <a:noFill/>
          </a:ln>
        </p:spPr>
        <p:txBody>
          <a:bodyPr anchorCtr="0" anchor="t" bIns="34275" lIns="68575" spcFirstLastPara="1" rIns="68575" wrap="square" tIns="34275">
            <a:noAutofit/>
          </a:bodyPr>
          <a:lstStyle/>
          <a:p>
            <a:pPr indent="-311150" lvl="0" marL="457200" marR="0" rtl="0" algn="l">
              <a:lnSpc>
                <a:spcPct val="118000"/>
              </a:lnSpc>
              <a:spcBef>
                <a:spcPts val="120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In our example, our research question was: “What’s the effect of pushing through neutropenia (ie continuing dose) vs holding back (ie stopping dose in this period) on survival [for patients with </a:t>
            </a:r>
            <a:r>
              <a:rPr lang="en" sz="1300">
                <a:solidFill>
                  <a:srgbClr val="1A1A1A"/>
                </a:solidFill>
                <a:latin typeface="Times New Roman"/>
                <a:ea typeface="Times New Roman"/>
                <a:cs typeface="Times New Roman"/>
                <a:sym typeface="Times New Roman"/>
              </a:rPr>
              <a:t>metastatic</a:t>
            </a:r>
            <a:r>
              <a:rPr lang="en" sz="1300">
                <a:solidFill>
                  <a:srgbClr val="1A1A1A"/>
                </a:solidFill>
                <a:latin typeface="Times New Roman"/>
                <a:ea typeface="Times New Roman"/>
                <a:cs typeface="Times New Roman"/>
                <a:sym typeface="Times New Roman"/>
              </a:rPr>
              <a:t> breast cancer]?”</a:t>
            </a:r>
            <a:endParaRPr sz="1300">
              <a:solidFill>
                <a:srgbClr val="1A1A1A"/>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Our two realities were:</a:t>
            </a:r>
            <a:endParaRPr sz="1300">
              <a:solidFill>
                <a:srgbClr val="1A1A1A"/>
              </a:solidFill>
              <a:latin typeface="Times New Roman"/>
              <a:ea typeface="Times New Roman"/>
              <a:cs typeface="Times New Roman"/>
              <a:sym typeface="Times New Roman"/>
            </a:endParaRPr>
          </a:p>
          <a:p>
            <a:pPr indent="-311150" lvl="2" marL="13716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Every time a patient gets neutropenia, continue giving chemo (always dose); vs.</a:t>
            </a:r>
            <a:endParaRPr sz="1300">
              <a:solidFill>
                <a:srgbClr val="1A1A1A"/>
              </a:solidFill>
              <a:latin typeface="Times New Roman"/>
              <a:ea typeface="Times New Roman"/>
              <a:cs typeface="Times New Roman"/>
              <a:sym typeface="Times New Roman"/>
            </a:endParaRPr>
          </a:p>
          <a:p>
            <a:pPr indent="-311150" lvl="2" marL="13716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Every time a patient gets neutropenia, don’t give chemo in next period</a:t>
            </a:r>
            <a:br>
              <a:rPr lang="en" sz="1300">
                <a:solidFill>
                  <a:srgbClr val="1A1A1A"/>
                </a:solidFill>
                <a:latin typeface="Times New Roman"/>
                <a:ea typeface="Times New Roman"/>
                <a:cs typeface="Times New Roman"/>
                <a:sym typeface="Times New Roman"/>
              </a:rPr>
            </a:br>
            <a:endParaRPr sz="1300">
              <a:solidFill>
                <a:srgbClr val="1A1A1A"/>
              </a:solidFill>
              <a:latin typeface="Times New Roman"/>
              <a:ea typeface="Times New Roman"/>
              <a:cs typeface="Times New Roman"/>
              <a:sym typeface="Times New Roman"/>
            </a:endParaRPr>
          </a:p>
          <a:p>
            <a:pPr indent="-311150" lvl="0" marL="4572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But we could have simulated essentially (subject to “Positivity”) any counterfactual reality we were interested in…</a:t>
            </a:r>
            <a:endParaRPr sz="1300">
              <a:solidFill>
                <a:srgbClr val="1A1A1A"/>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E.g. “What is the difference of giving chemo for 3m on, 3m off; vs. 3m on, 6m off.?”</a:t>
            </a:r>
            <a:endParaRPr sz="1300">
              <a:solidFill>
                <a:srgbClr val="1A1A1A"/>
              </a:solidFill>
              <a:latin typeface="Times New Roman"/>
              <a:ea typeface="Times New Roman"/>
              <a:cs typeface="Times New Roman"/>
              <a:sym typeface="Times New Roman"/>
            </a:endParaRPr>
          </a:p>
          <a:p>
            <a:pPr indent="-311150" lvl="1" marL="914400" marR="0" rtl="0" algn="l">
              <a:lnSpc>
                <a:spcPct val="118000"/>
              </a:lnSpc>
              <a:spcBef>
                <a:spcPts val="0"/>
              </a:spcBef>
              <a:spcAft>
                <a:spcPts val="0"/>
              </a:spcAft>
              <a:buClr>
                <a:srgbClr val="1A1A1A"/>
              </a:buClr>
              <a:buSzPts val="1300"/>
              <a:buFont typeface="Times New Roman"/>
              <a:buChar char="○"/>
            </a:pPr>
            <a:r>
              <a:rPr lang="en" sz="1300">
                <a:solidFill>
                  <a:srgbClr val="1A1A1A"/>
                </a:solidFill>
                <a:latin typeface="Times New Roman"/>
                <a:ea typeface="Times New Roman"/>
                <a:cs typeface="Times New Roman"/>
                <a:sym typeface="Times New Roman"/>
              </a:rPr>
              <a:t>E.g. “What if we give chemo for 4 </a:t>
            </a:r>
            <a:r>
              <a:rPr lang="en" sz="1300">
                <a:solidFill>
                  <a:srgbClr val="1A1A1A"/>
                </a:solidFill>
                <a:latin typeface="Times New Roman"/>
                <a:ea typeface="Times New Roman"/>
                <a:cs typeface="Times New Roman"/>
                <a:sym typeface="Times New Roman"/>
              </a:rPr>
              <a:t>consecutive </a:t>
            </a:r>
            <a:r>
              <a:rPr lang="en" sz="1300">
                <a:solidFill>
                  <a:srgbClr val="1A1A1A"/>
                </a:solidFill>
                <a:latin typeface="Times New Roman"/>
                <a:ea typeface="Times New Roman"/>
                <a:cs typeface="Times New Roman"/>
                <a:sym typeface="Times New Roman"/>
              </a:rPr>
              <a:t>3m intervals in a row, then stop chemo entirely for 4m?”</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09"/>
          <p:cNvSpPr txBox="1"/>
          <p:nvPr>
            <p:ph type="title"/>
          </p:nvPr>
        </p:nvSpPr>
        <p:spPr>
          <a:xfrm>
            <a:off x="571720" y="1828800"/>
            <a:ext cx="4722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Team Updates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10"/>
          <p:cNvSpPr txBox="1"/>
          <p:nvPr>
            <p:ph type="title"/>
          </p:nvPr>
        </p:nvSpPr>
        <p:spPr>
          <a:xfrm>
            <a:off x="304800" y="381000"/>
            <a:ext cx="8515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0F172A"/>
                </a:solidFill>
                <a:latin typeface="Helvetica Neue"/>
                <a:ea typeface="Helvetica Neue"/>
                <a:cs typeface="Helvetica Neue"/>
                <a:sym typeface="Helvetica Neue"/>
              </a:rPr>
              <a:t>General &amp; Team Updates</a:t>
            </a:r>
            <a:endParaRPr b="1" sz="2800">
              <a:solidFill>
                <a:srgbClr val="0F172A"/>
              </a:solidFill>
              <a:latin typeface="Helvetica Neue"/>
              <a:ea typeface="Helvetica Neue"/>
              <a:cs typeface="Helvetica Neue"/>
              <a:sym typeface="Helvetica Neue"/>
            </a:endParaRPr>
          </a:p>
        </p:txBody>
      </p:sp>
      <p:grpSp>
        <p:nvGrpSpPr>
          <p:cNvPr id="827" name="Google Shape;827;p110"/>
          <p:cNvGrpSpPr/>
          <p:nvPr/>
        </p:nvGrpSpPr>
        <p:grpSpPr>
          <a:xfrm>
            <a:off x="304800" y="1000125"/>
            <a:ext cx="1714500" cy="304800"/>
            <a:chOff x="0" y="0"/>
            <a:chExt cx="1714500" cy="304800"/>
          </a:xfrm>
        </p:grpSpPr>
        <p:sp>
          <p:nvSpPr>
            <p:cNvPr id="828" name="Google Shape;828;p110"/>
            <p:cNvSpPr/>
            <p:nvPr/>
          </p:nvSpPr>
          <p:spPr>
            <a:xfrm>
              <a:off x="0" y="0"/>
              <a:ext cx="1714500" cy="304800"/>
            </a:xfrm>
            <a:prstGeom prst="roundRect">
              <a:avLst>
                <a:gd fmla="val 50000" name="adj"/>
              </a:avLst>
            </a:prstGeom>
            <a:solidFill>
              <a:srgbClr val="E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9" name="Google Shape;829;p110"/>
            <p:cNvSpPr txBox="1"/>
            <p:nvPr/>
          </p:nvSpPr>
          <p:spPr>
            <a:xfrm>
              <a:off x="0" y="0"/>
              <a:ext cx="17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0369A1"/>
                  </a:solidFill>
                  <a:uFill>
                    <a:noFill/>
                  </a:uFill>
                  <a:latin typeface="Helvetica Neue"/>
                  <a:ea typeface="Helvetica Neue"/>
                  <a:cs typeface="Helvetica Neue"/>
                  <a:sym typeface="Helvetica Neue"/>
                  <a:hlinkClick r:id="rId3">
                    <a:extLst>
                      <a:ext uri="{A12FA001-AC4F-418D-AE19-62706E023703}">
                        <ahyp:hlinkClr val="tx"/>
                      </a:ext>
                    </a:extLst>
                  </a:hlinkClick>
                </a:rPr>
                <a:t>📖</a:t>
              </a:r>
              <a:r>
                <a:rPr b="1" lang="en" sz="1100">
                  <a:solidFill>
                    <a:srgbClr val="0369A1"/>
                  </a:solidFill>
                  <a:uFill>
                    <a:noFill/>
                  </a:uFill>
                  <a:latin typeface="Helvetica Neue"/>
                  <a:ea typeface="Helvetica Neue"/>
                  <a:cs typeface="Helvetica Neue"/>
                  <a:sym typeface="Helvetica Neue"/>
                  <a:hlinkClick r:id="rId4">
                    <a:extLst>
                      <a:ext uri="{A12FA001-AC4F-418D-AE19-62706E023703}">
                        <ahyp:hlinkClr val="tx"/>
                      </a:ext>
                    </a:extLst>
                  </a:hlinkClick>
                </a:rPr>
                <a:t> SP Playbook </a:t>
              </a:r>
              <a:r>
                <a:rPr b="1" lang="en" sz="1100">
                  <a:solidFill>
                    <a:srgbClr val="0369A1"/>
                  </a:solidFill>
                  <a:uFill>
                    <a:noFill/>
                  </a:uFill>
                  <a:latin typeface="Helvetica Neue"/>
                  <a:ea typeface="Helvetica Neue"/>
                  <a:cs typeface="Helvetica Neue"/>
                  <a:sym typeface="Helvetica Neue"/>
                  <a:hlinkClick r:id="rId5">
                    <a:extLst>
                      <a:ext uri="{A12FA001-AC4F-418D-AE19-62706E023703}">
                        <ahyp:hlinkClr val="tx"/>
                      </a:ext>
                    </a:extLst>
                  </a:hlinkClick>
                </a:rPr>
                <a:t>on AI</a:t>
              </a:r>
              <a:endParaRPr b="1" sz="1100">
                <a:latin typeface="Helvetica Neue"/>
                <a:ea typeface="Helvetica Neue"/>
                <a:cs typeface="Helvetica Neue"/>
                <a:sym typeface="Helvetica Neue"/>
              </a:endParaRPr>
            </a:p>
          </p:txBody>
        </p:sp>
      </p:grpSp>
      <p:grpSp>
        <p:nvGrpSpPr>
          <p:cNvPr id="830" name="Google Shape;830;p110"/>
          <p:cNvGrpSpPr/>
          <p:nvPr/>
        </p:nvGrpSpPr>
        <p:grpSpPr>
          <a:xfrm>
            <a:off x="304800" y="1428750"/>
            <a:ext cx="4762500" cy="1666800"/>
            <a:chOff x="0" y="0"/>
            <a:chExt cx="4762500" cy="1666800"/>
          </a:xfrm>
        </p:grpSpPr>
        <p:sp>
          <p:nvSpPr>
            <p:cNvPr id="831" name="Google Shape;831;p110"/>
            <p:cNvSpPr/>
            <p:nvPr/>
          </p:nvSpPr>
          <p:spPr>
            <a:xfrm>
              <a:off x="0" y="0"/>
              <a:ext cx="4762500" cy="1666800"/>
            </a:xfrm>
            <a:prstGeom prst="roundRect">
              <a:avLst>
                <a:gd fmla="val 457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2" name="Google Shape;832;p110"/>
            <p:cNvSpPr txBox="1"/>
            <p:nvPr/>
          </p:nvSpPr>
          <p:spPr>
            <a:xfrm>
              <a:off x="152400" y="114300"/>
              <a:ext cx="4457700" cy="14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F172A"/>
                  </a:solidFill>
                  <a:latin typeface="Helvetica Neue"/>
                  <a:ea typeface="Helvetica Neue"/>
                  <a:cs typeface="Helvetica Neue"/>
                  <a:sym typeface="Helvetica Neue"/>
                </a:rPr>
                <a:t>SP Innovation</a:t>
              </a:r>
              <a:endParaRPr b="1" sz="1400">
                <a:solidFill>
                  <a:srgbClr val="0F172A"/>
                </a:solidFill>
                <a:latin typeface="Helvetica Neue"/>
                <a:ea typeface="Helvetica Neue"/>
                <a:cs typeface="Helvetica Neue"/>
                <a:sym typeface="Helvetica Neue"/>
              </a:endParaRPr>
            </a:p>
            <a:p>
              <a:pPr indent="-298450" lvl="0" marL="457200" rtl="0" algn="l">
                <a:spcBef>
                  <a:spcPts val="600"/>
                </a:spcBef>
                <a:spcAft>
                  <a:spcPts val="0"/>
                </a:spcAft>
                <a:buClr>
                  <a:srgbClr val="334155"/>
                </a:buClr>
                <a:buSzPts val="1100"/>
                <a:buFont typeface="Helvetica Neue"/>
                <a:buChar char="●"/>
              </a:pPr>
              <a:r>
                <a:rPr b="0" lang="en" sz="1100">
                  <a:solidFill>
                    <a:srgbClr val="0F172A"/>
                  </a:solidFill>
                  <a:latin typeface="Helvetica Neue"/>
                  <a:ea typeface="Helvetica Neue"/>
                  <a:cs typeface="Helvetica Neue"/>
                  <a:sym typeface="Helvetica Neue"/>
                </a:rPr>
                <a:t>Build yourself!</a:t>
              </a:r>
              <a:r>
                <a:rPr lang="en" sz="1100">
                  <a:solidFill>
                    <a:srgbClr val="334155"/>
                  </a:solidFill>
                  <a:latin typeface="Helvetica Neue"/>
                  <a:ea typeface="Helvetica Neue"/>
                  <a:cs typeface="Helvetica Neue"/>
                  <a:sym typeface="Helvetica Neue"/>
                </a:rPr>
                <a:t> Get started on your AI ideas.</a:t>
              </a:r>
              <a:endParaRPr sz="1100">
                <a:solidFill>
                  <a:srgbClr val="334155"/>
                </a:solidFill>
                <a:latin typeface="Helvetica Neue"/>
                <a:ea typeface="Helvetica Neue"/>
                <a:cs typeface="Helvetica Neue"/>
                <a:sym typeface="Helvetica Neue"/>
              </a:endParaRPr>
            </a:p>
            <a:p>
              <a:pPr indent="-298450" lvl="0" marL="457200" rtl="0" algn="l">
                <a:spcBef>
                  <a:spcPts val="375"/>
                </a:spcBef>
                <a:spcAft>
                  <a:spcPts val="0"/>
                </a:spcAft>
                <a:buClr>
                  <a:srgbClr val="334155"/>
                </a:buClr>
                <a:buSzPts val="1100"/>
                <a:buFont typeface="Helvetica Neue"/>
                <a:buChar char="●"/>
              </a:pPr>
              <a:r>
                <a:rPr b="0" lang="en" sz="1100">
                  <a:solidFill>
                    <a:srgbClr val="0F172A"/>
                  </a:solidFill>
                  <a:latin typeface="Helvetica Neue"/>
                  <a:ea typeface="Helvetica Neue"/>
                  <a:cs typeface="Helvetica Neue"/>
                  <a:sym typeface="Helvetica Neue"/>
                </a:rPr>
                <a:t>Need brainstorming?</a:t>
              </a:r>
              <a:r>
                <a:rPr lang="en" sz="1100">
                  <a:solidFill>
                    <a:srgbClr val="334155"/>
                  </a:solidFill>
                  <a:latin typeface="Helvetica Neue"/>
                  <a:ea typeface="Helvetica Neue"/>
                  <a:cs typeface="Helvetica Neue"/>
                  <a:sym typeface="Helvetica Neue"/>
                </a:rPr>
                <a:t> Contact </a:t>
              </a:r>
              <a:r>
                <a:rPr b="0" lang="en" sz="1100">
                  <a:solidFill>
                    <a:srgbClr val="0284C7"/>
                  </a:solidFill>
                  <a:latin typeface="Helvetica Neue"/>
                  <a:ea typeface="Helvetica Neue"/>
                  <a:cs typeface="Helvetica Neue"/>
                  <a:sym typeface="Helvetica Neue"/>
                </a:rPr>
                <a:t>Jonathan Bryan</a:t>
              </a:r>
              <a:endParaRPr sz="1100">
                <a:solidFill>
                  <a:srgbClr val="334155"/>
                </a:solidFill>
                <a:latin typeface="Helvetica Neue"/>
                <a:ea typeface="Helvetica Neue"/>
                <a:cs typeface="Helvetica Neue"/>
                <a:sym typeface="Helvetica Neue"/>
              </a:endParaRPr>
            </a:p>
            <a:p>
              <a:pPr indent="-298450" lvl="0" marL="457200" rtl="0" algn="l">
                <a:spcBef>
                  <a:spcPts val="375"/>
                </a:spcBef>
                <a:spcAft>
                  <a:spcPts val="0"/>
                </a:spcAft>
                <a:buClr>
                  <a:srgbClr val="334155"/>
                </a:buClr>
                <a:buSzPts val="1100"/>
                <a:buFont typeface="Helvetica Neue"/>
                <a:buChar char="●"/>
              </a:pPr>
              <a:r>
                <a:rPr b="0" lang="en" sz="1100">
                  <a:solidFill>
                    <a:srgbClr val="0F172A"/>
                  </a:solidFill>
                  <a:latin typeface="Helvetica Neue"/>
                  <a:ea typeface="Helvetica Neue"/>
                  <a:cs typeface="Helvetica Neue"/>
                  <a:sym typeface="Helvetica Neue"/>
                </a:rPr>
                <a:t>Want to share or test?</a:t>
              </a:r>
              <a:r>
                <a:rPr lang="en" sz="1100">
                  <a:solidFill>
                    <a:srgbClr val="334155"/>
                  </a:solidFill>
                  <a:latin typeface="Helvetica Neue"/>
                  <a:ea typeface="Helvetica Neue"/>
                  <a:cs typeface="Helvetica Neue"/>
                  <a:sym typeface="Helvetica Neue"/>
                </a:rPr>
                <a:t> Reach out to the </a:t>
              </a:r>
              <a:r>
                <a:rPr b="0" lang="en" sz="1100">
                  <a:solidFill>
                    <a:srgbClr val="0284C7"/>
                  </a:solidFill>
                  <a:latin typeface="Helvetica Neue"/>
                  <a:ea typeface="Helvetica Neue"/>
                  <a:cs typeface="Helvetica Neue"/>
                  <a:sym typeface="Helvetica Neue"/>
                </a:rPr>
                <a:t>SP Incubator</a:t>
              </a:r>
              <a:endParaRPr sz="1100">
                <a:solidFill>
                  <a:srgbClr val="334155"/>
                </a:solidFill>
                <a:latin typeface="Helvetica Neue"/>
                <a:ea typeface="Helvetica Neue"/>
                <a:cs typeface="Helvetica Neue"/>
                <a:sym typeface="Helvetica Neue"/>
              </a:endParaRPr>
            </a:p>
            <a:p>
              <a:pPr indent="-298450" lvl="0" marL="457200" rtl="0" algn="l">
                <a:spcBef>
                  <a:spcPts val="375"/>
                </a:spcBef>
                <a:spcAft>
                  <a:spcPts val="0"/>
                </a:spcAft>
                <a:buClr>
                  <a:srgbClr val="334155"/>
                </a:buClr>
                <a:buSzPts val="1100"/>
                <a:buFont typeface="Helvetica Neue"/>
                <a:buChar char="●"/>
              </a:pPr>
              <a:r>
                <a:rPr b="0" lang="en" sz="1100">
                  <a:solidFill>
                    <a:srgbClr val="0F172A"/>
                  </a:solidFill>
                  <a:latin typeface="Helvetica Neue"/>
                  <a:ea typeface="Helvetica Neue"/>
                  <a:cs typeface="Helvetica Neue"/>
                  <a:sym typeface="Helvetica Neue"/>
                </a:rPr>
                <a:t>Need more investment?</a:t>
              </a:r>
              <a:r>
                <a:rPr lang="en" sz="1100">
                  <a:solidFill>
                    <a:srgbClr val="334155"/>
                  </a:solidFill>
                  <a:latin typeface="Helvetica Neue"/>
                  <a:ea typeface="Helvetica Neue"/>
                  <a:cs typeface="Helvetica Neue"/>
                  <a:sym typeface="Helvetica Neue"/>
                </a:rPr>
                <a:t> Align with your </a:t>
              </a:r>
              <a:r>
                <a:rPr b="0" lang="en" sz="1100">
                  <a:solidFill>
                    <a:srgbClr val="334155"/>
                  </a:solidFill>
                  <a:latin typeface="Helvetica Neue"/>
                  <a:ea typeface="Helvetica Neue"/>
                  <a:cs typeface="Helvetica Neue"/>
                  <a:sym typeface="Helvetica Neue"/>
                </a:rPr>
                <a:t>Manager</a:t>
              </a:r>
              <a:endParaRPr sz="1100">
                <a:solidFill>
                  <a:srgbClr val="334155"/>
                </a:solidFill>
                <a:latin typeface="Helvetica Neue"/>
                <a:ea typeface="Helvetica Neue"/>
                <a:cs typeface="Helvetica Neue"/>
                <a:sym typeface="Helvetica Neue"/>
              </a:endParaRPr>
            </a:p>
          </p:txBody>
        </p:sp>
      </p:grpSp>
      <p:grpSp>
        <p:nvGrpSpPr>
          <p:cNvPr id="833" name="Google Shape;833;p110"/>
          <p:cNvGrpSpPr/>
          <p:nvPr/>
        </p:nvGrpSpPr>
        <p:grpSpPr>
          <a:xfrm>
            <a:off x="304800" y="3238500"/>
            <a:ext cx="4762500" cy="1285800"/>
            <a:chOff x="0" y="0"/>
            <a:chExt cx="4762500" cy="1285800"/>
          </a:xfrm>
        </p:grpSpPr>
        <p:sp>
          <p:nvSpPr>
            <p:cNvPr id="834" name="Google Shape;834;p110"/>
            <p:cNvSpPr/>
            <p:nvPr/>
          </p:nvSpPr>
          <p:spPr>
            <a:xfrm>
              <a:off x="0" y="0"/>
              <a:ext cx="4762500" cy="1285800"/>
            </a:xfrm>
            <a:prstGeom prst="roundRect">
              <a:avLst>
                <a:gd fmla="val 592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5" name="Google Shape;835;p110"/>
            <p:cNvSpPr txBox="1"/>
            <p:nvPr/>
          </p:nvSpPr>
          <p:spPr>
            <a:xfrm>
              <a:off x="152400" y="114300"/>
              <a:ext cx="4457700" cy="10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F172A"/>
                  </a:solidFill>
                  <a:latin typeface="Helvetica Neue"/>
                  <a:ea typeface="Helvetica Neue"/>
                  <a:cs typeface="Helvetica Neue"/>
                  <a:sym typeface="Helvetica Neue"/>
                </a:rPr>
                <a:t>SP Incubator</a:t>
              </a:r>
              <a:endParaRPr b="1" sz="1400">
                <a:solidFill>
                  <a:srgbClr val="0F172A"/>
                </a:solidFill>
                <a:latin typeface="Helvetica Neue"/>
                <a:ea typeface="Helvetica Neue"/>
                <a:cs typeface="Helvetica Neue"/>
                <a:sym typeface="Helvetica Neue"/>
              </a:endParaRPr>
            </a:p>
            <a:p>
              <a:pPr indent="-298450" lvl="0" marL="457200" rtl="0" algn="l">
                <a:spcBef>
                  <a:spcPts val="600"/>
                </a:spcBef>
                <a:spcAft>
                  <a:spcPts val="0"/>
                </a:spcAft>
                <a:buClr>
                  <a:srgbClr val="334155"/>
                </a:buClr>
                <a:buSzPts val="1100"/>
                <a:buFont typeface="Helvetica Neue"/>
                <a:buChar char="●"/>
              </a:pPr>
              <a:r>
                <a:rPr b="0" lang="en" sz="1100">
                  <a:solidFill>
                    <a:srgbClr val="0F172A"/>
                  </a:solidFill>
                  <a:latin typeface="Helvetica Neue"/>
                  <a:ea typeface="Helvetica Neue"/>
                  <a:cs typeface="Helvetica Neue"/>
                  <a:sym typeface="Helvetica Neue"/>
                </a:rPr>
                <a:t>Team:</a:t>
              </a:r>
              <a:r>
                <a:rPr lang="en" sz="1100">
                  <a:solidFill>
                    <a:srgbClr val="334155"/>
                  </a:solidFill>
                  <a:latin typeface="Helvetica Neue"/>
                  <a:ea typeface="Helvetica Neue"/>
                  <a:cs typeface="Helvetica Neue"/>
                  <a:sym typeface="Helvetica Neue"/>
                </a:rPr>
                <a:t> Daniel, Jonathan, Mike, Xilin</a:t>
              </a:r>
              <a:endParaRPr sz="1100">
                <a:solidFill>
                  <a:srgbClr val="334155"/>
                </a:solidFill>
                <a:latin typeface="Helvetica Neue"/>
                <a:ea typeface="Helvetica Neue"/>
                <a:cs typeface="Helvetica Neue"/>
                <a:sym typeface="Helvetica Neue"/>
              </a:endParaRPr>
            </a:p>
            <a:p>
              <a:pPr indent="-298450" lvl="0" marL="457200" rtl="0" algn="l">
                <a:spcBef>
                  <a:spcPts val="375"/>
                </a:spcBef>
                <a:spcAft>
                  <a:spcPts val="0"/>
                </a:spcAft>
                <a:buClr>
                  <a:srgbClr val="334155"/>
                </a:buClr>
                <a:buSzPts val="1100"/>
                <a:buFont typeface="Helvetica Neue"/>
                <a:buChar char="●"/>
              </a:pPr>
              <a:r>
                <a:rPr b="0" lang="en" sz="1100">
                  <a:solidFill>
                    <a:srgbClr val="0F172A"/>
                  </a:solidFill>
                  <a:latin typeface="Helvetica Neue"/>
                  <a:ea typeface="Helvetica Neue"/>
                  <a:cs typeface="Helvetica Neue"/>
                  <a:sym typeface="Helvetica Neue"/>
                </a:rPr>
                <a:t>Action:</a:t>
              </a:r>
              <a:r>
                <a:rPr lang="en" sz="1100">
                  <a:solidFill>
                    <a:srgbClr val="334155"/>
                  </a:solidFill>
                  <a:latin typeface="Helvetica Neue"/>
                  <a:ea typeface="Helvetica Neue"/>
                  <a:cs typeface="Helvetica Neue"/>
                  <a:sym typeface="Helvetica Neue"/>
                </a:rPr>
                <a:t> Tag or DM any of them!</a:t>
              </a:r>
              <a:endParaRPr sz="1100">
                <a:solidFill>
                  <a:srgbClr val="334155"/>
                </a:solidFill>
                <a:latin typeface="Helvetica Neue"/>
                <a:ea typeface="Helvetica Neue"/>
                <a:cs typeface="Helvetica Neue"/>
                <a:sym typeface="Helvetica Neue"/>
              </a:endParaRPr>
            </a:p>
            <a:p>
              <a:pPr indent="-298450" lvl="0" marL="457200" rtl="0" algn="l">
                <a:spcBef>
                  <a:spcPts val="375"/>
                </a:spcBef>
                <a:spcAft>
                  <a:spcPts val="0"/>
                </a:spcAft>
                <a:buClr>
                  <a:srgbClr val="334155"/>
                </a:buClr>
                <a:buSzPts val="1100"/>
                <a:buFont typeface="Helvetica Neue"/>
                <a:buChar char="●"/>
              </a:pPr>
              <a:r>
                <a:rPr b="0" lang="en" sz="1100">
                  <a:solidFill>
                    <a:srgbClr val="0F172A"/>
                  </a:solidFill>
                  <a:latin typeface="Helvetica Neue"/>
                  <a:ea typeface="Helvetica Neue"/>
                  <a:cs typeface="Helvetica Neue"/>
                  <a:sym typeface="Helvetica Neue"/>
                </a:rPr>
                <a:t>Process:</a:t>
              </a:r>
              <a:r>
                <a:rPr lang="en" sz="1100">
                  <a:solidFill>
                    <a:srgbClr val="334155"/>
                  </a:solidFill>
                  <a:latin typeface="Helvetica Neue"/>
                  <a:ea typeface="Helvetica Neue"/>
                  <a:cs typeface="Helvetica Neue"/>
                  <a:sym typeface="Helvetica Neue"/>
                </a:rPr>
                <a:t> SP Incubator sends validated ideas to AE</a:t>
              </a:r>
              <a:endParaRPr sz="1100">
                <a:solidFill>
                  <a:srgbClr val="334155"/>
                </a:solidFill>
                <a:latin typeface="Helvetica Neue"/>
                <a:ea typeface="Helvetica Neue"/>
                <a:cs typeface="Helvetica Neue"/>
                <a:sym typeface="Helvetica Neue"/>
              </a:endParaRPr>
            </a:p>
          </p:txBody>
        </p:sp>
      </p:grpSp>
      <p:grpSp>
        <p:nvGrpSpPr>
          <p:cNvPr id="836" name="Google Shape;836;p110"/>
          <p:cNvGrpSpPr/>
          <p:nvPr/>
        </p:nvGrpSpPr>
        <p:grpSpPr>
          <a:xfrm>
            <a:off x="5334000" y="1000125"/>
            <a:ext cx="3505200" cy="3524400"/>
            <a:chOff x="0" y="0"/>
            <a:chExt cx="3505200" cy="3524400"/>
          </a:xfrm>
        </p:grpSpPr>
        <p:sp>
          <p:nvSpPr>
            <p:cNvPr id="837" name="Google Shape;837;p110"/>
            <p:cNvSpPr/>
            <p:nvPr/>
          </p:nvSpPr>
          <p:spPr>
            <a:xfrm>
              <a:off x="0" y="0"/>
              <a:ext cx="3505200" cy="3524400"/>
            </a:xfrm>
            <a:prstGeom prst="roundRect">
              <a:avLst>
                <a:gd fmla="val 2173" name="adj"/>
              </a:avLst>
            </a:prstGeom>
            <a:solidFill>
              <a:srgbClr val="18181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38" name="Google Shape;838;p110"/>
            <p:cNvPicPr preferRelativeResize="0"/>
            <p:nvPr/>
          </p:nvPicPr>
          <p:blipFill rotWithShape="1">
            <a:blip r:embed="rId6">
              <a:alphaModFix/>
            </a:blip>
            <a:srcRect b="0" l="1105" r="1115" t="0"/>
            <a:stretch/>
          </p:blipFill>
          <p:spPr>
            <a:xfrm>
              <a:off x="95250" y="285750"/>
              <a:ext cx="3314700" cy="2952900"/>
            </a:xfrm>
            <a:prstGeom prst="roundRect">
              <a:avLst>
                <a:gd fmla="val 1290" name="adj"/>
              </a:avLst>
            </a:prstGeom>
            <a:noFill/>
            <a:ln>
              <a:noFill/>
            </a:ln>
          </p:spPr>
        </p:pic>
        <p:sp>
          <p:nvSpPr>
            <p:cNvPr id="839" name="Google Shape;839;p110"/>
            <p:cNvSpPr txBox="1"/>
            <p:nvPr/>
          </p:nvSpPr>
          <p:spPr>
            <a:xfrm>
              <a:off x="114300" y="76200"/>
              <a:ext cx="32766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A1A1AA"/>
                  </a:solidFill>
                  <a:latin typeface="Helvetica Neue"/>
                  <a:ea typeface="Helvetica Neue"/>
                  <a:cs typeface="Helvetica Neue"/>
                  <a:sym typeface="Helvetica Neue"/>
                </a:rPr>
                <a:t>AI Idea Decision Workflow</a:t>
              </a:r>
              <a:endParaRPr b="1" sz="850">
                <a:solidFill>
                  <a:srgbClr val="A1A1AA"/>
                </a:solidFill>
                <a:latin typeface="Helvetica Neue"/>
                <a:ea typeface="Helvetica Neue"/>
                <a:cs typeface="Helvetica Neue"/>
                <a:sym typeface="Helvetica Neue"/>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11"/>
          <p:cNvSpPr txBox="1"/>
          <p:nvPr>
            <p:ph type="title"/>
          </p:nvPr>
        </p:nvSpPr>
        <p:spPr>
          <a:xfrm>
            <a:off x="304800" y="381000"/>
            <a:ext cx="85344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0F172A"/>
                </a:solidFill>
                <a:latin typeface="Helvetica Neue"/>
                <a:ea typeface="Helvetica Neue"/>
                <a:cs typeface="Helvetica Neue"/>
                <a:sym typeface="Helvetica Neue"/>
              </a:rPr>
              <a:t>General &amp; Team Updates</a:t>
            </a:r>
            <a:endParaRPr b="1" sz="2400">
              <a:solidFill>
                <a:srgbClr val="0F172A"/>
              </a:solidFill>
              <a:latin typeface="Helvetica Neue"/>
              <a:ea typeface="Helvetica Neue"/>
              <a:cs typeface="Helvetica Neue"/>
              <a:sym typeface="Helvetica Neue"/>
            </a:endParaRPr>
          </a:p>
        </p:txBody>
      </p:sp>
      <p:grpSp>
        <p:nvGrpSpPr>
          <p:cNvPr id="845" name="Google Shape;845;p111"/>
          <p:cNvGrpSpPr/>
          <p:nvPr/>
        </p:nvGrpSpPr>
        <p:grpSpPr>
          <a:xfrm>
            <a:off x="304800" y="1143000"/>
            <a:ext cx="3367621" cy="3429000"/>
            <a:chOff x="0" y="0"/>
            <a:chExt cx="4000500" cy="3429000"/>
          </a:xfrm>
        </p:grpSpPr>
        <p:sp>
          <p:nvSpPr>
            <p:cNvPr id="846" name="Google Shape;846;p111"/>
            <p:cNvSpPr/>
            <p:nvPr/>
          </p:nvSpPr>
          <p:spPr>
            <a:xfrm>
              <a:off x="0" y="0"/>
              <a:ext cx="4000500" cy="3429000"/>
            </a:xfrm>
            <a:prstGeom prst="roundRect">
              <a:avLst>
                <a:gd fmla="val 222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7" name="Google Shape;847;p111"/>
            <p:cNvSpPr txBox="1"/>
            <p:nvPr/>
          </p:nvSpPr>
          <p:spPr>
            <a:xfrm>
              <a:off x="228600" y="228600"/>
              <a:ext cx="35433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F172A"/>
                  </a:solidFill>
                  <a:latin typeface="Helvetica Neue"/>
                  <a:ea typeface="Helvetica Neue"/>
                  <a:cs typeface="Helvetica Neue"/>
                  <a:sym typeface="Helvetica Neue"/>
                </a:rPr>
                <a:t>PAIRS Resources &amp; Training</a:t>
              </a:r>
              <a:endParaRPr b="1" sz="1600">
                <a:solidFill>
                  <a:srgbClr val="0F172A"/>
                </a:solidFill>
                <a:latin typeface="Helvetica Neue"/>
                <a:ea typeface="Helvetica Neue"/>
                <a:cs typeface="Helvetica Neue"/>
                <a:sym typeface="Helvetica Neue"/>
              </a:endParaRPr>
            </a:p>
            <a:p>
              <a:pPr indent="0" lvl="0" marL="0" rtl="0" algn="l">
                <a:spcBef>
                  <a:spcPts val="1500"/>
                </a:spcBef>
                <a:spcAft>
                  <a:spcPts val="0"/>
                </a:spcAft>
                <a:buNone/>
              </a:pPr>
              <a:r>
                <a:rPr b="0" lang="en" sz="1100">
                  <a:solidFill>
                    <a:srgbClr val="64748B"/>
                  </a:solidFill>
                  <a:latin typeface="Helvetica Neue"/>
                  <a:ea typeface="Helvetica Neue"/>
                  <a:cs typeface="Helvetica Neue"/>
                  <a:sym typeface="Helvetica Neue"/>
                </a:rPr>
                <a:t>Access training materials and future roadmaps:</a:t>
              </a:r>
              <a:endParaRPr b="0" sz="1100">
                <a:solidFill>
                  <a:srgbClr val="64748B"/>
                </a:solidFill>
                <a:latin typeface="Helvetica Neue"/>
                <a:ea typeface="Helvetica Neue"/>
                <a:cs typeface="Helvetica Neue"/>
                <a:sym typeface="Helvetica Neue"/>
              </a:endParaRPr>
            </a:p>
            <a:p>
              <a:pPr indent="0" lvl="0" marL="0" rtl="0" algn="l">
                <a:spcBef>
                  <a:spcPts val="900"/>
                </a:spcBef>
                <a:spcAft>
                  <a:spcPts val="0"/>
                </a:spcAft>
                <a:buNone/>
              </a:pPr>
              <a:r>
                <a:rPr b="1" lang="en" sz="1100">
                  <a:solidFill>
                    <a:srgbClr val="0369A1"/>
                  </a:solidFill>
                  <a:highlight>
                    <a:srgbClr val="E0F2FE"/>
                  </a:highlight>
                  <a:uFill>
                    <a:noFill/>
                  </a:uFill>
                  <a:latin typeface="Helvetica Neue"/>
                  <a:ea typeface="Helvetica Neue"/>
                  <a:cs typeface="Helvetica Neue"/>
                  <a:sym typeface="Helvetica Neue"/>
                  <a:hlinkClick r:id="rId3">
                    <a:extLst>
                      <a:ext uri="{A12FA001-AC4F-418D-AE19-62706E023703}">
                        <ahyp:hlinkClr val="tx"/>
                      </a:ext>
                    </a:extLst>
                  </a:hlinkClick>
                </a:rPr>
                <a:t>🎓 Resources for PAIRS</a:t>
              </a:r>
              <a:endParaRPr>
                <a:latin typeface="Helvetica Neue"/>
                <a:ea typeface="Helvetica Neue"/>
                <a:cs typeface="Helvetica Neue"/>
                <a:sym typeface="Helvetica Neue"/>
              </a:endParaRPr>
            </a:p>
            <a:p>
              <a:pPr indent="0" lvl="0" marL="0" rtl="0" algn="l">
                <a:spcBef>
                  <a:spcPts val="1200"/>
                </a:spcBef>
                <a:spcAft>
                  <a:spcPts val="0"/>
                </a:spcAft>
                <a:buNone/>
              </a:pPr>
              <a:r>
                <a:rPr b="1" lang="en" sz="1100">
                  <a:solidFill>
                    <a:srgbClr val="166534"/>
                  </a:solidFill>
                  <a:highlight>
                    <a:srgbClr val="F0FDF4"/>
                  </a:highlight>
                  <a:uFill>
                    <a:noFill/>
                  </a:uFill>
                  <a:latin typeface="Helvetica Neue"/>
                  <a:ea typeface="Helvetica Neue"/>
                  <a:cs typeface="Helvetica Neue"/>
                  <a:sym typeface="Helvetica Neue"/>
                  <a:hlinkClick r:id="rId4">
                    <a:extLst>
                      <a:ext uri="{A12FA001-AC4F-418D-AE19-62706E023703}">
                        <ahyp:hlinkClr val="tx"/>
                      </a:ext>
                    </a:extLst>
                  </a:hlinkClick>
                </a:rPr>
                <a:t>🗺️ What’s next for PAIRS</a:t>
              </a:r>
              <a:endParaRPr>
                <a:latin typeface="Helvetica Neue"/>
                <a:ea typeface="Helvetica Neue"/>
                <a:cs typeface="Helvetica Neue"/>
                <a:sym typeface="Helvetica Neue"/>
              </a:endParaRPr>
            </a:p>
          </p:txBody>
        </p:sp>
      </p:grpSp>
      <p:grpSp>
        <p:nvGrpSpPr>
          <p:cNvPr id="848" name="Google Shape;848;p111"/>
          <p:cNvGrpSpPr/>
          <p:nvPr/>
        </p:nvGrpSpPr>
        <p:grpSpPr>
          <a:xfrm>
            <a:off x="3929350" y="1143000"/>
            <a:ext cx="4909764" cy="3429000"/>
            <a:chOff x="0" y="0"/>
            <a:chExt cx="4305300" cy="3429000"/>
          </a:xfrm>
        </p:grpSpPr>
        <p:sp>
          <p:nvSpPr>
            <p:cNvPr id="849" name="Google Shape;849;p111"/>
            <p:cNvSpPr/>
            <p:nvPr/>
          </p:nvSpPr>
          <p:spPr>
            <a:xfrm>
              <a:off x="0" y="0"/>
              <a:ext cx="4305300" cy="3429000"/>
            </a:xfrm>
            <a:prstGeom prst="roundRect">
              <a:avLst>
                <a:gd fmla="val 222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0" name="Google Shape;850;p111"/>
            <p:cNvSpPr txBox="1"/>
            <p:nvPr/>
          </p:nvSpPr>
          <p:spPr>
            <a:xfrm>
              <a:off x="228600" y="228600"/>
              <a:ext cx="38481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F172A"/>
                  </a:solidFill>
                  <a:latin typeface="Helvetica Neue"/>
                  <a:ea typeface="Helvetica Neue"/>
                  <a:cs typeface="Helvetica Neue"/>
                  <a:sym typeface="Helvetica Neue"/>
                </a:rPr>
                <a:t>What’s Next &amp; Active Initiatives</a:t>
              </a:r>
              <a:endParaRPr b="1" sz="1600">
                <a:solidFill>
                  <a:srgbClr val="0F172A"/>
                </a:solidFill>
                <a:latin typeface="Helvetica Neue"/>
                <a:ea typeface="Helvetica Neue"/>
                <a:cs typeface="Helvetica Neue"/>
                <a:sym typeface="Helvetica Neue"/>
              </a:endParaRPr>
            </a:p>
            <a:p>
              <a:pPr indent="-301625" lvl="0" marL="457200" rtl="0" algn="l">
                <a:spcBef>
                  <a:spcPts val="1200"/>
                </a:spcBef>
                <a:spcAft>
                  <a:spcPts val="0"/>
                </a:spcAft>
                <a:buClr>
                  <a:srgbClr val="334155"/>
                </a:buClr>
                <a:buSzPts val="1150"/>
                <a:buFont typeface="Helvetica Neue"/>
                <a:buChar char="●"/>
              </a:pPr>
              <a:r>
                <a:rPr b="1" lang="en" sz="1150">
                  <a:solidFill>
                    <a:srgbClr val="0F172A"/>
                  </a:solidFill>
                  <a:latin typeface="Helvetica Neue"/>
                  <a:ea typeface="Helvetica Neue"/>
                  <a:cs typeface="Helvetica Neue"/>
                  <a:sym typeface="Helvetica Neue"/>
                </a:rPr>
                <a:t>Code readability:</a:t>
              </a:r>
              <a:r>
                <a:rPr lang="en" sz="1150">
                  <a:solidFill>
                    <a:srgbClr val="334155"/>
                  </a:solidFill>
                  <a:latin typeface="Helvetica Neue"/>
                  <a:ea typeface="Helvetica Neue"/>
                  <a:cs typeface="Helvetica Neue"/>
                  <a:sym typeface="Helvetica Neue"/>
                </a:rPr>
                <a:t> Led by SP Incubator</a:t>
              </a:r>
              <a:endParaRPr sz="1150">
                <a:solidFill>
                  <a:srgbClr val="334155"/>
                </a:solidFill>
                <a:latin typeface="Helvetica Neue"/>
                <a:ea typeface="Helvetica Neue"/>
                <a:cs typeface="Helvetica Neue"/>
                <a:sym typeface="Helvetica Neue"/>
              </a:endParaRPr>
            </a:p>
            <a:p>
              <a:pPr indent="-301625" lvl="0" marL="457200" rtl="0" algn="l">
                <a:spcBef>
                  <a:spcPts val="750"/>
                </a:spcBef>
                <a:spcAft>
                  <a:spcPts val="0"/>
                </a:spcAft>
                <a:buClr>
                  <a:srgbClr val="334155"/>
                </a:buClr>
                <a:buSzPts val="1150"/>
                <a:buFont typeface="Helvetica Neue"/>
                <a:buChar char="●"/>
              </a:pPr>
              <a:r>
                <a:rPr b="1" lang="en" sz="1150">
                  <a:solidFill>
                    <a:srgbClr val="0F172A"/>
                  </a:solidFill>
                  <a:latin typeface="Helvetica Neue"/>
                  <a:ea typeface="Helvetica Neue"/>
                  <a:cs typeface="Helvetica Neue"/>
                  <a:sym typeface="Helvetica Neue"/>
                </a:rPr>
                <a:t>Evaluation framework:</a:t>
              </a:r>
              <a:r>
                <a:rPr lang="en" sz="1150">
                  <a:solidFill>
                    <a:srgbClr val="334155"/>
                  </a:solidFill>
                  <a:latin typeface="Helvetica Neue"/>
                  <a:ea typeface="Helvetica Neue"/>
                  <a:cs typeface="Helvetica Neue"/>
                  <a:sym typeface="Helvetica Neue"/>
                </a:rPr>
                <a:t> Makes updating PAIRS faster</a:t>
              </a:r>
              <a:endParaRPr sz="1150">
                <a:solidFill>
                  <a:srgbClr val="334155"/>
                </a:solidFill>
                <a:latin typeface="Helvetica Neue"/>
                <a:ea typeface="Helvetica Neue"/>
                <a:cs typeface="Helvetica Neue"/>
                <a:sym typeface="Helvetica Neue"/>
              </a:endParaRPr>
            </a:p>
            <a:p>
              <a:pPr indent="-301625" lvl="0" marL="457200" rtl="0" algn="l">
                <a:spcBef>
                  <a:spcPts val="750"/>
                </a:spcBef>
                <a:spcAft>
                  <a:spcPts val="0"/>
                </a:spcAft>
                <a:buClr>
                  <a:srgbClr val="334155"/>
                </a:buClr>
                <a:buSzPts val="1150"/>
                <a:buFont typeface="Helvetica Neue"/>
                <a:buChar char="●"/>
              </a:pPr>
              <a:r>
                <a:rPr b="1" lang="en" sz="1150">
                  <a:solidFill>
                    <a:srgbClr val="0F172A"/>
                  </a:solidFill>
                  <a:latin typeface="Helvetica Neue"/>
                  <a:ea typeface="Helvetica Neue"/>
                  <a:cs typeface="Helvetica Neue"/>
                  <a:sym typeface="Helvetica Neue"/>
                </a:rPr>
                <a:t>Time out issues:</a:t>
              </a:r>
              <a:r>
                <a:rPr lang="en" sz="1150">
                  <a:solidFill>
                    <a:srgbClr val="334155"/>
                  </a:solidFill>
                  <a:latin typeface="Helvetica Neue"/>
                  <a:ea typeface="Helvetica Neue"/>
                  <a:cs typeface="Helvetica Neue"/>
                  <a:sym typeface="Helvetica Neue"/>
                </a:rPr>
                <a:t> In progress with Platform team</a:t>
              </a:r>
              <a:endParaRPr sz="1150">
                <a:solidFill>
                  <a:srgbClr val="334155"/>
                </a:solidFill>
                <a:latin typeface="Helvetica Neue"/>
                <a:ea typeface="Helvetica Neue"/>
                <a:cs typeface="Helvetica Neue"/>
                <a:sym typeface="Helvetica Neue"/>
              </a:endParaRPr>
            </a:p>
            <a:p>
              <a:pPr indent="-301625" lvl="0" marL="457200" rtl="0" algn="l">
                <a:spcBef>
                  <a:spcPts val="750"/>
                </a:spcBef>
                <a:spcAft>
                  <a:spcPts val="0"/>
                </a:spcAft>
                <a:buClr>
                  <a:srgbClr val="334155"/>
                </a:buClr>
                <a:buSzPts val="1150"/>
                <a:buFont typeface="Helvetica Neue"/>
                <a:buChar char="●"/>
              </a:pPr>
              <a:r>
                <a:rPr b="1" lang="en" sz="1150">
                  <a:solidFill>
                    <a:srgbClr val="0F172A"/>
                  </a:solidFill>
                  <a:latin typeface="Helvetica Neue"/>
                  <a:ea typeface="Helvetica Neue"/>
                  <a:cs typeface="Helvetica Neue"/>
                  <a:sym typeface="Helvetica Neue"/>
                </a:rPr>
                <a:t>Knowledge Center:</a:t>
              </a:r>
              <a:r>
                <a:rPr lang="en" sz="1150">
                  <a:solidFill>
                    <a:srgbClr val="334155"/>
                  </a:solidFill>
                  <a:latin typeface="Helvetica Neue"/>
                  <a:ea typeface="Helvetica Neue"/>
                  <a:cs typeface="Helvetica Neue"/>
                  <a:sym typeface="Helvetica Neue"/>
                </a:rPr>
                <a:t> Larger strategic effort</a:t>
              </a:r>
              <a:endParaRPr sz="1150">
                <a:solidFill>
                  <a:srgbClr val="334155"/>
                </a:solidFill>
                <a:latin typeface="Helvetica Neue"/>
                <a:ea typeface="Helvetica Neue"/>
                <a:cs typeface="Helvetica Neue"/>
                <a:sym typeface="Helvetica Neue"/>
              </a:endParaRPr>
            </a:p>
            <a:p>
              <a:pPr indent="-301625" lvl="0" marL="457200" rtl="0" algn="l">
                <a:spcBef>
                  <a:spcPts val="750"/>
                </a:spcBef>
                <a:spcAft>
                  <a:spcPts val="0"/>
                </a:spcAft>
                <a:buClr>
                  <a:srgbClr val="334155"/>
                </a:buClr>
                <a:buSzPts val="1150"/>
                <a:buFont typeface="Helvetica Neue"/>
                <a:buChar char="●"/>
              </a:pPr>
              <a:r>
                <a:rPr b="1" lang="en" sz="1150">
                  <a:solidFill>
                    <a:srgbClr val="0F172A"/>
                  </a:solidFill>
                  <a:latin typeface="Helvetica Neue"/>
                  <a:ea typeface="Helvetica Neue"/>
                  <a:cs typeface="Helvetica Neue"/>
                  <a:sym typeface="Helvetica Neue"/>
                </a:rPr>
                <a:t>r-b</a:t>
              </a:r>
              <a:r>
                <a:rPr b="1" lang="en" sz="1150">
                  <a:solidFill>
                    <a:srgbClr val="0F172A"/>
                  </a:solidFill>
                  <a:latin typeface="Helvetica Neue"/>
                  <a:ea typeface="Helvetica Neue"/>
                  <a:cs typeface="Helvetica Neue"/>
                  <a:sym typeface="Helvetica Neue"/>
                </a:rPr>
                <a:t>tw friction:</a:t>
              </a:r>
              <a:r>
                <a:rPr lang="en" sz="1150">
                  <a:solidFill>
                    <a:srgbClr val="334155"/>
                  </a:solidFill>
                  <a:latin typeface="Helvetica Neue"/>
                  <a:ea typeface="Helvetica Neue"/>
                  <a:cs typeface="Helvetica Neue"/>
                  <a:sym typeface="Helvetica Neue"/>
                </a:rPr>
                <a:t> Minimizing friction </a:t>
              </a:r>
              <a:endParaRPr sz="1150">
                <a:solidFill>
                  <a:srgbClr val="334155"/>
                </a:solidFill>
                <a:latin typeface="Helvetica Neue"/>
                <a:ea typeface="Helvetica Neue"/>
                <a:cs typeface="Helvetica Neue"/>
                <a:sym typeface="Helvetica Neue"/>
              </a:endParaRPr>
            </a:p>
            <a:p>
              <a:pPr indent="-301625" lvl="0" marL="457200" rtl="0" algn="l">
                <a:spcBef>
                  <a:spcPts val="750"/>
                </a:spcBef>
                <a:spcAft>
                  <a:spcPts val="0"/>
                </a:spcAft>
                <a:buClr>
                  <a:srgbClr val="334155"/>
                </a:buClr>
                <a:buSzPts val="1150"/>
                <a:buFont typeface="Helvetica Neue"/>
                <a:buChar char="●"/>
              </a:pPr>
              <a:r>
                <a:rPr b="1" lang="en" sz="1150">
                  <a:solidFill>
                    <a:srgbClr val="0F172A"/>
                  </a:solidFill>
                  <a:latin typeface="Helvetica Neue"/>
                  <a:ea typeface="Helvetica Neue"/>
                  <a:cs typeface="Helvetica Neue"/>
                  <a:sym typeface="Helvetica Neue"/>
                </a:rPr>
                <a:t>Easier iteration:</a:t>
              </a:r>
              <a:r>
                <a:rPr lang="en" sz="1150">
                  <a:solidFill>
                    <a:srgbClr val="334155"/>
                  </a:solidFill>
                  <a:latin typeface="Helvetica Neue"/>
                  <a:ea typeface="Helvetica Neue"/>
                  <a:cs typeface="Helvetica Neue"/>
                  <a:sym typeface="Helvetica Neue"/>
                </a:rPr>
                <a:t> Exploring options to iterate without the entire PAIRS pipeline</a:t>
              </a:r>
              <a:endParaRPr sz="1150">
                <a:solidFill>
                  <a:srgbClr val="334155"/>
                </a:solidFill>
                <a:latin typeface="Helvetica Neue"/>
                <a:ea typeface="Helvetica Neue"/>
                <a:cs typeface="Helvetica Neue"/>
                <a:sym typeface="Helvetica Neue"/>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4" name="Shape 854"/>
        <p:cNvGrpSpPr/>
        <p:nvPr/>
      </p:nvGrpSpPr>
      <p:grpSpPr>
        <a:xfrm>
          <a:off x="0" y="0"/>
          <a:ext cx="0" cy="0"/>
          <a:chOff x="0" y="0"/>
          <a:chExt cx="0" cy="0"/>
        </a:xfrm>
      </p:grpSpPr>
      <p:sp>
        <p:nvSpPr>
          <p:cNvPr id="855" name="Google Shape;855;p112"/>
          <p:cNvSpPr txBox="1"/>
          <p:nvPr>
            <p:ph type="title"/>
          </p:nvPr>
        </p:nvSpPr>
        <p:spPr>
          <a:xfrm>
            <a:off x="304800" y="381000"/>
            <a:ext cx="85344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0F172A"/>
                </a:solidFill>
                <a:latin typeface="Helvetica Neue"/>
                <a:ea typeface="Helvetica Neue"/>
                <a:cs typeface="Helvetica Neue"/>
                <a:sym typeface="Helvetica Neue"/>
              </a:rPr>
              <a:t>General &amp; Team Updates</a:t>
            </a:r>
            <a:endParaRPr b="1" sz="2400">
              <a:solidFill>
                <a:srgbClr val="0F172A"/>
              </a:solidFill>
              <a:latin typeface="Helvetica Neue"/>
              <a:ea typeface="Helvetica Neue"/>
              <a:cs typeface="Helvetica Neue"/>
              <a:sym typeface="Helvetica Neue"/>
            </a:endParaRPr>
          </a:p>
        </p:txBody>
      </p:sp>
      <p:grpSp>
        <p:nvGrpSpPr>
          <p:cNvPr id="856" name="Google Shape;856;p112"/>
          <p:cNvGrpSpPr/>
          <p:nvPr/>
        </p:nvGrpSpPr>
        <p:grpSpPr>
          <a:xfrm>
            <a:off x="304800" y="1143000"/>
            <a:ext cx="4000500" cy="3429000"/>
            <a:chOff x="0" y="0"/>
            <a:chExt cx="4000500" cy="3429000"/>
          </a:xfrm>
        </p:grpSpPr>
        <p:sp>
          <p:nvSpPr>
            <p:cNvPr id="857" name="Google Shape;857;p112"/>
            <p:cNvSpPr/>
            <p:nvPr/>
          </p:nvSpPr>
          <p:spPr>
            <a:xfrm>
              <a:off x="0" y="0"/>
              <a:ext cx="4000500" cy="3429000"/>
            </a:xfrm>
            <a:prstGeom prst="roundRect">
              <a:avLst>
                <a:gd fmla="val 222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8" name="Google Shape;858;p112"/>
            <p:cNvSpPr txBox="1"/>
            <p:nvPr/>
          </p:nvSpPr>
          <p:spPr>
            <a:xfrm>
              <a:off x="228600" y="228600"/>
              <a:ext cx="35433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F172A"/>
                  </a:solidFill>
                  <a:latin typeface="Helvetica Neue"/>
                  <a:ea typeface="Helvetica Neue"/>
                  <a:cs typeface="Helvetica Neue"/>
                  <a:sym typeface="Helvetica Neue"/>
                </a:rPr>
                <a:t>Q4 &amp; STI Focus</a:t>
              </a:r>
              <a:endParaRPr b="1" sz="1600">
                <a:solidFill>
                  <a:srgbClr val="0F172A"/>
                </a:solidFill>
                <a:latin typeface="Helvetica Neue"/>
                <a:ea typeface="Helvetica Neue"/>
                <a:cs typeface="Helvetica Neue"/>
                <a:sym typeface="Helvetica Neue"/>
              </a:endParaRPr>
            </a:p>
            <a:p>
              <a:pPr indent="0" lvl="0" marL="0" rtl="0" algn="l">
                <a:spcBef>
                  <a:spcPts val="1600"/>
                </a:spcBef>
                <a:spcAft>
                  <a:spcPts val="0"/>
                </a:spcAft>
                <a:buNone/>
              </a:pPr>
              <a:r>
                <a:rPr b="1" lang="en" sz="1150">
                  <a:solidFill>
                    <a:srgbClr val="0F172A"/>
                  </a:solidFill>
                  <a:latin typeface="Helvetica Neue"/>
                  <a:ea typeface="Helvetica Neue"/>
                  <a:cs typeface="Helvetica Neue"/>
                  <a:sym typeface="Helvetica Neue"/>
                </a:rPr>
                <a:t>Q4 crunch ahead:</a:t>
              </a:r>
              <a:endParaRPr b="1" sz="1600">
                <a:solidFill>
                  <a:srgbClr val="0F172A"/>
                </a:solidFill>
                <a:latin typeface="Helvetica Neue"/>
                <a:ea typeface="Helvetica Neue"/>
                <a:cs typeface="Helvetica Neue"/>
                <a:sym typeface="Helvetica Neue"/>
              </a:endParaRPr>
            </a:p>
            <a:p>
              <a:pPr indent="-330200" lvl="0" marL="457200" rtl="0" algn="l">
                <a:spcBef>
                  <a:spcPts val="1600"/>
                </a:spcBef>
                <a:spcAft>
                  <a:spcPts val="0"/>
                </a:spcAft>
                <a:buClr>
                  <a:srgbClr val="0F172A"/>
                </a:buClr>
                <a:buSzPts val="1600"/>
                <a:buFont typeface="Helvetica Neue"/>
                <a:buChar char="●"/>
              </a:pPr>
              <a:r>
                <a:rPr b="0" lang="en" sz="1100">
                  <a:solidFill>
                    <a:srgbClr val="334155"/>
                  </a:solidFill>
                  <a:latin typeface="Helvetica Neue"/>
                  <a:ea typeface="Helvetica Neue"/>
                  <a:cs typeface="Helvetica Neue"/>
                  <a:sym typeface="Helvetica Neue"/>
                </a:rPr>
                <a:t>Encourage where possible to deliver results earlier to free up time in Q4.</a:t>
              </a:r>
              <a:endParaRPr b="0" sz="1100">
                <a:solidFill>
                  <a:srgbClr val="334155"/>
                </a:solidFill>
                <a:latin typeface="Helvetica Neue"/>
                <a:ea typeface="Helvetica Neue"/>
                <a:cs typeface="Helvetica Neue"/>
                <a:sym typeface="Helvetica Neue"/>
              </a:endParaRPr>
            </a:p>
            <a:p>
              <a:pPr indent="0" lvl="0" marL="0" rtl="0" algn="l">
                <a:spcBef>
                  <a:spcPts val="1600"/>
                </a:spcBef>
                <a:spcAft>
                  <a:spcPts val="0"/>
                </a:spcAft>
                <a:buNone/>
              </a:pPr>
              <a:r>
                <a:rPr b="1" lang="en" sz="1150">
                  <a:solidFill>
                    <a:srgbClr val="0F172A"/>
                  </a:solidFill>
                  <a:latin typeface="Helvetica Neue"/>
                  <a:ea typeface="Helvetica Neue"/>
                  <a:cs typeface="Helvetica Neue"/>
                  <a:sym typeface="Helvetica Neue"/>
                </a:rPr>
                <a:t>Strategic Alignment:</a:t>
              </a:r>
              <a:endParaRPr b="1" sz="1600">
                <a:solidFill>
                  <a:srgbClr val="0F172A"/>
                </a:solidFill>
                <a:latin typeface="Helvetica Neue"/>
                <a:ea typeface="Helvetica Neue"/>
                <a:cs typeface="Helvetica Neue"/>
                <a:sym typeface="Helvetica Neue"/>
              </a:endParaRPr>
            </a:p>
            <a:p>
              <a:pPr indent="-330200" lvl="0" marL="457200" rtl="0" algn="l">
                <a:spcBef>
                  <a:spcPts val="400"/>
                </a:spcBef>
                <a:spcAft>
                  <a:spcPts val="0"/>
                </a:spcAft>
                <a:buClr>
                  <a:srgbClr val="0F172A"/>
                </a:buClr>
                <a:buSzPts val="1600"/>
                <a:buFont typeface="Helvetica Neue"/>
                <a:buChar char="●"/>
              </a:pPr>
              <a:r>
                <a:rPr b="0" lang="en" sz="1100">
                  <a:solidFill>
                    <a:srgbClr val="334155"/>
                  </a:solidFill>
                  <a:latin typeface="Helvetica Neue"/>
                  <a:ea typeface="Helvetica Neue"/>
                  <a:cs typeface="Helvetica Neue"/>
                  <a:sym typeface="Helvetica Neue"/>
                </a:rPr>
                <a:t>Telescope insights are an integral part of our active STI goals.</a:t>
              </a:r>
              <a:endParaRPr b="0" sz="1100">
                <a:solidFill>
                  <a:srgbClr val="334155"/>
                </a:solidFill>
                <a:latin typeface="Helvetica Neue"/>
                <a:ea typeface="Helvetica Neue"/>
                <a:cs typeface="Helvetica Neue"/>
                <a:sym typeface="Helvetica Neue"/>
              </a:endParaRPr>
            </a:p>
          </p:txBody>
        </p:sp>
      </p:grpSp>
      <p:grpSp>
        <p:nvGrpSpPr>
          <p:cNvPr id="859" name="Google Shape;859;p112"/>
          <p:cNvGrpSpPr/>
          <p:nvPr/>
        </p:nvGrpSpPr>
        <p:grpSpPr>
          <a:xfrm>
            <a:off x="4533900" y="1143000"/>
            <a:ext cx="4305300" cy="3429000"/>
            <a:chOff x="0" y="0"/>
            <a:chExt cx="4305300" cy="3429000"/>
          </a:xfrm>
        </p:grpSpPr>
        <p:sp>
          <p:nvSpPr>
            <p:cNvPr id="860" name="Google Shape;860;p112"/>
            <p:cNvSpPr/>
            <p:nvPr/>
          </p:nvSpPr>
          <p:spPr>
            <a:xfrm>
              <a:off x="0" y="0"/>
              <a:ext cx="4305300" cy="3429000"/>
            </a:xfrm>
            <a:prstGeom prst="roundRect">
              <a:avLst>
                <a:gd fmla="val 222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1" name="Google Shape;861;p112"/>
            <p:cNvSpPr txBox="1"/>
            <p:nvPr/>
          </p:nvSpPr>
          <p:spPr>
            <a:xfrm>
              <a:off x="228600" y="228600"/>
              <a:ext cx="38481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F172A"/>
                  </a:solidFill>
                  <a:latin typeface="Helvetica Neue"/>
                  <a:ea typeface="Helvetica Neue"/>
                  <a:cs typeface="Helvetica Neue"/>
                  <a:sym typeface="Helvetica Neue"/>
                </a:rPr>
                <a:t>Telescope Staffing &amp; Workflow</a:t>
              </a:r>
              <a:endParaRPr b="1" sz="1600">
                <a:solidFill>
                  <a:srgbClr val="0F172A"/>
                </a:solidFill>
                <a:latin typeface="Helvetica Neue"/>
                <a:ea typeface="Helvetica Neue"/>
                <a:cs typeface="Helvetica Neue"/>
                <a:sym typeface="Helvetica Neue"/>
              </a:endParaRPr>
            </a:p>
            <a:p>
              <a:pPr indent="0" lvl="0" marL="0" rtl="0" algn="l">
                <a:spcBef>
                  <a:spcPts val="1600"/>
                </a:spcBef>
                <a:spcAft>
                  <a:spcPts val="0"/>
                </a:spcAft>
                <a:buNone/>
              </a:pPr>
              <a:r>
                <a:rPr b="1" lang="en" sz="1150">
                  <a:solidFill>
                    <a:srgbClr val="0369A1"/>
                  </a:solidFill>
                  <a:highlight>
                    <a:srgbClr val="E0F2FE"/>
                  </a:highlight>
                  <a:latin typeface="Helvetica Neue"/>
                  <a:ea typeface="Helvetica Neue"/>
                  <a:cs typeface="Helvetica Neue"/>
                  <a:sym typeface="Helvetica Neue"/>
                </a:rPr>
                <a:t>Will start staffing SP to Telescope</a:t>
              </a:r>
              <a:endParaRPr b="1" sz="1150">
                <a:solidFill>
                  <a:srgbClr val="0369A1"/>
                </a:solidFill>
                <a:highlight>
                  <a:srgbClr val="E0F2FE"/>
                </a:highlight>
                <a:latin typeface="Helvetica Neue"/>
                <a:ea typeface="Helvetica Neue"/>
                <a:cs typeface="Helvetica Neue"/>
                <a:sym typeface="Helvetica Neue"/>
              </a:endParaRPr>
            </a:p>
            <a:p>
              <a:pPr indent="-330200" lvl="0" marL="457200" rtl="0" algn="l">
                <a:spcBef>
                  <a:spcPts val="1200"/>
                </a:spcBef>
                <a:spcAft>
                  <a:spcPts val="0"/>
                </a:spcAft>
                <a:buClr>
                  <a:srgbClr val="0F172A"/>
                </a:buClr>
                <a:buSzPts val="1600"/>
                <a:buFont typeface="Helvetica Neue"/>
                <a:buChar char="●"/>
              </a:pPr>
              <a:r>
                <a:rPr b="1" lang="en" sz="1150">
                  <a:solidFill>
                    <a:srgbClr val="0F172A"/>
                  </a:solidFill>
                  <a:latin typeface="Helvetica Neue"/>
                  <a:ea typeface="Helvetica Neue"/>
                  <a:cs typeface="Helvetica Neue"/>
                  <a:sym typeface="Helvetica Neue"/>
                </a:rPr>
                <a:t>Telescope alone:</a:t>
              </a:r>
              <a:r>
                <a:rPr b="0" lang="en" sz="1100">
                  <a:solidFill>
                    <a:srgbClr val="334155"/>
                  </a:solidFill>
                  <a:latin typeface="Helvetica Neue"/>
                  <a:ea typeface="Helvetica Neue"/>
                  <a:cs typeface="Helvetica Neue"/>
                  <a:sym typeface="Helvetica Neue"/>
                </a:rPr>
                <a:t> To support refinement of definitions.</a:t>
              </a:r>
              <a:endParaRPr b="1" sz="1600">
                <a:solidFill>
                  <a:srgbClr val="0F172A"/>
                </a:solidFill>
                <a:latin typeface="Helvetica Neue"/>
                <a:ea typeface="Helvetica Neue"/>
                <a:cs typeface="Helvetica Neue"/>
                <a:sym typeface="Helvetica Neue"/>
              </a:endParaRPr>
            </a:p>
            <a:p>
              <a:pPr indent="-330200" lvl="0" marL="457200" rtl="0" algn="l">
                <a:spcBef>
                  <a:spcPts val="1000"/>
                </a:spcBef>
                <a:spcAft>
                  <a:spcPts val="0"/>
                </a:spcAft>
                <a:buClr>
                  <a:srgbClr val="0F172A"/>
                </a:buClr>
                <a:buSzPts val="1600"/>
                <a:buFont typeface="Helvetica Neue"/>
                <a:buChar char="●"/>
              </a:pPr>
              <a:r>
                <a:rPr b="1" lang="en" sz="1150">
                  <a:solidFill>
                    <a:srgbClr val="0F172A"/>
                  </a:solidFill>
                  <a:latin typeface="Helvetica Neue"/>
                  <a:ea typeface="Helvetica Neue"/>
                  <a:cs typeface="Helvetica Neue"/>
                  <a:sym typeface="Helvetica Neue"/>
                </a:rPr>
                <a:t>Telescope + SP-led coded outputs:</a:t>
              </a:r>
              <a:endParaRPr b="1" sz="1600">
                <a:solidFill>
                  <a:srgbClr val="0F172A"/>
                </a:solidFill>
                <a:latin typeface="Helvetica Neue"/>
                <a:ea typeface="Helvetica Neue"/>
                <a:cs typeface="Helvetica Neue"/>
                <a:sym typeface="Helvetica Neue"/>
              </a:endParaRPr>
            </a:p>
            <a:p>
              <a:pPr indent="-295275" lvl="1" marL="914400" rtl="0" algn="l">
                <a:spcBef>
                  <a:spcPts val="400"/>
                </a:spcBef>
                <a:spcAft>
                  <a:spcPts val="0"/>
                </a:spcAft>
                <a:buClr>
                  <a:srgbClr val="475569"/>
                </a:buClr>
                <a:buSzPts val="1050"/>
                <a:buFont typeface="Helvetica Neue"/>
                <a:buChar char="○"/>
              </a:pPr>
              <a:r>
                <a:rPr b="0" lang="en" sz="1050">
                  <a:solidFill>
                    <a:srgbClr val="475569"/>
                  </a:solidFill>
                  <a:latin typeface="Helvetica Neue"/>
                  <a:ea typeface="Helvetica Neue"/>
                  <a:cs typeface="Helvetica Neue"/>
                  <a:sym typeface="Helvetica Neue"/>
                </a:rPr>
                <a:t>Telescope does not output R code right now.</a:t>
              </a:r>
              <a:endParaRPr b="0" sz="1050">
                <a:solidFill>
                  <a:srgbClr val="475569"/>
                </a:solidFill>
                <a:latin typeface="Helvetica Neue"/>
                <a:ea typeface="Helvetica Neue"/>
                <a:cs typeface="Helvetica Neue"/>
                <a:sym typeface="Helvetica Neue"/>
              </a:endParaRPr>
            </a:p>
            <a:p>
              <a:pPr indent="-295275" lvl="1" marL="914400" rtl="0" algn="l">
                <a:spcBef>
                  <a:spcPts val="400"/>
                </a:spcBef>
                <a:spcAft>
                  <a:spcPts val="0"/>
                </a:spcAft>
                <a:buClr>
                  <a:srgbClr val="475569"/>
                </a:buClr>
                <a:buSzPts val="1050"/>
                <a:buFont typeface="Helvetica Neue"/>
                <a:buChar char="○"/>
              </a:pPr>
              <a:r>
                <a:rPr b="0" lang="en" sz="1050">
                  <a:solidFill>
                    <a:srgbClr val="475569"/>
                  </a:solidFill>
                  <a:latin typeface="Helvetica Neue"/>
                  <a:ea typeface="Helvetica Neue"/>
                  <a:cs typeface="Helvetica Neue"/>
                  <a:sym typeface="Helvetica Neue"/>
                </a:rPr>
                <a:t>Can output fpids, which can be used by SP + backtracking derivation of necessary variables via PAIRS.</a:t>
              </a:r>
              <a:endParaRPr b="0" sz="1050">
                <a:solidFill>
                  <a:srgbClr val="475569"/>
                </a:solidFill>
                <a:latin typeface="Helvetica Neue"/>
                <a:ea typeface="Helvetica Neue"/>
                <a:cs typeface="Helvetica Neue"/>
                <a:sym typeface="Helvetica Neue"/>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a:themeElements>
    <a:clrScheme name="Flatiron 2">
      <a:dk1>
        <a:srgbClr val="000000"/>
      </a:dk1>
      <a:lt1>
        <a:srgbClr val="FFFFFF"/>
      </a:lt1>
      <a:dk2>
        <a:srgbClr val="758299"/>
      </a:dk2>
      <a:lt2>
        <a:srgbClr val="CCD1DB"/>
      </a:lt2>
      <a:accent1>
        <a:srgbClr val="5051DB"/>
      </a:accent1>
      <a:accent2>
        <a:srgbClr val="3882F5"/>
      </a:accent2>
      <a:accent3>
        <a:srgbClr val="0A7387"/>
      </a:accent3>
      <a:accent4>
        <a:srgbClr val="A92C9C"/>
      </a:accent4>
      <a:accent5>
        <a:srgbClr val="D3D4F6"/>
      </a:accent5>
      <a:accent6>
        <a:srgbClr val="1D218E"/>
      </a:accent6>
      <a:hlink>
        <a:srgbClr val="3882F5"/>
      </a:hlink>
      <a:folHlink>
        <a:srgbClr val="3886F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